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/>
      <a:tcStyle>
        <a:tcBdr/>
        <a:fill>
          <a:solidFill>
            <a:srgbClr val="E8EBF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/>
      <a:tcStyle>
        <a:tcBdr/>
        <a:fill>
          <a:solidFill>
            <a:srgbClr val="F0F0F0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/>
      <a:tcStyle>
        <a:tcBdr/>
        <a:fill>
          <a:solidFill>
            <a:srgbClr val="EBF1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4"/>
  </p:normalViewPr>
  <p:slideViewPr>
    <p:cSldViewPr snapToGrid="0">
      <p:cViewPr>
        <p:scale>
          <a:sx n="121" d="100"/>
          <a:sy n="121" d="100"/>
        </p:scale>
        <p:origin x="22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8" name="Shape 18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Calibri"/>
      </a:defRPr>
    </a:lvl1pPr>
    <a:lvl2pPr indent="228600" latinLnBrk="0">
      <a:defRPr sz="1200">
        <a:latin typeface="+mj-lt"/>
        <a:ea typeface="+mj-ea"/>
        <a:cs typeface="+mj-cs"/>
        <a:sym typeface="Calibri"/>
      </a:defRPr>
    </a:lvl2pPr>
    <a:lvl3pPr indent="457200" latinLnBrk="0">
      <a:defRPr sz="1200">
        <a:latin typeface="+mj-lt"/>
        <a:ea typeface="+mj-ea"/>
        <a:cs typeface="+mj-cs"/>
        <a:sym typeface="Calibri"/>
      </a:defRPr>
    </a:lvl3pPr>
    <a:lvl4pPr indent="685800" latinLnBrk="0">
      <a:defRPr sz="1200">
        <a:latin typeface="+mj-lt"/>
        <a:ea typeface="+mj-ea"/>
        <a:cs typeface="+mj-cs"/>
        <a:sym typeface="Calibri"/>
      </a:defRPr>
    </a:lvl4pPr>
    <a:lvl5pPr indent="914400" latinLnBrk="0">
      <a:defRPr sz="1200">
        <a:latin typeface="+mj-lt"/>
        <a:ea typeface="+mj-ea"/>
        <a:cs typeface="+mj-cs"/>
        <a:sym typeface="Calibri"/>
      </a:defRPr>
    </a:lvl5pPr>
    <a:lvl6pPr indent="1143000" latinLnBrk="0">
      <a:defRPr sz="1200">
        <a:latin typeface="+mj-lt"/>
        <a:ea typeface="+mj-ea"/>
        <a:cs typeface="+mj-cs"/>
        <a:sym typeface="Calibri"/>
      </a:defRPr>
    </a:lvl6pPr>
    <a:lvl7pPr indent="1371600" latinLnBrk="0">
      <a:defRPr sz="1200">
        <a:latin typeface="+mj-lt"/>
        <a:ea typeface="+mj-ea"/>
        <a:cs typeface="+mj-cs"/>
        <a:sym typeface="Calibri"/>
      </a:defRPr>
    </a:lvl7pPr>
    <a:lvl8pPr indent="1600200" latinLnBrk="0">
      <a:defRPr sz="1200">
        <a:latin typeface="+mj-lt"/>
        <a:ea typeface="+mj-ea"/>
        <a:cs typeface="+mj-cs"/>
        <a:sym typeface="Calibri"/>
      </a:defRPr>
    </a:lvl8pPr>
    <a:lvl9pPr indent="18288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umero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Testo"/>
          <p:cNvSpPr txBox="1">
            <a:spLocks noGrp="1"/>
          </p:cNvSpPr>
          <p:nvPr>
            <p:ph type="title"/>
          </p:nvPr>
        </p:nvSpPr>
        <p:spPr>
          <a:xfrm>
            <a:off x="1826683" y="769937"/>
            <a:ext cx="9753601" cy="16684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 anchor="ctr"/>
          <a:lstStyle/>
          <a:p>
            <a:r>
              <a:t>Titolo Testo</a:t>
            </a:r>
          </a:p>
        </p:txBody>
      </p:sp>
      <p:sp>
        <p:nvSpPr>
          <p:cNvPr id="3" name="Corpo livello uno…"/>
          <p:cNvSpPr txBox="1">
            <a:spLocks noGrp="1"/>
          </p:cNvSpPr>
          <p:nvPr>
            <p:ph type="body" idx="1"/>
          </p:nvPr>
        </p:nvSpPr>
        <p:spPr>
          <a:xfrm>
            <a:off x="6805083" y="2438400"/>
            <a:ext cx="4775201" cy="4419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/>
          <a:lstStyle/>
          <a:p>
            <a:r>
              <a:t>Corpo livello uno</a:t>
            </a:r>
          </a:p>
          <a:p>
            <a:pPr lvl="1"/>
            <a:r>
              <a:t>Corpo livello due</a:t>
            </a:r>
          </a:p>
          <a:p>
            <a:pPr lvl="2"/>
            <a:r>
              <a:t>Corpo livello tre</a:t>
            </a:r>
          </a:p>
          <a:p>
            <a:pPr lvl="3"/>
            <a:r>
              <a:t>Corpo livello quattro</a:t>
            </a:r>
          </a:p>
          <a:p>
            <a:pPr lvl="4"/>
            <a:r>
              <a:t>Corpo livello cinque</a:t>
            </a:r>
          </a:p>
        </p:txBody>
      </p:sp>
      <p:sp>
        <p:nvSpPr>
          <p:cNvPr id="4" name="Numero diapositiva"/>
          <p:cNvSpPr txBox="1">
            <a:spLocks noGrp="1"/>
          </p:cNvSpPr>
          <p:nvPr>
            <p:ph type="sldNum" sz="quarter" idx="2"/>
          </p:nvPr>
        </p:nvSpPr>
        <p:spPr>
          <a:xfrm>
            <a:off x="8478978" y="6232199"/>
            <a:ext cx="258623" cy="248303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fld id="{86CB4B4D-7CA3-9044-876B-883B54F8677D}" type="slidenum">
              <a:t>‹N›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ransition spd="med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9pPr>
    </p:titleStyle>
    <p:bodyStyle>
      <a:lvl1pPr marL="342900" marR="0" indent="-3429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783771" marR="0" indent="-326571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sz="32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1219200" marR="0" indent="-3048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17373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sz="32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21945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sz="32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26517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31089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35661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40233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18" Type="http://schemas.openxmlformats.org/officeDocument/2006/relationships/image" Target="../media/image1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17" Type="http://schemas.openxmlformats.org/officeDocument/2006/relationships/image" Target="../media/image18.png"/><Relationship Id="rId2" Type="http://schemas.openxmlformats.org/officeDocument/2006/relationships/image" Target="../media/image3.png"/><Relationship Id="rId16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5" Type="http://schemas.openxmlformats.org/officeDocument/2006/relationships/image" Target="../media/image1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Relationship Id="rId1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1.png"/><Relationship Id="rId18" Type="http://schemas.openxmlformats.org/officeDocument/2006/relationships/image" Target="../media/image3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12" Type="http://schemas.openxmlformats.org/officeDocument/2006/relationships/image" Target="../media/image30.png"/><Relationship Id="rId17" Type="http://schemas.openxmlformats.org/officeDocument/2006/relationships/image" Target="../media/image35.png"/><Relationship Id="rId2" Type="http://schemas.openxmlformats.org/officeDocument/2006/relationships/image" Target="../media/image20.png"/><Relationship Id="rId16" Type="http://schemas.openxmlformats.org/officeDocument/2006/relationships/image" Target="../media/image3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11" Type="http://schemas.openxmlformats.org/officeDocument/2006/relationships/image" Target="../media/image29.png"/><Relationship Id="rId5" Type="http://schemas.openxmlformats.org/officeDocument/2006/relationships/image" Target="../media/image23.png"/><Relationship Id="rId15" Type="http://schemas.openxmlformats.org/officeDocument/2006/relationships/image" Target="../media/image33.png"/><Relationship Id="rId10" Type="http://schemas.openxmlformats.org/officeDocument/2006/relationships/image" Target="../media/image28.png"/><Relationship Id="rId19" Type="http://schemas.openxmlformats.org/officeDocument/2006/relationships/image" Target="../media/image37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Relationship Id="rId14" Type="http://schemas.openxmlformats.org/officeDocument/2006/relationships/image" Target="../media/image3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13" Type="http://schemas.openxmlformats.org/officeDocument/2006/relationships/image" Target="../media/image48.png"/><Relationship Id="rId18" Type="http://schemas.openxmlformats.org/officeDocument/2006/relationships/image" Target="../media/image53.png"/><Relationship Id="rId3" Type="http://schemas.openxmlformats.org/officeDocument/2006/relationships/image" Target="../media/image38.png"/><Relationship Id="rId7" Type="http://schemas.openxmlformats.org/officeDocument/2006/relationships/image" Target="../media/image42.png"/><Relationship Id="rId12" Type="http://schemas.openxmlformats.org/officeDocument/2006/relationships/image" Target="../media/image47.png"/><Relationship Id="rId17" Type="http://schemas.openxmlformats.org/officeDocument/2006/relationships/image" Target="../media/image52.png"/><Relationship Id="rId2" Type="http://schemas.openxmlformats.org/officeDocument/2006/relationships/image" Target="../media/image3.png"/><Relationship Id="rId16" Type="http://schemas.openxmlformats.org/officeDocument/2006/relationships/image" Target="../media/image5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11" Type="http://schemas.openxmlformats.org/officeDocument/2006/relationships/image" Target="../media/image46.png"/><Relationship Id="rId5" Type="http://schemas.openxmlformats.org/officeDocument/2006/relationships/image" Target="../media/image40.png"/><Relationship Id="rId15" Type="http://schemas.openxmlformats.org/officeDocument/2006/relationships/image" Target="../media/image50.png"/><Relationship Id="rId10" Type="http://schemas.openxmlformats.org/officeDocument/2006/relationships/image" Target="../media/image45.png"/><Relationship Id="rId19" Type="http://schemas.openxmlformats.org/officeDocument/2006/relationships/image" Target="../media/image54.png"/><Relationship Id="rId4" Type="http://schemas.openxmlformats.org/officeDocument/2006/relationships/image" Target="../media/image39.png"/><Relationship Id="rId9" Type="http://schemas.openxmlformats.org/officeDocument/2006/relationships/image" Target="../media/image44.png"/><Relationship Id="rId14" Type="http://schemas.openxmlformats.org/officeDocument/2006/relationships/image" Target="../media/image4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13" Type="http://schemas.openxmlformats.org/officeDocument/2006/relationships/image" Target="../media/image65.png"/><Relationship Id="rId18" Type="http://schemas.openxmlformats.org/officeDocument/2006/relationships/image" Target="../media/image70.png"/><Relationship Id="rId3" Type="http://schemas.openxmlformats.org/officeDocument/2006/relationships/image" Target="../media/image55.png"/><Relationship Id="rId21" Type="http://schemas.openxmlformats.org/officeDocument/2006/relationships/image" Target="../media/image73.png"/><Relationship Id="rId7" Type="http://schemas.openxmlformats.org/officeDocument/2006/relationships/image" Target="../media/image59.png"/><Relationship Id="rId12" Type="http://schemas.openxmlformats.org/officeDocument/2006/relationships/image" Target="../media/image64.png"/><Relationship Id="rId17" Type="http://schemas.openxmlformats.org/officeDocument/2006/relationships/image" Target="../media/image69.png"/><Relationship Id="rId2" Type="http://schemas.openxmlformats.org/officeDocument/2006/relationships/image" Target="../media/image20.png"/><Relationship Id="rId16" Type="http://schemas.openxmlformats.org/officeDocument/2006/relationships/image" Target="../media/image68.png"/><Relationship Id="rId20" Type="http://schemas.openxmlformats.org/officeDocument/2006/relationships/image" Target="../media/image7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8.png"/><Relationship Id="rId11" Type="http://schemas.openxmlformats.org/officeDocument/2006/relationships/image" Target="../media/image63.png"/><Relationship Id="rId5" Type="http://schemas.openxmlformats.org/officeDocument/2006/relationships/image" Target="../media/image57.png"/><Relationship Id="rId15" Type="http://schemas.openxmlformats.org/officeDocument/2006/relationships/image" Target="../media/image67.png"/><Relationship Id="rId23" Type="http://schemas.openxmlformats.org/officeDocument/2006/relationships/image" Target="../media/image75.png"/><Relationship Id="rId10" Type="http://schemas.openxmlformats.org/officeDocument/2006/relationships/image" Target="../media/image62.png"/><Relationship Id="rId19" Type="http://schemas.openxmlformats.org/officeDocument/2006/relationships/image" Target="../media/image71.png"/><Relationship Id="rId4" Type="http://schemas.openxmlformats.org/officeDocument/2006/relationships/image" Target="../media/image56.png"/><Relationship Id="rId9" Type="http://schemas.openxmlformats.org/officeDocument/2006/relationships/image" Target="../media/image61.png"/><Relationship Id="rId14" Type="http://schemas.openxmlformats.org/officeDocument/2006/relationships/image" Target="../media/image66.png"/><Relationship Id="rId22" Type="http://schemas.openxmlformats.org/officeDocument/2006/relationships/image" Target="../media/image7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.png"/><Relationship Id="rId13" Type="http://schemas.openxmlformats.org/officeDocument/2006/relationships/image" Target="../media/image86.png"/><Relationship Id="rId18" Type="http://schemas.openxmlformats.org/officeDocument/2006/relationships/image" Target="../media/image91.png"/><Relationship Id="rId3" Type="http://schemas.openxmlformats.org/officeDocument/2006/relationships/image" Target="../media/image76.png"/><Relationship Id="rId21" Type="http://schemas.openxmlformats.org/officeDocument/2006/relationships/image" Target="../media/image94.png"/><Relationship Id="rId7" Type="http://schemas.openxmlformats.org/officeDocument/2006/relationships/image" Target="../media/image80.png"/><Relationship Id="rId12" Type="http://schemas.openxmlformats.org/officeDocument/2006/relationships/image" Target="../media/image85.png"/><Relationship Id="rId17" Type="http://schemas.openxmlformats.org/officeDocument/2006/relationships/image" Target="../media/image90.png"/><Relationship Id="rId2" Type="http://schemas.openxmlformats.org/officeDocument/2006/relationships/image" Target="../media/image3.png"/><Relationship Id="rId16" Type="http://schemas.openxmlformats.org/officeDocument/2006/relationships/image" Target="../media/image89.png"/><Relationship Id="rId20" Type="http://schemas.openxmlformats.org/officeDocument/2006/relationships/image" Target="../media/image9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9.png"/><Relationship Id="rId11" Type="http://schemas.openxmlformats.org/officeDocument/2006/relationships/image" Target="../media/image84.png"/><Relationship Id="rId5" Type="http://schemas.openxmlformats.org/officeDocument/2006/relationships/image" Target="../media/image78.png"/><Relationship Id="rId15" Type="http://schemas.openxmlformats.org/officeDocument/2006/relationships/image" Target="../media/image88.png"/><Relationship Id="rId10" Type="http://schemas.openxmlformats.org/officeDocument/2006/relationships/image" Target="../media/image83.png"/><Relationship Id="rId19" Type="http://schemas.openxmlformats.org/officeDocument/2006/relationships/image" Target="../media/image92.png"/><Relationship Id="rId4" Type="http://schemas.openxmlformats.org/officeDocument/2006/relationships/image" Target="../media/image77.png"/><Relationship Id="rId9" Type="http://schemas.openxmlformats.org/officeDocument/2006/relationships/image" Target="../media/image82.png"/><Relationship Id="rId14" Type="http://schemas.openxmlformats.org/officeDocument/2006/relationships/image" Target="../media/image87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0.png"/><Relationship Id="rId3" Type="http://schemas.openxmlformats.org/officeDocument/2006/relationships/image" Target="../media/image95.png"/><Relationship Id="rId7" Type="http://schemas.openxmlformats.org/officeDocument/2006/relationships/image" Target="../media/image99.png"/><Relationship Id="rId12" Type="http://schemas.openxmlformats.org/officeDocument/2006/relationships/image" Target="../media/image104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8.png"/><Relationship Id="rId11" Type="http://schemas.openxmlformats.org/officeDocument/2006/relationships/image" Target="../media/image103.png"/><Relationship Id="rId5" Type="http://schemas.openxmlformats.org/officeDocument/2006/relationships/image" Target="../media/image97.png"/><Relationship Id="rId10" Type="http://schemas.openxmlformats.org/officeDocument/2006/relationships/image" Target="../media/image102.png"/><Relationship Id="rId4" Type="http://schemas.openxmlformats.org/officeDocument/2006/relationships/image" Target="../media/image96.png"/><Relationship Id="rId9" Type="http://schemas.openxmlformats.org/officeDocument/2006/relationships/image" Target="../media/image10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1.png"/><Relationship Id="rId13" Type="http://schemas.openxmlformats.org/officeDocument/2006/relationships/image" Target="../media/image116.png"/><Relationship Id="rId18" Type="http://schemas.openxmlformats.org/officeDocument/2006/relationships/image" Target="../media/image121.png"/><Relationship Id="rId3" Type="http://schemas.openxmlformats.org/officeDocument/2006/relationships/image" Target="../media/image106.png"/><Relationship Id="rId7" Type="http://schemas.openxmlformats.org/officeDocument/2006/relationships/image" Target="../media/image110.png"/><Relationship Id="rId12" Type="http://schemas.openxmlformats.org/officeDocument/2006/relationships/image" Target="../media/image115.png"/><Relationship Id="rId17" Type="http://schemas.openxmlformats.org/officeDocument/2006/relationships/image" Target="../media/image120.png"/><Relationship Id="rId2" Type="http://schemas.openxmlformats.org/officeDocument/2006/relationships/image" Target="../media/image20.png"/><Relationship Id="rId16" Type="http://schemas.openxmlformats.org/officeDocument/2006/relationships/image" Target="../media/image1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9.png"/><Relationship Id="rId11" Type="http://schemas.openxmlformats.org/officeDocument/2006/relationships/image" Target="../media/image114.png"/><Relationship Id="rId5" Type="http://schemas.openxmlformats.org/officeDocument/2006/relationships/image" Target="../media/image108.png"/><Relationship Id="rId15" Type="http://schemas.openxmlformats.org/officeDocument/2006/relationships/image" Target="../media/image118.png"/><Relationship Id="rId10" Type="http://schemas.openxmlformats.org/officeDocument/2006/relationships/image" Target="../media/image113.png"/><Relationship Id="rId4" Type="http://schemas.openxmlformats.org/officeDocument/2006/relationships/image" Target="../media/image107.png"/><Relationship Id="rId9" Type="http://schemas.openxmlformats.org/officeDocument/2006/relationships/image" Target="../media/image112.png"/><Relationship Id="rId14" Type="http://schemas.openxmlformats.org/officeDocument/2006/relationships/image" Target="../media/image117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7.png"/><Relationship Id="rId13" Type="http://schemas.openxmlformats.org/officeDocument/2006/relationships/image" Target="../media/image132.png"/><Relationship Id="rId18" Type="http://schemas.openxmlformats.org/officeDocument/2006/relationships/image" Target="../media/image137.png"/><Relationship Id="rId3" Type="http://schemas.openxmlformats.org/officeDocument/2006/relationships/image" Target="../media/image122.png"/><Relationship Id="rId21" Type="http://schemas.openxmlformats.org/officeDocument/2006/relationships/image" Target="../media/image140.png"/><Relationship Id="rId7" Type="http://schemas.openxmlformats.org/officeDocument/2006/relationships/image" Target="../media/image126.png"/><Relationship Id="rId12" Type="http://schemas.openxmlformats.org/officeDocument/2006/relationships/image" Target="../media/image131.png"/><Relationship Id="rId17" Type="http://schemas.openxmlformats.org/officeDocument/2006/relationships/image" Target="../media/image136.png"/><Relationship Id="rId2" Type="http://schemas.openxmlformats.org/officeDocument/2006/relationships/image" Target="../media/image3.png"/><Relationship Id="rId16" Type="http://schemas.openxmlformats.org/officeDocument/2006/relationships/image" Target="../media/image135.png"/><Relationship Id="rId20" Type="http://schemas.openxmlformats.org/officeDocument/2006/relationships/image" Target="../media/image13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5.png"/><Relationship Id="rId11" Type="http://schemas.openxmlformats.org/officeDocument/2006/relationships/image" Target="../media/image130.png"/><Relationship Id="rId5" Type="http://schemas.openxmlformats.org/officeDocument/2006/relationships/image" Target="../media/image124.png"/><Relationship Id="rId15" Type="http://schemas.openxmlformats.org/officeDocument/2006/relationships/image" Target="../media/image134.png"/><Relationship Id="rId23" Type="http://schemas.openxmlformats.org/officeDocument/2006/relationships/image" Target="../media/image142.png"/><Relationship Id="rId10" Type="http://schemas.openxmlformats.org/officeDocument/2006/relationships/image" Target="../media/image129.png"/><Relationship Id="rId19" Type="http://schemas.openxmlformats.org/officeDocument/2006/relationships/image" Target="../media/image138.png"/><Relationship Id="rId4" Type="http://schemas.openxmlformats.org/officeDocument/2006/relationships/image" Target="../media/image123.png"/><Relationship Id="rId9" Type="http://schemas.openxmlformats.org/officeDocument/2006/relationships/image" Target="../media/image128.png"/><Relationship Id="rId14" Type="http://schemas.openxmlformats.org/officeDocument/2006/relationships/image" Target="../media/image133.png"/><Relationship Id="rId22" Type="http://schemas.openxmlformats.org/officeDocument/2006/relationships/image" Target="../media/image14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Image 0" descr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1" name="Image 1" descr="Imag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83779"/>
            <a:ext cx="12192000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22" name="Text 0"/>
          <p:cNvSpPr txBox="1"/>
          <p:nvPr/>
        </p:nvSpPr>
        <p:spPr>
          <a:xfrm>
            <a:off x="3535679" y="1971357"/>
            <a:ext cx="5120643" cy="1816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ts val="1500"/>
              </a:lnSpc>
              <a:defRPr sz="1000" b="1" spc="252">
                <a:solidFill>
                  <a:srgbClr val="FFA5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DISTRIBUTED SYSTEMS ARCHITECTURE</a:t>
            </a:r>
          </a:p>
        </p:txBody>
      </p:sp>
      <p:sp>
        <p:nvSpPr>
          <p:cNvPr id="23" name="Text 1"/>
          <p:cNvSpPr txBox="1"/>
          <p:nvPr/>
        </p:nvSpPr>
        <p:spPr>
          <a:xfrm>
            <a:off x="-487680" y="2386591"/>
            <a:ext cx="13167361" cy="9418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lnSpc>
                <a:spcPts val="7200"/>
              </a:lnSpc>
              <a:defRPr sz="7200" b="1" spc="-288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NEXUS </a:t>
            </a:r>
            <a:r>
              <a:rPr>
                <a:solidFill>
                  <a:srgbClr val="FFA500"/>
                </a:solidFill>
              </a:rPr>
              <a:t>ENERGY</a:t>
            </a:r>
          </a:p>
        </p:txBody>
      </p:sp>
      <p:sp>
        <p:nvSpPr>
          <p:cNvPr id="24" name="Text 2"/>
          <p:cNvSpPr txBox="1"/>
          <p:nvPr/>
        </p:nvSpPr>
        <p:spPr>
          <a:xfrm>
            <a:off x="335278" y="3465769"/>
            <a:ext cx="11521444" cy="383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ts val="3000"/>
              </a:lnSpc>
              <a:defRPr sz="2700" spc="-54">
                <a:solidFill>
                  <a:srgbClr val="D3D3D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Distributed Service Platform</a:t>
            </a:r>
          </a:p>
        </p:txBody>
      </p:sp>
      <p:sp>
        <p:nvSpPr>
          <p:cNvPr id="25" name="Text 3"/>
          <p:cNvSpPr txBox="1"/>
          <p:nvPr/>
        </p:nvSpPr>
        <p:spPr>
          <a:xfrm>
            <a:off x="2438400" y="4318636"/>
            <a:ext cx="7315200" cy="5924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lnSpc>
                <a:spcPts val="2400"/>
              </a:lnSpc>
              <a:defRPr sz="15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Piattaforma full-stack per il monitoraggio e l'analisi predittiva del consumo energetico negli edifici tramite </a:t>
            </a:r>
            <a:r>
              <a:rPr b="1">
                <a:solidFill>
                  <a:srgbClr val="FFA500"/>
                </a:solidFill>
              </a:rPr>
              <a:t>Digital Energy Twin</a:t>
            </a:r>
            <a:r>
              <a:t>.</a:t>
            </a:r>
          </a:p>
        </p:txBody>
      </p:sp>
      <p:sp>
        <p:nvSpPr>
          <p:cNvPr id="26" name="Text 4"/>
          <p:cNvSpPr txBox="1"/>
          <p:nvPr/>
        </p:nvSpPr>
        <p:spPr>
          <a:xfrm>
            <a:off x="762000" y="5795645"/>
            <a:ext cx="2952452" cy="1816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500"/>
              </a:lnSpc>
              <a:defRPr sz="1000" spc="84">
                <a:solidFill>
                  <a:srgbClr val="D3D3D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CORE TECHNOLOGIES</a:t>
            </a:r>
          </a:p>
        </p:txBody>
      </p:sp>
      <p:sp>
        <p:nvSpPr>
          <p:cNvPr id="27" name="Text 5"/>
          <p:cNvSpPr txBox="1"/>
          <p:nvPr/>
        </p:nvSpPr>
        <p:spPr>
          <a:xfrm>
            <a:off x="762000" y="6125418"/>
            <a:ext cx="5260428" cy="2459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 anchor="ctr">
            <a:spAutoFit/>
          </a:bodyPr>
          <a:lstStyle>
            <a:lvl1pPr>
              <a:lnSpc>
                <a:spcPts val="2100"/>
              </a:lnSpc>
              <a:defRPr sz="13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dirty="0"/>
              <a:t>AI • Real-time Streaming • ELK</a:t>
            </a:r>
            <a:r>
              <a:rPr lang="it-IT" dirty="0"/>
              <a:t> • Java • </a:t>
            </a:r>
            <a:r>
              <a:rPr lang="it-IT" dirty="0" err="1"/>
              <a:t>Springboot</a:t>
            </a:r>
            <a:r>
              <a:rPr lang="it-IT" dirty="0"/>
              <a:t> • React • </a:t>
            </a:r>
            <a:r>
              <a:rPr lang="it-IT" dirty="0" err="1"/>
              <a:t>RabbitMQ</a:t>
            </a:r>
            <a:endParaRPr dirty="0"/>
          </a:p>
        </p:txBody>
      </p:sp>
      <p:sp>
        <p:nvSpPr>
          <p:cNvPr id="28" name="Text 6"/>
          <p:cNvSpPr txBox="1"/>
          <p:nvPr/>
        </p:nvSpPr>
        <p:spPr>
          <a:xfrm>
            <a:off x="8750647" y="5795645"/>
            <a:ext cx="2679355" cy="1816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lnSpc>
                <a:spcPts val="1500"/>
              </a:lnSpc>
              <a:defRPr sz="1000" spc="84">
                <a:solidFill>
                  <a:srgbClr val="D3D3D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TARGET AUDIENCE</a:t>
            </a:r>
          </a:p>
        </p:txBody>
      </p:sp>
      <p:sp>
        <p:nvSpPr>
          <p:cNvPr id="29" name="Text 7"/>
          <p:cNvSpPr txBox="1"/>
          <p:nvPr/>
        </p:nvSpPr>
        <p:spPr>
          <a:xfrm>
            <a:off x="8750647" y="6122735"/>
            <a:ext cx="2679355" cy="2513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lnSpc>
                <a:spcPts val="2100"/>
              </a:lnSpc>
              <a:defRPr sz="13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Ingegneria dei Sistemi Distribuiti</a:t>
            </a:r>
          </a:p>
        </p:txBody>
      </p:sp>
      <p:sp>
        <p:nvSpPr>
          <p:cNvPr id="30" name="Text 8"/>
          <p:cNvSpPr txBox="1"/>
          <p:nvPr/>
        </p:nvSpPr>
        <p:spPr>
          <a:xfrm>
            <a:off x="457199" y="461393"/>
            <a:ext cx="822963" cy="2964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2400"/>
              </a:lnSpc>
              <a:defRPr b="1" spc="-72">
                <a:solidFill>
                  <a:srgbClr val="FFA5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N/E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Image 0" descr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3" cy="6858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33" name="Image 1" descr="Imag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3" cy="804852"/>
          </a:xfrm>
          <a:prstGeom prst="rect">
            <a:avLst/>
          </a:prstGeom>
          <a:ln w="12700">
            <a:miter lim="400000"/>
          </a:ln>
        </p:spPr>
      </p:pic>
      <p:pic>
        <p:nvPicPr>
          <p:cNvPr id="34" name="Image 2" descr="Imag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45806" y="234748"/>
            <a:ext cx="343740" cy="335355"/>
          </a:xfrm>
          <a:prstGeom prst="rect">
            <a:avLst/>
          </a:prstGeom>
          <a:ln w="12700">
            <a:miter lim="400000"/>
          </a:ln>
        </p:spPr>
      </p:pic>
      <p:pic>
        <p:nvPicPr>
          <p:cNvPr id="35" name="Image 3" descr="Imag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425" y="1240810"/>
            <a:ext cx="226364" cy="201215"/>
          </a:xfrm>
          <a:prstGeom prst="rect">
            <a:avLst/>
          </a:prstGeom>
          <a:ln w="12700">
            <a:miter lim="400000"/>
          </a:ln>
        </p:spPr>
      </p:pic>
      <p:pic>
        <p:nvPicPr>
          <p:cNvPr id="36" name="Image 4" descr="Image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2425" y="2464854"/>
            <a:ext cx="5525883" cy="3672135"/>
          </a:xfrm>
          <a:prstGeom prst="rect">
            <a:avLst/>
          </a:prstGeom>
          <a:ln w="12700">
            <a:miter lim="400000"/>
          </a:ln>
        </p:spPr>
      </p:pic>
      <p:pic>
        <p:nvPicPr>
          <p:cNvPr id="37" name="Image 5" descr="Image 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0709" y="3202634"/>
            <a:ext cx="285053" cy="335357"/>
          </a:xfrm>
          <a:prstGeom prst="rect">
            <a:avLst/>
          </a:prstGeom>
          <a:ln w="12700">
            <a:miter lim="400000"/>
          </a:ln>
        </p:spPr>
      </p:pic>
      <p:pic>
        <p:nvPicPr>
          <p:cNvPr id="38" name="Image 6" descr="Image 6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7780" y="3303242"/>
            <a:ext cx="150912" cy="134144"/>
          </a:xfrm>
          <a:prstGeom prst="rect">
            <a:avLst/>
          </a:prstGeom>
          <a:ln w="12700">
            <a:miter lim="400000"/>
          </a:ln>
        </p:spPr>
      </p:pic>
      <p:pic>
        <p:nvPicPr>
          <p:cNvPr id="39" name="Image 7" descr="Image 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0709" y="3806273"/>
            <a:ext cx="268286" cy="335357"/>
          </a:xfrm>
          <a:prstGeom prst="rect">
            <a:avLst/>
          </a:prstGeom>
          <a:ln w="12700">
            <a:miter lim="400000"/>
          </a:ln>
        </p:spPr>
      </p:pic>
      <p:pic>
        <p:nvPicPr>
          <p:cNvPr id="40" name="Image 8" descr="Image 8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7780" y="3906880"/>
            <a:ext cx="134144" cy="134144"/>
          </a:xfrm>
          <a:prstGeom prst="rect">
            <a:avLst/>
          </a:prstGeom>
          <a:ln w="12700">
            <a:miter lim="400000"/>
          </a:ln>
        </p:spPr>
      </p:pic>
      <p:pic>
        <p:nvPicPr>
          <p:cNvPr id="41" name="Image 9" descr="Image 9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0709" y="4409911"/>
            <a:ext cx="251518" cy="335357"/>
          </a:xfrm>
          <a:prstGeom prst="rect">
            <a:avLst/>
          </a:prstGeom>
          <a:ln w="12700">
            <a:miter lim="400000"/>
          </a:ln>
        </p:spPr>
      </p:pic>
      <p:pic>
        <p:nvPicPr>
          <p:cNvPr id="42" name="Image 10" descr="Image 10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37780" y="4510518"/>
            <a:ext cx="117376" cy="134144"/>
          </a:xfrm>
          <a:prstGeom prst="rect">
            <a:avLst/>
          </a:prstGeom>
          <a:ln w="12700">
            <a:miter lim="400000"/>
          </a:ln>
        </p:spPr>
      </p:pic>
      <p:pic>
        <p:nvPicPr>
          <p:cNvPr id="43" name="Image 11" descr="Image 11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63663" y="2464854"/>
            <a:ext cx="5525883" cy="3672135"/>
          </a:xfrm>
          <a:prstGeom prst="rect">
            <a:avLst/>
          </a:prstGeom>
          <a:ln w="12700">
            <a:miter lim="400000"/>
          </a:ln>
        </p:spPr>
      </p:pic>
      <p:pic>
        <p:nvPicPr>
          <p:cNvPr id="44" name="Image 12" descr="Image 12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31947" y="3751779"/>
            <a:ext cx="4989315" cy="603640"/>
          </a:xfrm>
          <a:prstGeom prst="rect">
            <a:avLst/>
          </a:prstGeom>
          <a:ln w="12700">
            <a:miter lim="400000"/>
          </a:ln>
        </p:spPr>
      </p:pic>
      <p:pic>
        <p:nvPicPr>
          <p:cNvPr id="45" name="Image 13" descr="Image 13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31947" y="4489558"/>
            <a:ext cx="4989315" cy="603640"/>
          </a:xfrm>
          <a:prstGeom prst="rect">
            <a:avLst/>
          </a:prstGeom>
          <a:ln w="12700">
            <a:miter lim="400000"/>
          </a:ln>
        </p:spPr>
      </p:pic>
      <p:pic>
        <p:nvPicPr>
          <p:cNvPr id="46" name="Image 14" descr="Image 14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531947" y="5227337"/>
            <a:ext cx="4989315" cy="603640"/>
          </a:xfrm>
          <a:prstGeom prst="rect">
            <a:avLst/>
          </a:prstGeom>
          <a:ln w="12700">
            <a:miter lim="400000"/>
          </a:ln>
        </p:spPr>
      </p:pic>
      <p:pic>
        <p:nvPicPr>
          <p:cNvPr id="47" name="Image 15" descr="Image 15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051764" y="5399208"/>
            <a:ext cx="1073136" cy="1073136"/>
          </a:xfrm>
          <a:prstGeom prst="rect">
            <a:avLst/>
          </a:prstGeom>
          <a:ln w="12700">
            <a:miter lim="400000"/>
          </a:ln>
        </p:spPr>
      </p:pic>
      <p:pic>
        <p:nvPicPr>
          <p:cNvPr id="48" name="Image 16" descr="Image 16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02425" y="6405271"/>
            <a:ext cx="11387120" cy="402427"/>
          </a:xfrm>
          <a:prstGeom prst="rect">
            <a:avLst/>
          </a:prstGeom>
          <a:ln w="12700">
            <a:miter lim="400000"/>
          </a:ln>
        </p:spPr>
      </p:pic>
      <p:sp>
        <p:nvSpPr>
          <p:cNvPr id="49" name="Text 0"/>
          <p:cNvSpPr txBox="1"/>
          <p:nvPr/>
        </p:nvSpPr>
        <p:spPr>
          <a:xfrm>
            <a:off x="402424" y="169618"/>
            <a:ext cx="15323172" cy="297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2300"/>
              </a:lnSpc>
              <a:defRPr sz="2200" b="1" spc="-5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02. Introduzione e Digital Energy Twin</a:t>
            </a:r>
          </a:p>
        </p:txBody>
      </p:sp>
      <p:sp>
        <p:nvSpPr>
          <p:cNvPr id="50" name="Text 1"/>
          <p:cNvSpPr txBox="1"/>
          <p:nvPr/>
        </p:nvSpPr>
        <p:spPr>
          <a:xfrm>
            <a:off x="402423" y="472689"/>
            <a:ext cx="5817636" cy="1612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300"/>
              </a:lnSpc>
              <a:defRPr sz="1000" spc="95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NEXUS ENERGY DISTRIBUTED SERVICE</a:t>
            </a:r>
          </a:p>
        </p:txBody>
      </p:sp>
      <p:sp>
        <p:nvSpPr>
          <p:cNvPr id="51" name="Text 2"/>
          <p:cNvSpPr txBox="1"/>
          <p:nvPr/>
        </p:nvSpPr>
        <p:spPr>
          <a:xfrm>
            <a:off x="729395" y="1212831"/>
            <a:ext cx="11387123" cy="2571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2100"/>
              </a:lnSpc>
              <a:defRPr sz="1500" b="1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Visione del Progetto</a:t>
            </a:r>
          </a:p>
        </p:txBody>
      </p:sp>
      <p:sp>
        <p:nvSpPr>
          <p:cNvPr id="52" name="Text 3"/>
          <p:cNvSpPr txBox="1"/>
          <p:nvPr/>
        </p:nvSpPr>
        <p:spPr>
          <a:xfrm>
            <a:off x="402425" y="1722301"/>
            <a:ext cx="8585076" cy="4664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ts val="1900"/>
              </a:lnSpc>
              <a:defRPr sz="1100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Nexus Energy è una piattaforma </a:t>
            </a:r>
            <a:r>
              <a:rPr b="1"/>
              <a:t>full-stack distribuita</a:t>
            </a:r>
            <a:r>
              <a:t> progettata per il monitoraggio e l’analisi predittiva del consumo energetico negli edifici. Integra tecnologie eterogenee in un'architettura pronta per la produzione, scalabile e resiliente.</a:t>
            </a:r>
          </a:p>
        </p:txBody>
      </p:sp>
      <p:sp>
        <p:nvSpPr>
          <p:cNvPr id="53" name="Text 4"/>
          <p:cNvSpPr txBox="1"/>
          <p:nvPr/>
        </p:nvSpPr>
        <p:spPr>
          <a:xfrm>
            <a:off x="670708" y="2740088"/>
            <a:ext cx="4989319" cy="2208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sz="1300" b="1" spc="30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OBIETTIVI DI SISTEMA</a:t>
            </a:r>
          </a:p>
        </p:txBody>
      </p:sp>
      <p:sp>
        <p:nvSpPr>
          <p:cNvPr id="54" name="Text 5"/>
          <p:cNvSpPr txBox="1"/>
          <p:nvPr/>
        </p:nvSpPr>
        <p:spPr>
          <a:xfrm>
            <a:off x="1089901" y="3178902"/>
            <a:ext cx="4389123" cy="1816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500"/>
              </a:lnSpc>
              <a:defRPr sz="1000" b="1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Integrazione Tecnologica</a:t>
            </a:r>
          </a:p>
        </p:txBody>
      </p:sp>
      <p:sp>
        <p:nvSpPr>
          <p:cNvPr id="55" name="Text 6"/>
          <p:cNvSpPr txBox="1"/>
          <p:nvPr/>
        </p:nvSpPr>
        <p:spPr>
          <a:xfrm>
            <a:off x="1089900" y="3395926"/>
            <a:ext cx="11521444" cy="1583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300"/>
              </a:lnSpc>
              <a:defRPr sz="900" i="1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Frontend, Backend, AI, Messaging e Osservabilità in un unico ecosistema.</a:t>
            </a:r>
          </a:p>
        </p:txBody>
      </p:sp>
      <p:sp>
        <p:nvSpPr>
          <p:cNvPr id="56" name="Text 7"/>
          <p:cNvSpPr txBox="1"/>
          <p:nvPr/>
        </p:nvSpPr>
        <p:spPr>
          <a:xfrm>
            <a:off x="1073134" y="3782540"/>
            <a:ext cx="4330921" cy="1816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500"/>
              </a:lnSpc>
              <a:defRPr sz="1000" b="1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Produzione Pronta</a:t>
            </a:r>
          </a:p>
        </p:txBody>
      </p:sp>
      <p:sp>
        <p:nvSpPr>
          <p:cNvPr id="57" name="Text 8"/>
          <p:cNvSpPr txBox="1"/>
          <p:nvPr/>
        </p:nvSpPr>
        <p:spPr>
          <a:xfrm>
            <a:off x="1073133" y="3999565"/>
            <a:ext cx="12961623" cy="1583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300"/>
              </a:lnSpc>
              <a:defRPr sz="900" i="1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Gestione di errori, sicurezza JWT, logging centralizzato e pattern di resilienza.</a:t>
            </a:r>
          </a:p>
        </p:txBody>
      </p:sp>
      <p:sp>
        <p:nvSpPr>
          <p:cNvPr id="58" name="Text 9"/>
          <p:cNvSpPr txBox="1"/>
          <p:nvPr/>
        </p:nvSpPr>
        <p:spPr>
          <a:xfrm>
            <a:off x="1056366" y="4386178"/>
            <a:ext cx="3532489" cy="1816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500"/>
              </a:lnSpc>
              <a:defRPr sz="1000" b="1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Real-time Analytics</a:t>
            </a:r>
          </a:p>
        </p:txBody>
      </p:sp>
      <p:sp>
        <p:nvSpPr>
          <p:cNvPr id="59" name="Text 10"/>
          <p:cNvSpPr txBox="1"/>
          <p:nvPr/>
        </p:nvSpPr>
        <p:spPr>
          <a:xfrm>
            <a:off x="1056366" y="4603203"/>
            <a:ext cx="10241282" cy="1583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300"/>
              </a:lnSpc>
              <a:defRPr sz="900" i="1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Streaming di dati tramite SSE e notifiche immediate di anomalie.</a:t>
            </a:r>
          </a:p>
        </p:txBody>
      </p:sp>
      <p:sp>
        <p:nvSpPr>
          <p:cNvPr id="60" name="Text 11"/>
          <p:cNvSpPr txBox="1"/>
          <p:nvPr/>
        </p:nvSpPr>
        <p:spPr>
          <a:xfrm>
            <a:off x="6531946" y="2740088"/>
            <a:ext cx="5029203" cy="2208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sz="1300" b="1" spc="30">
                <a:solidFill>
                  <a:srgbClr val="FFA5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IL DIGITAL ENERGY TWIN</a:t>
            </a:r>
          </a:p>
        </p:txBody>
      </p:sp>
      <p:sp>
        <p:nvSpPr>
          <p:cNvPr id="61" name="Text 12"/>
          <p:cNvSpPr txBox="1"/>
          <p:nvPr/>
        </p:nvSpPr>
        <p:spPr>
          <a:xfrm>
            <a:off x="6531947" y="3175238"/>
            <a:ext cx="4989315" cy="3691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ts val="1500"/>
              </a:lnSpc>
              <a:defRPr sz="9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Il cuore pulsante di Nexus Energy è il </a:t>
            </a:r>
            <a:r>
              <a:rPr b="1"/>
              <a:t>Digital Twin</a:t>
            </a:r>
            <a:r>
              <a:t>: una rappresentazione virtuale neurale che modella il comportamento energetico dell'edificio.</a:t>
            </a:r>
          </a:p>
        </p:txBody>
      </p:sp>
      <p:sp>
        <p:nvSpPr>
          <p:cNvPr id="62" name="Text 13"/>
          <p:cNvSpPr txBox="1"/>
          <p:nvPr/>
        </p:nvSpPr>
        <p:spPr>
          <a:xfrm>
            <a:off x="6666086" y="3889492"/>
            <a:ext cx="470426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000"/>
              </a:lnSpc>
              <a:defRPr sz="700" b="1">
                <a:solidFill>
                  <a:srgbClr val="FFA5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MODELLO NEURALE</a:t>
            </a:r>
          </a:p>
        </p:txBody>
      </p:sp>
      <p:sp>
        <p:nvSpPr>
          <p:cNvPr id="63" name="Text 14"/>
          <p:cNvSpPr txBox="1"/>
          <p:nvPr/>
        </p:nvSpPr>
        <p:spPr>
          <a:xfrm>
            <a:off x="6666087" y="4058253"/>
            <a:ext cx="10081261" cy="1583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ts val="1300"/>
              </a:lnSpc>
              <a:defRPr sz="9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Architettura </a:t>
            </a:r>
            <a:r>
              <a:rPr b="1"/>
              <a:t>LSTM</a:t>
            </a:r>
            <a:r>
              <a:t> (Long Short-Term Memory) per serie temporali.</a:t>
            </a:r>
          </a:p>
        </p:txBody>
      </p:sp>
      <p:sp>
        <p:nvSpPr>
          <p:cNvPr id="64" name="Text 15"/>
          <p:cNvSpPr txBox="1"/>
          <p:nvPr/>
        </p:nvSpPr>
        <p:spPr>
          <a:xfrm>
            <a:off x="6666086" y="4627271"/>
            <a:ext cx="470426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000"/>
              </a:lnSpc>
              <a:defRPr sz="700" b="1">
                <a:solidFill>
                  <a:srgbClr val="FFA5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INPUT DATASET (KAGGLE)</a:t>
            </a:r>
          </a:p>
        </p:txBody>
      </p:sp>
      <p:sp>
        <p:nvSpPr>
          <p:cNvPr id="65" name="Text 16"/>
          <p:cNvSpPr txBox="1"/>
          <p:nvPr/>
        </p:nvSpPr>
        <p:spPr>
          <a:xfrm>
            <a:off x="6666086" y="4796032"/>
            <a:ext cx="8961123" cy="1583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300"/>
              </a:lnSpc>
              <a:defRPr sz="900" i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Temperatura, Umidità, Occupazione, HVAC e Illuminazione.</a:t>
            </a:r>
          </a:p>
        </p:txBody>
      </p:sp>
      <p:sp>
        <p:nvSpPr>
          <p:cNvPr id="66" name="Text 17"/>
          <p:cNvSpPr txBox="1"/>
          <p:nvPr/>
        </p:nvSpPr>
        <p:spPr>
          <a:xfrm>
            <a:off x="6666086" y="5365050"/>
            <a:ext cx="470426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000"/>
              </a:lnSpc>
              <a:defRPr sz="700" b="1">
                <a:solidFill>
                  <a:srgbClr val="FFA5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RILEVAMENTO ANOMALIE</a:t>
            </a:r>
          </a:p>
        </p:txBody>
      </p:sp>
      <p:sp>
        <p:nvSpPr>
          <p:cNvPr id="67" name="Text 18"/>
          <p:cNvSpPr txBox="1"/>
          <p:nvPr/>
        </p:nvSpPr>
        <p:spPr>
          <a:xfrm>
            <a:off x="6666086" y="5533812"/>
            <a:ext cx="12321542" cy="1583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ts val="1300"/>
              </a:lnSpc>
              <a:defRPr sz="9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Confronto continuo tra </a:t>
            </a:r>
            <a:r>
              <a:rPr b="1"/>
              <a:t>Predizione vs Dati Reali</a:t>
            </a:r>
            <a:r>
              <a:t> per individuare inefficienze.</a:t>
            </a:r>
          </a:p>
        </p:txBody>
      </p:sp>
      <p:sp>
        <p:nvSpPr>
          <p:cNvPr id="68" name="Text 19"/>
          <p:cNvSpPr txBox="1"/>
          <p:nvPr/>
        </p:nvSpPr>
        <p:spPr>
          <a:xfrm>
            <a:off x="402425" y="6610056"/>
            <a:ext cx="348087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000"/>
              </a:lnSpc>
              <a:defRPr sz="700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Dataset: Energy Consumption Prediction (Synthetic real-world emulation)</a:t>
            </a:r>
          </a:p>
        </p:txBody>
      </p:sp>
      <p:sp>
        <p:nvSpPr>
          <p:cNvPr id="69" name="Text 20"/>
          <p:cNvSpPr txBox="1"/>
          <p:nvPr/>
        </p:nvSpPr>
        <p:spPr>
          <a:xfrm>
            <a:off x="9869771" y="6610054"/>
            <a:ext cx="54864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000"/>
              </a:lnSpc>
              <a:defRPr sz="700" b="1" i="1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Nexus Energy: Scalability &amp; Intelligence</a:t>
            </a: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Image 0" descr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72" name="Image 1" descr="Imag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81000"/>
            <a:ext cx="11430000" cy="723900"/>
          </a:xfrm>
          <a:prstGeom prst="rect">
            <a:avLst/>
          </a:prstGeom>
          <a:ln w="12700">
            <a:miter lim="400000"/>
          </a:ln>
        </p:spPr>
      </p:pic>
      <p:pic>
        <p:nvPicPr>
          <p:cNvPr id="73" name="Image 2" descr="Imag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1485900"/>
            <a:ext cx="3606702" cy="2314575"/>
          </a:xfrm>
          <a:prstGeom prst="rect">
            <a:avLst/>
          </a:prstGeom>
          <a:ln w="12700">
            <a:miter lim="400000"/>
          </a:ln>
        </p:spPr>
      </p:pic>
      <p:pic>
        <p:nvPicPr>
          <p:cNvPr id="74" name="Image 3" descr="Imag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1752600"/>
            <a:ext cx="219075" cy="190500"/>
          </a:xfrm>
          <a:prstGeom prst="rect">
            <a:avLst/>
          </a:prstGeom>
          <a:ln w="12700">
            <a:miter lim="400000"/>
          </a:ln>
        </p:spPr>
      </p:pic>
      <p:pic>
        <p:nvPicPr>
          <p:cNvPr id="75" name="Image 4" descr="Image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92501" y="1485900"/>
            <a:ext cx="7518501" cy="2314575"/>
          </a:xfrm>
          <a:prstGeom prst="rect">
            <a:avLst/>
          </a:prstGeom>
          <a:ln w="12700">
            <a:miter lim="400000"/>
          </a:ln>
        </p:spPr>
      </p:pic>
      <p:pic>
        <p:nvPicPr>
          <p:cNvPr id="76" name="Image 5" descr="Image 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83001" y="2105025"/>
            <a:ext cx="1665389" cy="1495425"/>
          </a:xfrm>
          <a:prstGeom prst="rect">
            <a:avLst/>
          </a:prstGeom>
          <a:ln w="12700">
            <a:miter lim="400000"/>
          </a:ln>
        </p:spPr>
      </p:pic>
      <p:pic>
        <p:nvPicPr>
          <p:cNvPr id="77" name="Image 6" descr="Image 6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01394" y="2333625"/>
            <a:ext cx="228602" cy="304800"/>
          </a:xfrm>
          <a:prstGeom prst="rect">
            <a:avLst/>
          </a:prstGeom>
          <a:ln w="12700">
            <a:miter lim="400000"/>
          </a:ln>
        </p:spPr>
      </p:pic>
      <p:pic>
        <p:nvPicPr>
          <p:cNvPr id="78" name="Image 7" descr="Image 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0787" y="2105025"/>
            <a:ext cx="1665389" cy="1495425"/>
          </a:xfrm>
          <a:prstGeom prst="rect">
            <a:avLst/>
          </a:prstGeom>
          <a:ln w="12700">
            <a:miter lim="400000"/>
          </a:ln>
        </p:spPr>
      </p:pic>
      <p:pic>
        <p:nvPicPr>
          <p:cNvPr id="79" name="Image 8" descr="Image 8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19180" y="2333625"/>
            <a:ext cx="228602" cy="304800"/>
          </a:xfrm>
          <a:prstGeom prst="rect">
            <a:avLst/>
          </a:prstGeom>
          <a:ln w="12700">
            <a:miter lim="400000"/>
          </a:ln>
        </p:spPr>
      </p:pic>
      <p:pic>
        <p:nvPicPr>
          <p:cNvPr id="80" name="Image 9" descr="Image 9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18574" y="2105025"/>
            <a:ext cx="1665389" cy="1495425"/>
          </a:xfrm>
          <a:prstGeom prst="rect">
            <a:avLst/>
          </a:prstGeom>
          <a:ln w="12700">
            <a:miter lim="400000"/>
          </a:ln>
        </p:spPr>
      </p:pic>
      <p:pic>
        <p:nvPicPr>
          <p:cNvPr id="81" name="Image 10" descr="Image 10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836968" y="2333625"/>
            <a:ext cx="228602" cy="304800"/>
          </a:xfrm>
          <a:prstGeom prst="rect">
            <a:avLst/>
          </a:prstGeom>
          <a:ln w="12700">
            <a:miter lim="400000"/>
          </a:ln>
        </p:spPr>
      </p:pic>
      <p:pic>
        <p:nvPicPr>
          <p:cNvPr id="82" name="Image 11" descr="Image 11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936360" y="2105025"/>
            <a:ext cx="1665389" cy="1495425"/>
          </a:xfrm>
          <a:prstGeom prst="rect">
            <a:avLst/>
          </a:prstGeom>
          <a:ln w="12700">
            <a:miter lim="400000"/>
          </a:ln>
        </p:spPr>
      </p:pic>
      <p:pic>
        <p:nvPicPr>
          <p:cNvPr id="83" name="Image 12" descr="Image 12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640466" y="2333625"/>
            <a:ext cx="257177" cy="304800"/>
          </a:xfrm>
          <a:prstGeom prst="rect">
            <a:avLst/>
          </a:prstGeom>
          <a:ln w="12700">
            <a:miter lim="400000"/>
          </a:ln>
        </p:spPr>
      </p:pic>
      <p:pic>
        <p:nvPicPr>
          <p:cNvPr id="84" name="Image 13" descr="Image 13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81000" y="4181475"/>
            <a:ext cx="533400" cy="609600"/>
          </a:xfrm>
          <a:prstGeom prst="rect">
            <a:avLst/>
          </a:prstGeom>
          <a:ln w="12700">
            <a:miter lim="400000"/>
          </a:ln>
        </p:spPr>
      </p:pic>
      <p:pic>
        <p:nvPicPr>
          <p:cNvPr id="85" name="Image 14" descr="Image 14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33400" y="4333875"/>
            <a:ext cx="228600" cy="304800"/>
          </a:xfrm>
          <a:prstGeom prst="rect">
            <a:avLst/>
          </a:prstGeom>
          <a:ln w="12700">
            <a:miter lim="400000"/>
          </a:ln>
        </p:spPr>
      </p:pic>
      <p:pic>
        <p:nvPicPr>
          <p:cNvPr id="86" name="Image 15" descr="Image 15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517505" y="4181475"/>
            <a:ext cx="504827" cy="609600"/>
          </a:xfrm>
          <a:prstGeom prst="rect">
            <a:avLst/>
          </a:prstGeom>
          <a:ln w="12700">
            <a:miter lim="400000"/>
          </a:ln>
        </p:spPr>
      </p:pic>
      <p:pic>
        <p:nvPicPr>
          <p:cNvPr id="87" name="Image 16" descr="Image 16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669905" y="4333875"/>
            <a:ext cx="200027" cy="304800"/>
          </a:xfrm>
          <a:prstGeom prst="rect">
            <a:avLst/>
          </a:prstGeom>
          <a:ln w="12700">
            <a:miter lim="400000"/>
          </a:ln>
        </p:spPr>
      </p:pic>
      <p:pic>
        <p:nvPicPr>
          <p:cNvPr id="88" name="Image 17" descr="Image 17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81000" y="6019800"/>
            <a:ext cx="11430000" cy="457200"/>
          </a:xfrm>
          <a:prstGeom prst="rect">
            <a:avLst/>
          </a:prstGeom>
          <a:ln w="12700">
            <a:miter lim="400000"/>
          </a:ln>
        </p:spPr>
      </p:pic>
      <p:sp>
        <p:nvSpPr>
          <p:cNvPr id="89" name="Text 0"/>
          <p:cNvSpPr txBox="1"/>
          <p:nvPr/>
        </p:nvSpPr>
        <p:spPr>
          <a:xfrm>
            <a:off x="609600" y="379669"/>
            <a:ext cx="16047720" cy="383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3000"/>
              </a:lnSpc>
              <a:defRPr sz="2700" b="1" spc="-54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ARCHITETTURA DEL SERVER (ENERGY-SERVER)</a:t>
            </a:r>
          </a:p>
        </p:txBody>
      </p:sp>
      <p:sp>
        <p:nvSpPr>
          <p:cNvPr id="90" name="Text 1"/>
          <p:cNvSpPr txBox="1"/>
          <p:nvPr/>
        </p:nvSpPr>
        <p:spPr>
          <a:xfrm>
            <a:off x="609600" y="842963"/>
            <a:ext cx="12801600" cy="2571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2100"/>
              </a:lnSpc>
              <a:defRPr sz="15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Logica centralizzata e gestione reattiva dei flussi dati</a:t>
            </a:r>
          </a:p>
        </p:txBody>
      </p:sp>
      <p:sp>
        <p:nvSpPr>
          <p:cNvPr id="91" name="Text 2"/>
          <p:cNvSpPr txBox="1"/>
          <p:nvPr/>
        </p:nvSpPr>
        <p:spPr>
          <a:xfrm>
            <a:off x="942975" y="1719264"/>
            <a:ext cx="3149501" cy="257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2100"/>
              </a:lnSpc>
              <a:defRPr sz="15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Remote Facade</a:t>
            </a:r>
          </a:p>
        </p:txBody>
      </p:sp>
      <p:sp>
        <p:nvSpPr>
          <p:cNvPr id="92" name="Text 3"/>
          <p:cNvSpPr txBox="1"/>
          <p:nvPr/>
        </p:nvSpPr>
        <p:spPr>
          <a:xfrm>
            <a:off x="609600" y="2212022"/>
            <a:ext cx="3149501" cy="6337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700"/>
              </a:lnSpc>
              <a:defRPr sz="10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Centralizza la logica di business esponendo operazioni aggregate. Riduce il "chattiness" tra client e server, mappando chiamate complesse su endpoint ottimizzati.</a:t>
            </a:r>
          </a:p>
        </p:txBody>
      </p:sp>
      <p:sp>
        <p:nvSpPr>
          <p:cNvPr id="93" name="Text 4"/>
          <p:cNvSpPr txBox="1"/>
          <p:nvPr/>
        </p:nvSpPr>
        <p:spPr>
          <a:xfrm>
            <a:off x="4483001" y="1693609"/>
            <a:ext cx="7118451" cy="2513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2100"/>
              </a:lnSpc>
              <a:defRPr sz="1300" b="1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Pipeline di Elaborazione Dati</a:t>
            </a:r>
          </a:p>
        </p:txBody>
      </p:sp>
      <p:sp>
        <p:nvSpPr>
          <p:cNvPr id="94" name="Text 5"/>
          <p:cNvSpPr txBox="1"/>
          <p:nvPr/>
        </p:nvSpPr>
        <p:spPr>
          <a:xfrm>
            <a:off x="4515594" y="2757171"/>
            <a:ext cx="1600202" cy="1816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ts val="1500"/>
              </a:lnSpc>
              <a:defRPr sz="10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Ingestione</a:t>
            </a:r>
          </a:p>
        </p:txBody>
      </p:sp>
      <p:sp>
        <p:nvSpPr>
          <p:cNvPr id="95" name="Text 6"/>
          <p:cNvSpPr txBox="1"/>
          <p:nvPr/>
        </p:nvSpPr>
        <p:spPr>
          <a:xfrm>
            <a:off x="4711601" y="3021520"/>
            <a:ext cx="1189139" cy="3006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ts val="1200"/>
              </a:lnSpc>
              <a:defRPr sz="9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Parsing CSV e accodamento record</a:t>
            </a:r>
          </a:p>
        </p:txBody>
      </p:sp>
      <p:sp>
        <p:nvSpPr>
          <p:cNvPr id="96" name="Text 7"/>
          <p:cNvSpPr txBox="1"/>
          <p:nvPr/>
        </p:nvSpPr>
        <p:spPr>
          <a:xfrm>
            <a:off x="6253370" y="2757171"/>
            <a:ext cx="1760223" cy="1816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ts val="1500"/>
              </a:lnSpc>
              <a:defRPr sz="10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Simulazione</a:t>
            </a:r>
          </a:p>
        </p:txBody>
      </p:sp>
      <p:sp>
        <p:nvSpPr>
          <p:cNvPr id="97" name="Text 8"/>
          <p:cNvSpPr txBox="1"/>
          <p:nvPr/>
        </p:nvSpPr>
        <p:spPr>
          <a:xfrm>
            <a:off x="6529388" y="3021520"/>
            <a:ext cx="1189139" cy="3006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ts val="1200"/>
              </a:lnSpc>
              <a:defRPr sz="9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Estrazione a intervalli fissi</a:t>
            </a:r>
          </a:p>
        </p:txBody>
      </p:sp>
      <p:sp>
        <p:nvSpPr>
          <p:cNvPr id="98" name="Text 9"/>
          <p:cNvSpPr txBox="1"/>
          <p:nvPr/>
        </p:nvSpPr>
        <p:spPr>
          <a:xfrm>
            <a:off x="7911138" y="2757171"/>
            <a:ext cx="2080262" cy="1816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ts val="1500"/>
              </a:lnSpc>
              <a:defRPr sz="10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AI Prediction</a:t>
            </a:r>
          </a:p>
        </p:txBody>
      </p:sp>
      <p:sp>
        <p:nvSpPr>
          <p:cNvPr id="99" name="Text 10"/>
          <p:cNvSpPr txBox="1"/>
          <p:nvPr/>
        </p:nvSpPr>
        <p:spPr>
          <a:xfrm>
            <a:off x="8347174" y="3021520"/>
            <a:ext cx="1189139" cy="3006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ts val="1200"/>
              </a:lnSpc>
              <a:defRPr sz="9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Modello LSTM e confronto reale</a:t>
            </a:r>
          </a:p>
        </p:txBody>
      </p:sp>
      <p:sp>
        <p:nvSpPr>
          <p:cNvPr id="100" name="Text 11"/>
          <p:cNvSpPr txBox="1"/>
          <p:nvPr/>
        </p:nvSpPr>
        <p:spPr>
          <a:xfrm>
            <a:off x="9968954" y="2757171"/>
            <a:ext cx="1600202" cy="1816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ts val="1500"/>
              </a:lnSpc>
              <a:defRPr sz="10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SSE Stream</a:t>
            </a:r>
          </a:p>
        </p:txBody>
      </p:sp>
      <p:sp>
        <p:nvSpPr>
          <p:cNvPr id="101" name="Text 12"/>
          <p:cNvSpPr txBox="1"/>
          <p:nvPr/>
        </p:nvSpPr>
        <p:spPr>
          <a:xfrm>
            <a:off x="10164960" y="3021520"/>
            <a:ext cx="1189139" cy="3006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ts val="1200"/>
              </a:lnSpc>
              <a:defRPr sz="9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Push real-time a tutti i client</a:t>
            </a:r>
          </a:p>
        </p:txBody>
      </p:sp>
      <p:sp>
        <p:nvSpPr>
          <p:cNvPr id="102" name="Text 13"/>
          <p:cNvSpPr txBox="1"/>
          <p:nvPr/>
        </p:nvSpPr>
        <p:spPr>
          <a:xfrm>
            <a:off x="1143000" y="4186239"/>
            <a:ext cx="6172200" cy="257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2100"/>
              </a:lnSpc>
              <a:defRPr sz="15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Resilienza: Circuit Breaker</a:t>
            </a:r>
          </a:p>
        </p:txBody>
      </p:sp>
      <p:sp>
        <p:nvSpPr>
          <p:cNvPr id="103" name="Text 14"/>
          <p:cNvSpPr txBox="1"/>
          <p:nvPr/>
        </p:nvSpPr>
        <p:spPr>
          <a:xfrm>
            <a:off x="1143000" y="4528820"/>
            <a:ext cx="7360919" cy="1816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5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• Protezione del servizio di persistenza (DB).</a:t>
            </a:r>
          </a:p>
        </p:txBody>
      </p:sp>
      <p:sp>
        <p:nvSpPr>
          <p:cNvPr id="104" name="Text 15"/>
          <p:cNvSpPr txBox="1"/>
          <p:nvPr/>
        </p:nvSpPr>
        <p:spPr>
          <a:xfrm>
            <a:off x="1142999" y="4795520"/>
            <a:ext cx="9121142" cy="1816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5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• Finestra scorrevole per il monitoraggio dei fallimenti.</a:t>
            </a:r>
          </a:p>
        </p:txBody>
      </p:sp>
      <p:sp>
        <p:nvSpPr>
          <p:cNvPr id="105" name="Text 16"/>
          <p:cNvSpPr txBox="1"/>
          <p:nvPr/>
        </p:nvSpPr>
        <p:spPr>
          <a:xfrm>
            <a:off x="1143000" y="5157470"/>
            <a:ext cx="3447604" cy="1816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5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• Stato "Aperto" temporaneo per evitare sovraccarichi.</a:t>
            </a:r>
          </a:p>
        </p:txBody>
      </p:sp>
      <p:sp>
        <p:nvSpPr>
          <p:cNvPr id="106" name="Text 17"/>
          <p:cNvSpPr txBox="1"/>
          <p:nvPr/>
        </p:nvSpPr>
        <p:spPr>
          <a:xfrm>
            <a:off x="6250929" y="4186239"/>
            <a:ext cx="4572003" cy="257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2100"/>
              </a:lnSpc>
              <a:defRPr sz="15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Snapshot &amp; Real-time</a:t>
            </a:r>
          </a:p>
        </p:txBody>
      </p:sp>
      <p:sp>
        <p:nvSpPr>
          <p:cNvPr id="107" name="Text 18"/>
          <p:cNvSpPr txBox="1"/>
          <p:nvPr/>
        </p:nvSpPr>
        <p:spPr>
          <a:xfrm>
            <a:off x="6250930" y="4528820"/>
            <a:ext cx="7840982" cy="1816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5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• Facade mantiene uno snapshot volatile dei dati.</a:t>
            </a:r>
          </a:p>
        </p:txBody>
      </p:sp>
      <p:sp>
        <p:nvSpPr>
          <p:cNvPr id="108" name="Text 19"/>
          <p:cNvSpPr txBox="1"/>
          <p:nvPr/>
        </p:nvSpPr>
        <p:spPr>
          <a:xfrm>
            <a:off x="6250930" y="4795520"/>
            <a:ext cx="8321042" cy="1816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5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• Gestione parallela di multiple connessioni client.</a:t>
            </a:r>
          </a:p>
        </p:txBody>
      </p:sp>
      <p:sp>
        <p:nvSpPr>
          <p:cNvPr id="109" name="Text 20"/>
          <p:cNvSpPr txBox="1"/>
          <p:nvPr/>
        </p:nvSpPr>
        <p:spPr>
          <a:xfrm>
            <a:off x="6250930" y="5062220"/>
            <a:ext cx="7680961" cy="1816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5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• Pulizia telemetria e reset snapshot all'avvio.</a:t>
            </a:r>
          </a:p>
        </p:txBody>
      </p:sp>
      <p:sp>
        <p:nvSpPr>
          <p:cNvPr id="110" name="Text 21"/>
          <p:cNvSpPr txBox="1"/>
          <p:nvPr/>
        </p:nvSpPr>
        <p:spPr>
          <a:xfrm>
            <a:off x="380998" y="6326695"/>
            <a:ext cx="5074924" cy="1482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200"/>
              </a:lnSpc>
              <a:defRPr sz="900" b="1" spc="72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NEXUS ENERGY DISTRIBUTED ARCHITECTURE</a:t>
            </a:r>
          </a:p>
        </p:txBody>
      </p:sp>
      <p:sp>
        <p:nvSpPr>
          <p:cNvPr id="111" name="Text 22"/>
          <p:cNvSpPr txBox="1"/>
          <p:nvPr/>
        </p:nvSpPr>
        <p:spPr>
          <a:xfrm>
            <a:off x="7566569" y="6326695"/>
            <a:ext cx="7269483" cy="1482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200"/>
              </a:lnSpc>
              <a:defRPr sz="900" b="1" spc="72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dirty="0"/>
              <a:t>COMPONENT: ENERGY-SERVER (SPRING BOOT )</a:t>
            </a:r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" name="Image 0" descr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49" cy="6858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14" name="Image 1" descr="Imag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49" cy="6858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15" name="Image 2" descr="Imag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4472" y="462857"/>
            <a:ext cx="1974618" cy="52457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6" name="Image 3" descr="Imag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7900" y="586286"/>
            <a:ext cx="285430" cy="277716"/>
          </a:xfrm>
          <a:prstGeom prst="rect">
            <a:avLst/>
          </a:prstGeom>
          <a:ln w="12700">
            <a:miter lim="400000"/>
          </a:ln>
        </p:spPr>
      </p:pic>
      <p:pic>
        <p:nvPicPr>
          <p:cNvPr id="117" name="Image 4" descr="Image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2857" y="1596856"/>
            <a:ext cx="11266232" cy="1235734"/>
          </a:xfrm>
          <a:prstGeom prst="rect">
            <a:avLst/>
          </a:prstGeom>
          <a:ln w="12700">
            <a:miter lim="400000"/>
          </a:ln>
        </p:spPr>
      </p:pic>
      <p:pic>
        <p:nvPicPr>
          <p:cNvPr id="118" name="Image 5" descr="Image 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7999" y="1794777"/>
            <a:ext cx="192859" cy="190448"/>
          </a:xfrm>
          <a:prstGeom prst="rect">
            <a:avLst/>
          </a:prstGeom>
          <a:ln w="12700">
            <a:miter lim="400000"/>
          </a:ln>
        </p:spPr>
      </p:pic>
      <p:pic>
        <p:nvPicPr>
          <p:cNvPr id="119" name="Image 6" descr="Image 6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2857" y="3141160"/>
            <a:ext cx="3590760" cy="1681715"/>
          </a:xfrm>
          <a:prstGeom prst="rect">
            <a:avLst/>
          </a:prstGeom>
          <a:ln w="12700">
            <a:miter lim="400000"/>
          </a:ln>
        </p:spPr>
      </p:pic>
      <p:pic>
        <p:nvPicPr>
          <p:cNvPr id="120" name="Image 7" descr="Image 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7999" y="3326303"/>
            <a:ext cx="285431" cy="277716"/>
          </a:xfrm>
          <a:prstGeom prst="rect">
            <a:avLst/>
          </a:prstGeom>
          <a:ln w="12700">
            <a:miter lim="400000"/>
          </a:ln>
        </p:spPr>
      </p:pic>
      <p:pic>
        <p:nvPicPr>
          <p:cNvPr id="121" name="Image 8" descr="Image 8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00473" y="3141160"/>
            <a:ext cx="3590881" cy="1681715"/>
          </a:xfrm>
          <a:prstGeom prst="rect">
            <a:avLst/>
          </a:prstGeom>
          <a:ln w="12700">
            <a:miter lim="400000"/>
          </a:ln>
        </p:spPr>
      </p:pic>
      <p:pic>
        <p:nvPicPr>
          <p:cNvPr id="122" name="Image 9" descr="Image 9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85616" y="3326303"/>
            <a:ext cx="324002" cy="277716"/>
          </a:xfrm>
          <a:prstGeom prst="rect">
            <a:avLst/>
          </a:prstGeom>
          <a:ln w="12700">
            <a:miter lim="400000"/>
          </a:ln>
        </p:spPr>
      </p:pic>
      <p:pic>
        <p:nvPicPr>
          <p:cNvPr id="123" name="Image 10" descr="Image 10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38210" y="3141160"/>
            <a:ext cx="3590760" cy="1681715"/>
          </a:xfrm>
          <a:prstGeom prst="rect">
            <a:avLst/>
          </a:prstGeom>
          <a:ln w="12700">
            <a:miter lim="400000"/>
          </a:ln>
        </p:spPr>
      </p:pic>
      <p:pic>
        <p:nvPicPr>
          <p:cNvPr id="124" name="Image 11" descr="Image 11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323350" y="3326303"/>
            <a:ext cx="285431" cy="277716"/>
          </a:xfrm>
          <a:prstGeom prst="rect">
            <a:avLst/>
          </a:prstGeom>
          <a:ln w="12700">
            <a:miter lim="400000"/>
          </a:ln>
        </p:spPr>
      </p:pic>
      <p:pic>
        <p:nvPicPr>
          <p:cNvPr id="125" name="Image 12" descr="Image 12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62857" y="6140570"/>
            <a:ext cx="1126287" cy="256020"/>
          </a:xfrm>
          <a:prstGeom prst="rect">
            <a:avLst/>
          </a:prstGeom>
          <a:ln w="12700">
            <a:miter lim="400000"/>
          </a:ln>
        </p:spPr>
      </p:pic>
      <p:pic>
        <p:nvPicPr>
          <p:cNvPr id="126" name="Image 13" descr="Image 13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681714" y="6140570"/>
            <a:ext cx="1566000" cy="256020"/>
          </a:xfrm>
          <a:prstGeom prst="rect">
            <a:avLst/>
          </a:prstGeom>
          <a:ln w="12700">
            <a:miter lim="400000"/>
          </a:ln>
        </p:spPr>
      </p:pic>
      <p:pic>
        <p:nvPicPr>
          <p:cNvPr id="127" name="Image 14" descr="Image 14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340286" y="6140570"/>
            <a:ext cx="1195716" cy="256020"/>
          </a:xfrm>
          <a:prstGeom prst="rect">
            <a:avLst/>
          </a:prstGeom>
          <a:ln w="12700">
            <a:miter lim="400000"/>
          </a:ln>
        </p:spPr>
      </p:pic>
      <p:pic>
        <p:nvPicPr>
          <p:cNvPr id="128" name="Image 15" descr="Image 15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628570" y="6140570"/>
            <a:ext cx="1350002" cy="256020"/>
          </a:xfrm>
          <a:prstGeom prst="rect">
            <a:avLst/>
          </a:prstGeom>
          <a:ln w="12700">
            <a:miter lim="400000"/>
          </a:ln>
        </p:spPr>
      </p:pic>
      <p:pic>
        <p:nvPicPr>
          <p:cNvPr id="129" name="Image 16" descr="Image 16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071141" y="6140570"/>
            <a:ext cx="1319146" cy="256020"/>
          </a:xfrm>
          <a:prstGeom prst="rect">
            <a:avLst/>
          </a:prstGeom>
          <a:ln w="12700">
            <a:miter lim="400000"/>
          </a:ln>
        </p:spPr>
      </p:pic>
      <p:pic>
        <p:nvPicPr>
          <p:cNvPr id="130" name="Image 17" descr="Image 17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482857" y="6140570"/>
            <a:ext cx="972002" cy="256020"/>
          </a:xfrm>
          <a:prstGeom prst="rect">
            <a:avLst/>
          </a:prstGeom>
          <a:ln w="12700">
            <a:miter lim="400000"/>
          </a:ln>
        </p:spPr>
      </p:pic>
      <p:sp>
        <p:nvSpPr>
          <p:cNvPr id="131" name="Text 0"/>
          <p:cNvSpPr txBox="1"/>
          <p:nvPr/>
        </p:nvSpPr>
        <p:spPr>
          <a:xfrm>
            <a:off x="462856" y="684594"/>
            <a:ext cx="5352391" cy="4709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3600"/>
              </a:lnSpc>
              <a:defRPr sz="3600" b="1" spc="-89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Resilienza con RabbitMQ</a:t>
            </a:r>
          </a:p>
        </p:txBody>
      </p:sp>
      <p:sp>
        <p:nvSpPr>
          <p:cNvPr id="132" name="Text 1"/>
          <p:cNvSpPr txBox="1"/>
          <p:nvPr/>
        </p:nvSpPr>
        <p:spPr>
          <a:xfrm>
            <a:off x="462855" y="1439575"/>
            <a:ext cx="12532223" cy="2456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900"/>
              </a:lnSpc>
              <a:defRPr i="1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Fallback Event-Driven &amp; Data Recovery</a:t>
            </a:r>
          </a:p>
        </p:txBody>
      </p:sp>
      <p:sp>
        <p:nvSpPr>
          <p:cNvPr id="133" name="Text 2"/>
          <p:cNvSpPr txBox="1"/>
          <p:nvPr/>
        </p:nvSpPr>
        <p:spPr>
          <a:xfrm>
            <a:off x="10255901" y="596237"/>
            <a:ext cx="1349760" cy="2578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ts val="1000"/>
              </a:lnSpc>
              <a:defRPr sz="1000" b="1" spc="52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FAULT TOLERANCE</a:t>
            </a:r>
          </a:p>
          <a:p>
            <a:pPr>
              <a:lnSpc>
                <a:spcPts val="1000"/>
              </a:lnSpc>
              <a:defRPr sz="1000" b="1" spc="52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ENGINE</a:t>
            </a:r>
          </a:p>
        </p:txBody>
      </p:sp>
      <p:sp>
        <p:nvSpPr>
          <p:cNvPr id="134" name="Text 3"/>
          <p:cNvSpPr txBox="1"/>
          <p:nvPr/>
        </p:nvSpPr>
        <p:spPr>
          <a:xfrm>
            <a:off x="902570" y="1781734"/>
            <a:ext cx="10895949" cy="2165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700"/>
              </a:lnSpc>
              <a:defRPr sz="1500" b="1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Strategia di Fallback</a:t>
            </a:r>
          </a:p>
        </p:txBody>
      </p:sp>
      <p:sp>
        <p:nvSpPr>
          <p:cNvPr id="135" name="Text 4"/>
          <p:cNvSpPr txBox="1"/>
          <p:nvPr/>
        </p:nvSpPr>
        <p:spPr>
          <a:xfrm>
            <a:off x="647998" y="2109992"/>
            <a:ext cx="10865093" cy="5180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ts val="2100"/>
              </a:lnSpc>
              <a:defRPr sz="1300">
                <a:solidFill>
                  <a:srgbClr val="333333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RabbitMQ non agisce come coda primaria, ma come un </a:t>
            </a:r>
            <a:r>
              <a:rPr b="1"/>
              <a:t>buffer persistente</a:t>
            </a:r>
            <a:r>
              <a:t> attivato dal </a:t>
            </a:r>
            <a:r>
              <a:rPr b="1"/>
              <a:t>Circuit Breaker</a:t>
            </a:r>
            <a:r>
              <a:t>. Quando il Database è indisponibile, i flussi di telemetria vengono dirottati per prevenire la perdita di dati.</a:t>
            </a:r>
          </a:p>
        </p:txBody>
      </p:sp>
      <p:sp>
        <p:nvSpPr>
          <p:cNvPr id="136" name="Text 5"/>
          <p:cNvSpPr txBox="1"/>
          <p:nvPr/>
        </p:nvSpPr>
        <p:spPr>
          <a:xfrm>
            <a:off x="647998" y="3765779"/>
            <a:ext cx="5080639" cy="2106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700"/>
              </a:lnSpc>
              <a:defRPr sz="1300" b="1">
                <a:solidFill>
                  <a:srgbClr val="33333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Publisher &amp; Exchange</a:t>
            </a:r>
          </a:p>
        </p:txBody>
      </p:sp>
      <p:sp>
        <p:nvSpPr>
          <p:cNvPr id="137" name="Text 6"/>
          <p:cNvSpPr txBox="1"/>
          <p:nvPr/>
        </p:nvSpPr>
        <p:spPr>
          <a:xfrm>
            <a:off x="648000" y="4042417"/>
            <a:ext cx="7310464" cy="1511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ts val="12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• </a:t>
            </a:r>
            <a:r>
              <a:rPr b="1"/>
              <a:t>TopicExchange</a:t>
            </a:r>
            <a:r>
              <a:t> per routing granulare</a:t>
            </a:r>
          </a:p>
        </p:txBody>
      </p:sp>
      <p:sp>
        <p:nvSpPr>
          <p:cNvPr id="138" name="Text 7"/>
          <p:cNvSpPr txBox="1"/>
          <p:nvPr/>
        </p:nvSpPr>
        <p:spPr>
          <a:xfrm>
            <a:off x="647999" y="4258417"/>
            <a:ext cx="8100787" cy="1511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ts val="12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• </a:t>
            </a:r>
            <a:r>
              <a:rPr b="1"/>
              <a:t>Publisher-Confirm</a:t>
            </a:r>
            <a:r>
              <a:t> per garanzia consegna</a:t>
            </a:r>
          </a:p>
        </p:txBody>
      </p:sp>
      <p:sp>
        <p:nvSpPr>
          <p:cNvPr id="139" name="Text 8"/>
          <p:cNvSpPr txBox="1"/>
          <p:nvPr/>
        </p:nvSpPr>
        <p:spPr>
          <a:xfrm>
            <a:off x="648000" y="4474417"/>
            <a:ext cx="5729824" cy="1511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2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• Serializzazione JSON sicura</a:t>
            </a:r>
          </a:p>
        </p:txBody>
      </p:sp>
      <p:sp>
        <p:nvSpPr>
          <p:cNvPr id="140" name="Text 9"/>
          <p:cNvSpPr txBox="1"/>
          <p:nvPr/>
        </p:nvSpPr>
        <p:spPr>
          <a:xfrm>
            <a:off x="4485616" y="3765779"/>
            <a:ext cx="3302415" cy="2106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700"/>
              </a:lnSpc>
              <a:defRPr sz="1300" b="1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Quorum Queues</a:t>
            </a:r>
          </a:p>
        </p:txBody>
      </p:sp>
      <p:sp>
        <p:nvSpPr>
          <p:cNvPr id="141" name="Text 10"/>
          <p:cNvSpPr txBox="1"/>
          <p:nvPr/>
        </p:nvSpPr>
        <p:spPr>
          <a:xfrm>
            <a:off x="4485616" y="4042417"/>
            <a:ext cx="6124986" cy="1511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ts val="12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• </a:t>
            </a:r>
            <a:r>
              <a:rPr b="1"/>
              <a:t>High Availability</a:t>
            </a:r>
            <a:r>
              <a:t> distribuita</a:t>
            </a:r>
          </a:p>
        </p:txBody>
      </p:sp>
      <p:sp>
        <p:nvSpPr>
          <p:cNvPr id="142" name="Text 11"/>
          <p:cNvSpPr txBox="1"/>
          <p:nvPr/>
        </p:nvSpPr>
        <p:spPr>
          <a:xfrm>
            <a:off x="4485616" y="4258417"/>
            <a:ext cx="7112884" cy="1511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ts val="12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• </a:t>
            </a:r>
            <a:r>
              <a:rPr b="1"/>
              <a:t>Dead Letter Queue (DLQ)</a:t>
            </a:r>
            <a:r>
              <a:t> per scarti</a:t>
            </a:r>
          </a:p>
        </p:txBody>
      </p:sp>
      <p:sp>
        <p:nvSpPr>
          <p:cNvPr id="143" name="Text 12"/>
          <p:cNvSpPr txBox="1"/>
          <p:nvPr/>
        </p:nvSpPr>
        <p:spPr>
          <a:xfrm>
            <a:off x="4485616" y="4474417"/>
            <a:ext cx="6717726" cy="1511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2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• TTL e Delivery Limit configurati</a:t>
            </a:r>
          </a:p>
        </p:txBody>
      </p:sp>
      <p:sp>
        <p:nvSpPr>
          <p:cNvPr id="144" name="Text 13"/>
          <p:cNvSpPr txBox="1"/>
          <p:nvPr/>
        </p:nvSpPr>
        <p:spPr>
          <a:xfrm>
            <a:off x="8323350" y="3765779"/>
            <a:ext cx="5334669" cy="2106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700"/>
              </a:lnSpc>
              <a:defRPr sz="1300" b="1">
                <a:solidFill>
                  <a:srgbClr val="33333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Self-Healing Consumer</a:t>
            </a:r>
          </a:p>
        </p:txBody>
      </p:sp>
      <p:sp>
        <p:nvSpPr>
          <p:cNvPr id="145" name="Text 14"/>
          <p:cNvSpPr txBox="1"/>
          <p:nvPr/>
        </p:nvSpPr>
        <p:spPr>
          <a:xfrm>
            <a:off x="8323350" y="4042417"/>
            <a:ext cx="6915306" cy="1511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2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• Riconciliazione automatica con DB</a:t>
            </a:r>
          </a:p>
        </p:txBody>
      </p:sp>
      <p:sp>
        <p:nvSpPr>
          <p:cNvPr id="146" name="Text 15"/>
          <p:cNvSpPr txBox="1"/>
          <p:nvPr/>
        </p:nvSpPr>
        <p:spPr>
          <a:xfrm>
            <a:off x="8323350" y="4258417"/>
            <a:ext cx="6717726" cy="1511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2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• Verifica duplicati (Idempotenza)</a:t>
            </a:r>
          </a:p>
        </p:txBody>
      </p:sp>
      <p:sp>
        <p:nvSpPr>
          <p:cNvPr id="147" name="Text 16"/>
          <p:cNvSpPr txBox="1"/>
          <p:nvPr/>
        </p:nvSpPr>
        <p:spPr>
          <a:xfrm>
            <a:off x="8323350" y="4474417"/>
            <a:ext cx="7112884" cy="1511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2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• Re-queueing intelligente su errore</a:t>
            </a:r>
          </a:p>
        </p:txBody>
      </p:sp>
      <p:sp>
        <p:nvSpPr>
          <p:cNvPr id="148" name="Text 17"/>
          <p:cNvSpPr txBox="1"/>
          <p:nvPr/>
        </p:nvSpPr>
        <p:spPr>
          <a:xfrm>
            <a:off x="462855" y="5891927"/>
            <a:ext cx="1126623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900"/>
              </a:lnSpc>
              <a:defRPr sz="900" b="1" spc="89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PATTERN ARCHITETTURALI IMPLEMENTATI</a:t>
            </a:r>
          </a:p>
        </p:txBody>
      </p:sp>
      <p:sp>
        <p:nvSpPr>
          <p:cNvPr id="149" name="Text 18"/>
          <p:cNvSpPr txBox="1"/>
          <p:nvPr/>
        </p:nvSpPr>
        <p:spPr>
          <a:xfrm>
            <a:off x="555429" y="6177776"/>
            <a:ext cx="2294673" cy="1816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500"/>
              </a:lnSpc>
              <a:defRPr sz="10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Circuit Breaker</a:t>
            </a:r>
          </a:p>
        </p:txBody>
      </p:sp>
      <p:sp>
        <p:nvSpPr>
          <p:cNvPr id="150" name="Text 19"/>
          <p:cNvSpPr txBox="1"/>
          <p:nvPr/>
        </p:nvSpPr>
        <p:spPr>
          <a:xfrm>
            <a:off x="1774286" y="6177776"/>
            <a:ext cx="3442253" cy="1816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500"/>
              </a:lnSpc>
              <a:defRPr sz="10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Event-Driven Fallback</a:t>
            </a:r>
          </a:p>
        </p:txBody>
      </p:sp>
      <p:sp>
        <p:nvSpPr>
          <p:cNvPr id="151" name="Text 20"/>
          <p:cNvSpPr txBox="1"/>
          <p:nvPr/>
        </p:nvSpPr>
        <p:spPr>
          <a:xfrm>
            <a:off x="3432857" y="6177776"/>
            <a:ext cx="2018124" cy="1816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500"/>
              </a:lnSpc>
              <a:defRPr sz="10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Message Queue</a:t>
            </a:r>
          </a:p>
        </p:txBody>
      </p:sp>
      <p:sp>
        <p:nvSpPr>
          <p:cNvPr id="152" name="Text 21"/>
          <p:cNvSpPr txBox="1"/>
          <p:nvPr/>
        </p:nvSpPr>
        <p:spPr>
          <a:xfrm>
            <a:off x="4721142" y="6177776"/>
            <a:ext cx="2710378" cy="1816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500"/>
              </a:lnSpc>
              <a:defRPr sz="10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Dead Letter Queue</a:t>
            </a:r>
          </a:p>
        </p:txBody>
      </p:sp>
      <p:sp>
        <p:nvSpPr>
          <p:cNvPr id="153" name="Text 22"/>
          <p:cNvSpPr txBox="1"/>
          <p:nvPr/>
        </p:nvSpPr>
        <p:spPr>
          <a:xfrm>
            <a:off x="6163714" y="6177776"/>
            <a:ext cx="2697454" cy="1816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500"/>
              </a:lnSpc>
              <a:defRPr sz="10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Publisher-Confirm</a:t>
            </a:r>
          </a:p>
        </p:txBody>
      </p:sp>
      <p:sp>
        <p:nvSpPr>
          <p:cNvPr id="154" name="Text 23"/>
          <p:cNvSpPr txBox="1"/>
          <p:nvPr/>
        </p:nvSpPr>
        <p:spPr>
          <a:xfrm>
            <a:off x="7575428" y="6177776"/>
            <a:ext cx="1761535" cy="1816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500"/>
              </a:lnSpc>
              <a:defRPr sz="10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Self-Healing</a:t>
            </a:r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Image 0" descr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57" name="Image 1" descr="Imag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81000"/>
            <a:ext cx="11430000" cy="6858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58" name="Image 2" descr="Imag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94233" y="1371600"/>
            <a:ext cx="609602" cy="4572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59" name="Image 3" descr="Imag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84733" y="1447800"/>
            <a:ext cx="228602" cy="3048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60" name="Image 4" descr="Image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00" y="1905000"/>
            <a:ext cx="2531269" cy="4572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61" name="Image 5" descr="Image 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59917" y="1905000"/>
            <a:ext cx="142877" cy="3048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62" name="Image 6" descr="Image 6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58878" y="1371600"/>
            <a:ext cx="609602" cy="4572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63" name="Image 7" descr="Image 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49378" y="1447800"/>
            <a:ext cx="228602" cy="3048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64" name="Image 8" descr="Image 8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398044" y="1905000"/>
            <a:ext cx="2531271" cy="4572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65" name="Image 9" descr="Image 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24562" y="1905000"/>
            <a:ext cx="142877" cy="3048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66" name="Image 10" descr="Image 10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223521" y="1371600"/>
            <a:ext cx="609602" cy="4572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67" name="Image 11" descr="Image 11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28309" y="1447800"/>
            <a:ext cx="200027" cy="3048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68" name="Image 12" descr="Image 12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62687" y="1905000"/>
            <a:ext cx="2531271" cy="4572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69" name="Image 13" descr="Image 1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89206" y="1905000"/>
            <a:ext cx="142877" cy="3048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70" name="Image 14" descr="Image 14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088164" y="1371600"/>
            <a:ext cx="609602" cy="6096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71" name="Image 15" descr="Image 15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278664" y="1524000"/>
            <a:ext cx="228602" cy="3048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72" name="Image 16" descr="Image 16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127331" y="2057400"/>
            <a:ext cx="2531271" cy="4572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73" name="Image 17" descr="Image 17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81000" y="3124200"/>
            <a:ext cx="5562600" cy="33528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74" name="Image 18" descr="Image 18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09600" y="3390900"/>
            <a:ext cx="190500" cy="1905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75" name="Image 19" descr="Image 19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09600" y="3810000"/>
            <a:ext cx="114300" cy="1905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76" name="Image 20" descr="Image 20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09600" y="4381500"/>
            <a:ext cx="114300" cy="1905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77" name="Image 21" descr="Image 21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09600" y="4953000"/>
            <a:ext cx="114300" cy="1905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78" name="Image 22" descr="Image 22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248400" y="3124200"/>
            <a:ext cx="5562600" cy="33528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79" name="Image 23" descr="Image 23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477000" y="3390900"/>
            <a:ext cx="171450" cy="1905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80" name="Image 24" descr="Image 24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477000" y="4114800"/>
            <a:ext cx="3381375" cy="8382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81" name="Image 25" descr="Image 25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477000" y="5067300"/>
            <a:ext cx="3381375" cy="8382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82" name="Image 26" descr="Image 26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0010775" y="3771900"/>
            <a:ext cx="1524000" cy="1524000"/>
          </a:xfrm>
          <a:prstGeom prst="rect">
            <a:avLst/>
          </a:prstGeom>
          <a:ln w="12700">
            <a:miter lim="400000"/>
          </a:ln>
        </p:spPr>
      </p:pic>
      <p:sp>
        <p:nvSpPr>
          <p:cNvPr id="183" name="Text 0"/>
          <p:cNvSpPr txBox="1"/>
          <p:nvPr/>
        </p:nvSpPr>
        <p:spPr>
          <a:xfrm>
            <a:off x="609600" y="379669"/>
            <a:ext cx="14401800" cy="383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3000"/>
              </a:lnSpc>
              <a:defRPr sz="2700" b="1" spc="-54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Osservabilità: ELK Stack e Telegram</a:t>
            </a:r>
          </a:p>
        </p:txBody>
      </p:sp>
      <p:sp>
        <p:nvSpPr>
          <p:cNvPr id="184" name="Text 1"/>
          <p:cNvSpPr txBox="1"/>
          <p:nvPr/>
        </p:nvSpPr>
        <p:spPr>
          <a:xfrm>
            <a:off x="609600" y="804864"/>
            <a:ext cx="12344400" cy="257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2100"/>
              </a:lnSpc>
              <a:defRPr sz="15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Pipeline di logging centralizzata e alerting proattivo</a:t>
            </a:r>
          </a:p>
        </p:txBody>
      </p:sp>
      <p:sp>
        <p:nvSpPr>
          <p:cNvPr id="185" name="Text 2"/>
          <p:cNvSpPr txBox="1"/>
          <p:nvPr/>
        </p:nvSpPr>
        <p:spPr>
          <a:xfrm>
            <a:off x="533400" y="2024634"/>
            <a:ext cx="2302669" cy="2179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ts val="1800"/>
              </a:lnSpc>
              <a:defRPr sz="12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Nexus Server</a:t>
            </a:r>
          </a:p>
        </p:txBody>
      </p:sp>
      <p:sp>
        <p:nvSpPr>
          <p:cNvPr id="186" name="Text 3"/>
          <p:cNvSpPr txBox="1"/>
          <p:nvPr/>
        </p:nvSpPr>
        <p:spPr>
          <a:xfrm>
            <a:off x="1419225" y="2516695"/>
            <a:ext cx="759471" cy="1482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200"/>
              </a:lnSpc>
              <a:defRPr sz="9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JSON via TCP</a:t>
            </a:r>
          </a:p>
        </p:txBody>
      </p:sp>
      <p:sp>
        <p:nvSpPr>
          <p:cNvPr id="187" name="Text 4"/>
          <p:cNvSpPr txBox="1"/>
          <p:nvPr/>
        </p:nvSpPr>
        <p:spPr>
          <a:xfrm>
            <a:off x="3398044" y="2024634"/>
            <a:ext cx="2302671" cy="2179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ts val="1800"/>
              </a:lnSpc>
              <a:defRPr sz="12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Logstash</a:t>
            </a:r>
          </a:p>
        </p:txBody>
      </p:sp>
      <p:sp>
        <p:nvSpPr>
          <p:cNvPr id="188" name="Text 5"/>
          <p:cNvSpPr txBox="1"/>
          <p:nvPr/>
        </p:nvSpPr>
        <p:spPr>
          <a:xfrm>
            <a:off x="4026246" y="2516695"/>
            <a:ext cx="1274715" cy="1482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200"/>
              </a:lnSpc>
              <a:defRPr sz="9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Normalizzazione &amp; Filtri</a:t>
            </a:r>
          </a:p>
        </p:txBody>
      </p:sp>
      <p:sp>
        <p:nvSpPr>
          <p:cNvPr id="189" name="Text 6"/>
          <p:cNvSpPr txBox="1"/>
          <p:nvPr/>
        </p:nvSpPr>
        <p:spPr>
          <a:xfrm>
            <a:off x="6262687" y="2024634"/>
            <a:ext cx="2302671" cy="2179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ts val="1800"/>
              </a:lnSpc>
              <a:defRPr sz="12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Elasticsearch</a:t>
            </a:r>
          </a:p>
        </p:txBody>
      </p:sp>
      <p:sp>
        <p:nvSpPr>
          <p:cNvPr id="190" name="Text 7"/>
          <p:cNvSpPr txBox="1"/>
          <p:nvPr/>
        </p:nvSpPr>
        <p:spPr>
          <a:xfrm>
            <a:off x="6832103" y="2516695"/>
            <a:ext cx="1392289" cy="1482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200"/>
              </a:lnSpc>
              <a:defRPr sz="9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Indicizzazione Giornaliera</a:t>
            </a:r>
          </a:p>
        </p:txBody>
      </p:sp>
      <p:sp>
        <p:nvSpPr>
          <p:cNvPr id="191" name="Text 8"/>
          <p:cNvSpPr txBox="1"/>
          <p:nvPr/>
        </p:nvSpPr>
        <p:spPr>
          <a:xfrm>
            <a:off x="9127331" y="2177034"/>
            <a:ext cx="2302671" cy="2179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ts val="1800"/>
              </a:lnSpc>
              <a:defRPr sz="12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Kibana</a:t>
            </a:r>
          </a:p>
        </p:txBody>
      </p:sp>
      <p:sp>
        <p:nvSpPr>
          <p:cNvPr id="192" name="Text 9"/>
          <p:cNvSpPr txBox="1"/>
          <p:nvPr/>
        </p:nvSpPr>
        <p:spPr>
          <a:xfrm>
            <a:off x="9852272" y="2592895"/>
            <a:ext cx="2606043" cy="1482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200"/>
              </a:lnSpc>
              <a:defRPr sz="9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Dashboard &amp; Analisi</a:t>
            </a:r>
          </a:p>
        </p:txBody>
      </p:sp>
      <p:sp>
        <p:nvSpPr>
          <p:cNvPr id="193" name="Text 10"/>
          <p:cNvSpPr txBox="1"/>
          <p:nvPr/>
        </p:nvSpPr>
        <p:spPr>
          <a:xfrm>
            <a:off x="914400" y="3357564"/>
            <a:ext cx="5105400" cy="257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2100"/>
              </a:lnSpc>
              <a:defRPr sz="1500" b="1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Centralized Logging</a:t>
            </a:r>
          </a:p>
        </p:txBody>
      </p:sp>
      <p:sp>
        <p:nvSpPr>
          <p:cNvPr id="194" name="Text 11"/>
          <p:cNvSpPr txBox="1"/>
          <p:nvPr/>
        </p:nvSpPr>
        <p:spPr>
          <a:xfrm>
            <a:off x="800100" y="3777234"/>
            <a:ext cx="4914900" cy="4465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ts val="1800"/>
              </a:lnSpc>
              <a:defRPr sz="1200" b="1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Structured Logging:</a:t>
            </a:r>
            <a:r>
              <a:rPr b="0"/>
              <a:t> Invio di log INFO+ in formato JSON strutturato (timestamp, contesto, livello).</a:t>
            </a:r>
          </a:p>
        </p:txBody>
      </p:sp>
      <p:sp>
        <p:nvSpPr>
          <p:cNvPr id="195" name="Text 12"/>
          <p:cNvSpPr txBox="1"/>
          <p:nvPr/>
        </p:nvSpPr>
        <p:spPr>
          <a:xfrm>
            <a:off x="800100" y="4348734"/>
            <a:ext cx="4914900" cy="4465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ts val="1800"/>
              </a:lnSpc>
              <a:defRPr sz="1200" b="1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Filtri Logstash:</a:t>
            </a:r>
            <a:r>
              <a:rPr b="0"/>
              <a:t> Conversione dei campi per eventi di anomalia e normalizzazione dei dati temporali.</a:t>
            </a:r>
          </a:p>
        </p:txBody>
      </p:sp>
      <p:sp>
        <p:nvSpPr>
          <p:cNvPr id="196" name="Text 13"/>
          <p:cNvSpPr txBox="1"/>
          <p:nvPr/>
        </p:nvSpPr>
        <p:spPr>
          <a:xfrm>
            <a:off x="800100" y="4920234"/>
            <a:ext cx="4914900" cy="4465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ts val="1800"/>
              </a:lnSpc>
              <a:defRPr sz="1200" b="1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Storage:</a:t>
            </a:r>
            <a:r>
              <a:rPr b="0"/>
              <a:t> Indici Elasticsearch ottimizzati per la ricerca rapida di pattern di errore.</a:t>
            </a:r>
          </a:p>
        </p:txBody>
      </p:sp>
      <p:sp>
        <p:nvSpPr>
          <p:cNvPr id="197" name="Text 14"/>
          <p:cNvSpPr txBox="1"/>
          <p:nvPr/>
        </p:nvSpPr>
        <p:spPr>
          <a:xfrm>
            <a:off x="6762750" y="3357564"/>
            <a:ext cx="5105400" cy="257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2100"/>
              </a:lnSpc>
              <a:defRPr sz="1500" b="1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Alerting su Telegram</a:t>
            </a:r>
          </a:p>
        </p:txBody>
      </p:sp>
      <p:sp>
        <p:nvSpPr>
          <p:cNvPr id="198" name="Text 15"/>
          <p:cNvSpPr txBox="1"/>
          <p:nvPr/>
        </p:nvSpPr>
        <p:spPr>
          <a:xfrm>
            <a:off x="6477000" y="3776345"/>
            <a:ext cx="8161019" cy="1816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5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Integrazione condizionale Logstash -&gt; Telegram API:</a:t>
            </a:r>
          </a:p>
        </p:txBody>
      </p:sp>
      <p:sp>
        <p:nvSpPr>
          <p:cNvPr id="199" name="Text 16"/>
          <p:cNvSpPr txBox="1"/>
          <p:nvPr/>
        </p:nvSpPr>
        <p:spPr>
          <a:xfrm>
            <a:off x="6591300" y="4283583"/>
            <a:ext cx="2057400" cy="1482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200"/>
              </a:lnSpc>
              <a:defRPr sz="900" b="1">
                <a:solidFill>
                  <a:srgbClr val="EA580C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DATABASE STRESS</a:t>
            </a:r>
          </a:p>
        </p:txBody>
      </p:sp>
      <p:sp>
        <p:nvSpPr>
          <p:cNvPr id="200" name="Text 17"/>
          <p:cNvSpPr txBox="1"/>
          <p:nvPr/>
        </p:nvSpPr>
        <p:spPr>
          <a:xfrm>
            <a:off x="6591300" y="4462145"/>
            <a:ext cx="3133725" cy="3721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500"/>
              </a:lnSpc>
              <a:defRPr sz="1000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Alert immediato se viene attivato il fallback Circuit Breaker.</a:t>
            </a:r>
          </a:p>
        </p:txBody>
      </p:sp>
      <p:sp>
        <p:nvSpPr>
          <p:cNvPr id="201" name="Text 18"/>
          <p:cNvSpPr txBox="1"/>
          <p:nvPr/>
        </p:nvSpPr>
        <p:spPr>
          <a:xfrm>
            <a:off x="6591299" y="5236083"/>
            <a:ext cx="1508763" cy="1482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200"/>
              </a:lnSpc>
              <a:defRPr sz="900" b="1">
                <a:solidFill>
                  <a:srgbClr val="EA580C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ANOMALIA AI</a:t>
            </a:r>
          </a:p>
        </p:txBody>
      </p:sp>
      <p:sp>
        <p:nvSpPr>
          <p:cNvPr id="202" name="Text 19"/>
          <p:cNvSpPr txBox="1"/>
          <p:nvPr/>
        </p:nvSpPr>
        <p:spPr>
          <a:xfrm>
            <a:off x="6591300" y="5414645"/>
            <a:ext cx="3133725" cy="3721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500"/>
              </a:lnSpc>
              <a:defRPr sz="1000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Notifica se la deviazione predetta supera la soglia critica.</a:t>
            </a:r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Image 0" descr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28" cy="6858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05" name="Image 1" descr="Imag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831" y="337831"/>
            <a:ext cx="11516264" cy="6081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06" name="Image 2" descr="Imag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831" y="1587811"/>
            <a:ext cx="3703623" cy="1452682"/>
          </a:xfrm>
          <a:prstGeom prst="rect">
            <a:avLst/>
          </a:prstGeom>
          <a:ln w="12700">
            <a:miter lim="400000"/>
          </a:ln>
        </p:spPr>
      </p:pic>
      <p:pic>
        <p:nvPicPr>
          <p:cNvPr id="207" name="Image 3" descr="Imag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531" y="1790512"/>
            <a:ext cx="253375" cy="270268"/>
          </a:xfrm>
          <a:prstGeom prst="rect">
            <a:avLst/>
          </a:prstGeom>
          <a:ln w="12700">
            <a:miter lim="400000"/>
          </a:ln>
        </p:spPr>
      </p:pic>
      <p:pic>
        <p:nvPicPr>
          <p:cNvPr id="208" name="Image 4" descr="Image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44152" y="1587811"/>
            <a:ext cx="3703623" cy="1452682"/>
          </a:xfrm>
          <a:prstGeom prst="rect">
            <a:avLst/>
          </a:prstGeom>
          <a:ln w="12700">
            <a:miter lim="400000"/>
          </a:ln>
        </p:spPr>
      </p:pic>
      <p:pic>
        <p:nvPicPr>
          <p:cNvPr id="209" name="Image 5" descr="Image 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46851" y="1790512"/>
            <a:ext cx="253376" cy="270268"/>
          </a:xfrm>
          <a:prstGeom prst="rect">
            <a:avLst/>
          </a:prstGeom>
          <a:ln w="12700">
            <a:miter lim="400000"/>
          </a:ln>
        </p:spPr>
      </p:pic>
      <p:pic>
        <p:nvPicPr>
          <p:cNvPr id="210" name="Image 6" descr="Image 6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50473" y="1587811"/>
            <a:ext cx="3703621" cy="1452682"/>
          </a:xfrm>
          <a:prstGeom prst="rect">
            <a:avLst/>
          </a:prstGeom>
          <a:ln w="12700">
            <a:miter lim="400000"/>
          </a:ln>
        </p:spPr>
      </p:pic>
      <p:pic>
        <p:nvPicPr>
          <p:cNvPr id="211" name="Image 7" descr="Image 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53173" y="1790512"/>
            <a:ext cx="253377" cy="270268"/>
          </a:xfrm>
          <a:prstGeom prst="rect">
            <a:avLst/>
          </a:prstGeom>
          <a:ln w="12700">
            <a:miter lim="400000"/>
          </a:ln>
        </p:spPr>
      </p:pic>
      <p:pic>
        <p:nvPicPr>
          <p:cNvPr id="212" name="Image 8" descr="Image 8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37831" y="3682374"/>
            <a:ext cx="3748625" cy="472968"/>
          </a:xfrm>
          <a:prstGeom prst="rect">
            <a:avLst/>
          </a:prstGeom>
          <a:ln w="12700">
            <a:miter lim="400000"/>
          </a:ln>
        </p:spPr>
      </p:pic>
      <p:pic>
        <p:nvPicPr>
          <p:cNvPr id="213" name="Image 9" descr="Image 9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9182" y="3783724"/>
            <a:ext cx="337833" cy="270268"/>
          </a:xfrm>
          <a:prstGeom prst="rect">
            <a:avLst/>
          </a:prstGeom>
          <a:ln w="12700">
            <a:miter lim="400000"/>
          </a:ln>
        </p:spPr>
      </p:pic>
      <p:pic>
        <p:nvPicPr>
          <p:cNvPr id="214" name="Image 10" descr="Image 10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37831" y="4256690"/>
            <a:ext cx="3748625" cy="472968"/>
          </a:xfrm>
          <a:prstGeom prst="rect">
            <a:avLst/>
          </a:prstGeom>
          <a:ln w="12700">
            <a:miter lim="400000"/>
          </a:ln>
        </p:spPr>
      </p:pic>
      <p:pic>
        <p:nvPicPr>
          <p:cNvPr id="215" name="Image 11" descr="Image 11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39182" y="4358039"/>
            <a:ext cx="337833" cy="270268"/>
          </a:xfrm>
          <a:prstGeom prst="rect">
            <a:avLst/>
          </a:prstGeom>
          <a:ln w="12700">
            <a:miter lim="400000"/>
          </a:ln>
        </p:spPr>
      </p:pic>
      <p:pic>
        <p:nvPicPr>
          <p:cNvPr id="216" name="Image 12" descr="Image 12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37831" y="4831005"/>
            <a:ext cx="3748625" cy="472968"/>
          </a:xfrm>
          <a:prstGeom prst="rect">
            <a:avLst/>
          </a:prstGeom>
          <a:ln w="12700">
            <a:miter lim="400000"/>
          </a:ln>
        </p:spPr>
      </p:pic>
      <p:pic>
        <p:nvPicPr>
          <p:cNvPr id="217" name="Image 13" descr="Image 13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39182" y="4932355"/>
            <a:ext cx="337833" cy="270268"/>
          </a:xfrm>
          <a:prstGeom prst="rect">
            <a:avLst/>
          </a:prstGeom>
          <a:ln w="12700">
            <a:miter lim="400000"/>
          </a:ln>
        </p:spPr>
      </p:pic>
      <p:pic>
        <p:nvPicPr>
          <p:cNvPr id="218" name="Image 14" descr="Image 14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356720" y="3682374"/>
            <a:ext cx="3647273" cy="1207753"/>
          </a:xfrm>
          <a:prstGeom prst="rect">
            <a:avLst/>
          </a:prstGeom>
          <a:ln w="12700">
            <a:miter lim="400000"/>
          </a:ln>
        </p:spPr>
      </p:pic>
      <p:pic>
        <p:nvPicPr>
          <p:cNvPr id="219" name="Image 15" descr="Image 15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525636" y="3889033"/>
            <a:ext cx="194256" cy="152422"/>
          </a:xfrm>
          <a:prstGeom prst="rect">
            <a:avLst/>
          </a:prstGeom>
          <a:ln w="12700">
            <a:miter lim="400000"/>
          </a:ln>
        </p:spPr>
      </p:pic>
      <p:pic>
        <p:nvPicPr>
          <p:cNvPr id="220" name="Image 16" descr="Image 16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206691" y="3682374"/>
            <a:ext cx="3647405" cy="1207753"/>
          </a:xfrm>
          <a:prstGeom prst="rect">
            <a:avLst/>
          </a:prstGeom>
          <a:ln w="12700">
            <a:miter lim="400000"/>
          </a:ln>
        </p:spPr>
      </p:pic>
      <p:pic>
        <p:nvPicPr>
          <p:cNvPr id="221" name="Image 17" descr="Image 17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375607" y="3889033"/>
            <a:ext cx="135135" cy="152422"/>
          </a:xfrm>
          <a:prstGeom prst="rect">
            <a:avLst/>
          </a:prstGeom>
          <a:ln w="12700">
            <a:miter lim="400000"/>
          </a:ln>
        </p:spPr>
      </p:pic>
      <p:pic>
        <p:nvPicPr>
          <p:cNvPr id="222" name="Image 18" descr="Image 18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356720" y="5092825"/>
            <a:ext cx="7497376" cy="667749"/>
          </a:xfrm>
          <a:prstGeom prst="rect">
            <a:avLst/>
          </a:prstGeom>
          <a:ln w="12700">
            <a:miter lim="400000"/>
          </a:ln>
        </p:spPr>
      </p:pic>
      <p:pic>
        <p:nvPicPr>
          <p:cNvPr id="223" name="Image 19" descr="Image 19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1398021" y="5274674"/>
            <a:ext cx="320943" cy="304051"/>
          </a:xfrm>
          <a:prstGeom prst="rect">
            <a:avLst/>
          </a:prstGeom>
          <a:ln w="12700">
            <a:miter lim="400000"/>
          </a:ln>
        </p:spPr>
      </p:pic>
      <p:sp>
        <p:nvSpPr>
          <p:cNvPr id="224" name="Text 0"/>
          <p:cNvSpPr txBox="1"/>
          <p:nvPr/>
        </p:nvSpPr>
        <p:spPr>
          <a:xfrm>
            <a:off x="540531" y="335239"/>
            <a:ext cx="15313915" cy="3430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2600"/>
              </a:lnSpc>
              <a:defRPr sz="2700" b="1" spc="-61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PATTERN ARCHITETTURALI E FRONTEND</a:t>
            </a:r>
          </a:p>
        </p:txBody>
      </p:sp>
      <p:sp>
        <p:nvSpPr>
          <p:cNvPr id="225" name="Text 1"/>
          <p:cNvSpPr txBox="1"/>
          <p:nvPr/>
        </p:nvSpPr>
        <p:spPr>
          <a:xfrm>
            <a:off x="540530" y="714342"/>
            <a:ext cx="16499877" cy="2266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sz="15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Efficienza nella comunicazione e interfacce utente specializzate</a:t>
            </a:r>
          </a:p>
        </p:txBody>
      </p:sp>
      <p:sp>
        <p:nvSpPr>
          <p:cNvPr id="226" name="Text 2"/>
          <p:cNvSpPr txBox="1"/>
          <p:nvPr/>
        </p:nvSpPr>
        <p:spPr>
          <a:xfrm>
            <a:off x="337833" y="1221092"/>
            <a:ext cx="11516261" cy="2266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sz="1500" b="1" spc="135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CORE DESIGN PATTERNS</a:t>
            </a:r>
          </a:p>
        </p:txBody>
      </p:sp>
      <p:sp>
        <p:nvSpPr>
          <p:cNvPr id="227" name="Text 3"/>
          <p:cNvSpPr txBox="1"/>
          <p:nvPr/>
        </p:nvSpPr>
        <p:spPr>
          <a:xfrm>
            <a:off x="895256" y="1812299"/>
            <a:ext cx="1484526" cy="2266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sz="1500" b="1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Remote Facade</a:t>
            </a:r>
          </a:p>
        </p:txBody>
      </p:sp>
      <p:sp>
        <p:nvSpPr>
          <p:cNvPr id="228" name="Text 4"/>
          <p:cNvSpPr txBox="1"/>
          <p:nvPr/>
        </p:nvSpPr>
        <p:spPr>
          <a:xfrm>
            <a:off x="540532" y="2170097"/>
            <a:ext cx="3281330" cy="6337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7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Espone operazioni aggregate che il controller mappa su pochi endpoint, riducendo le chiamate HTTP e ottimizzando le performance del client.</a:t>
            </a:r>
          </a:p>
        </p:txBody>
      </p:sp>
      <p:sp>
        <p:nvSpPr>
          <p:cNvPr id="229" name="Text 5"/>
          <p:cNvSpPr txBox="1"/>
          <p:nvPr/>
        </p:nvSpPr>
        <p:spPr>
          <a:xfrm>
            <a:off x="4801575" y="1812299"/>
            <a:ext cx="1804675" cy="2266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sz="1500" b="1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Command</a:t>
            </a:r>
          </a:p>
        </p:txBody>
      </p:sp>
      <p:sp>
        <p:nvSpPr>
          <p:cNvPr id="230" name="Text 6"/>
          <p:cNvSpPr txBox="1"/>
          <p:nvPr/>
        </p:nvSpPr>
        <p:spPr>
          <a:xfrm>
            <a:off x="4446850" y="2170097"/>
            <a:ext cx="3281333" cy="6337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7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Incapsula le azioni di controllo (start/stop simulazione) in oggetti eseguibili, permettendo una gestione robusta delle operazioni utente.</a:t>
            </a:r>
          </a:p>
        </p:txBody>
      </p:sp>
      <p:sp>
        <p:nvSpPr>
          <p:cNvPr id="231" name="Text 7"/>
          <p:cNvSpPr txBox="1"/>
          <p:nvPr/>
        </p:nvSpPr>
        <p:spPr>
          <a:xfrm>
            <a:off x="8707897" y="1812299"/>
            <a:ext cx="2062486" cy="2266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sz="1500" b="1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Observer</a:t>
            </a:r>
          </a:p>
        </p:txBody>
      </p:sp>
      <p:sp>
        <p:nvSpPr>
          <p:cNvPr id="232" name="Text 8"/>
          <p:cNvSpPr txBox="1"/>
          <p:nvPr/>
        </p:nvSpPr>
        <p:spPr>
          <a:xfrm>
            <a:off x="8353173" y="2170097"/>
            <a:ext cx="3281332" cy="6337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7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Gestisce lo stream SSE (Server-Sent Events). Il server notifica i client in tempo reale senza necessità di polling continuo.</a:t>
            </a:r>
          </a:p>
        </p:txBody>
      </p:sp>
      <p:sp>
        <p:nvSpPr>
          <p:cNvPr id="233" name="Text 9"/>
          <p:cNvSpPr txBox="1"/>
          <p:nvPr/>
        </p:nvSpPr>
        <p:spPr>
          <a:xfrm>
            <a:off x="337832" y="3315654"/>
            <a:ext cx="3748623" cy="2266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sz="1500" b="1" spc="135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TECH STACK FE</a:t>
            </a:r>
          </a:p>
        </p:txBody>
      </p:sp>
      <p:sp>
        <p:nvSpPr>
          <p:cNvPr id="234" name="Text 10"/>
          <p:cNvSpPr txBox="1"/>
          <p:nvPr/>
        </p:nvSpPr>
        <p:spPr>
          <a:xfrm>
            <a:off x="777013" y="3809893"/>
            <a:ext cx="4537449" cy="2179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sz="1200" b="1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React SPA (TypeScript)</a:t>
            </a:r>
          </a:p>
        </p:txBody>
      </p:sp>
      <p:sp>
        <p:nvSpPr>
          <p:cNvPr id="235" name="Text 11"/>
          <p:cNvSpPr txBox="1"/>
          <p:nvPr/>
        </p:nvSpPr>
        <p:spPr>
          <a:xfrm>
            <a:off x="777013" y="4384207"/>
            <a:ext cx="4537449" cy="2179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sz="1200" b="1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Tailwind CSS (Styling)</a:t>
            </a:r>
          </a:p>
        </p:txBody>
      </p:sp>
      <p:sp>
        <p:nvSpPr>
          <p:cNvPr id="236" name="Text 12"/>
          <p:cNvSpPr txBox="1"/>
          <p:nvPr/>
        </p:nvSpPr>
        <p:spPr>
          <a:xfrm>
            <a:off x="777015" y="4958522"/>
            <a:ext cx="3506207" cy="2179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sz="1200" b="1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Vite (Build Tool)</a:t>
            </a:r>
          </a:p>
        </p:txBody>
      </p:sp>
      <p:sp>
        <p:nvSpPr>
          <p:cNvPr id="237" name="Text 13"/>
          <p:cNvSpPr txBox="1"/>
          <p:nvPr/>
        </p:nvSpPr>
        <p:spPr>
          <a:xfrm>
            <a:off x="4356720" y="3315654"/>
            <a:ext cx="7497376" cy="2266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sz="1500" b="1" spc="135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DASHBOARD DIFFERENZIATE</a:t>
            </a:r>
          </a:p>
        </p:txBody>
      </p:sp>
      <p:sp>
        <p:nvSpPr>
          <p:cNvPr id="238" name="Text 14"/>
          <p:cNvSpPr txBox="1"/>
          <p:nvPr/>
        </p:nvSpPr>
        <p:spPr>
          <a:xfrm>
            <a:off x="4787455" y="3856344"/>
            <a:ext cx="2268724" cy="2179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sz="12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Ruolo ADMIN</a:t>
            </a:r>
          </a:p>
        </p:txBody>
      </p:sp>
      <p:sp>
        <p:nvSpPr>
          <p:cNvPr id="239" name="Text 15"/>
          <p:cNvSpPr txBox="1"/>
          <p:nvPr/>
        </p:nvSpPr>
        <p:spPr>
          <a:xfrm>
            <a:off x="4660768" y="4150707"/>
            <a:ext cx="6135885" cy="1612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3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Controllo simulazione (Avvio/Stop)</a:t>
            </a:r>
          </a:p>
        </p:txBody>
      </p:sp>
      <p:sp>
        <p:nvSpPr>
          <p:cNvPr id="240" name="Text 16"/>
          <p:cNvSpPr txBox="1"/>
          <p:nvPr/>
        </p:nvSpPr>
        <p:spPr>
          <a:xfrm>
            <a:off x="4660769" y="4353407"/>
            <a:ext cx="5053080" cy="1612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3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Ingestione dati (Upload CSV)</a:t>
            </a:r>
          </a:p>
        </p:txBody>
      </p:sp>
      <p:sp>
        <p:nvSpPr>
          <p:cNvPr id="241" name="Text 17"/>
          <p:cNvSpPr txBox="1"/>
          <p:nvPr/>
        </p:nvSpPr>
        <p:spPr>
          <a:xfrm>
            <a:off x="4660769" y="4556107"/>
            <a:ext cx="4692145" cy="1612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3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Gestione utenti e permessi</a:t>
            </a:r>
          </a:p>
        </p:txBody>
      </p:sp>
      <p:sp>
        <p:nvSpPr>
          <p:cNvPr id="242" name="Text 18"/>
          <p:cNvSpPr txBox="1"/>
          <p:nvPr/>
        </p:nvSpPr>
        <p:spPr>
          <a:xfrm>
            <a:off x="8578305" y="3856344"/>
            <a:ext cx="2062477" cy="2179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sz="12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Ruolo USER</a:t>
            </a:r>
          </a:p>
        </p:txBody>
      </p:sp>
      <p:sp>
        <p:nvSpPr>
          <p:cNvPr id="243" name="Text 19"/>
          <p:cNvSpPr txBox="1"/>
          <p:nvPr/>
        </p:nvSpPr>
        <p:spPr>
          <a:xfrm>
            <a:off x="8510740" y="4150707"/>
            <a:ext cx="4872614" cy="1612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3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Monitoraggio in tempo reale</a:t>
            </a:r>
          </a:p>
        </p:txBody>
      </p:sp>
      <p:sp>
        <p:nvSpPr>
          <p:cNvPr id="244" name="Text 20"/>
          <p:cNvSpPr txBox="1"/>
          <p:nvPr/>
        </p:nvSpPr>
        <p:spPr>
          <a:xfrm>
            <a:off x="8510740" y="4353407"/>
            <a:ext cx="5233547" cy="1612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3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Visualizzazione trend storici</a:t>
            </a:r>
          </a:p>
        </p:txBody>
      </p:sp>
      <p:sp>
        <p:nvSpPr>
          <p:cNvPr id="245" name="Text 21"/>
          <p:cNvSpPr txBox="1"/>
          <p:nvPr/>
        </p:nvSpPr>
        <p:spPr>
          <a:xfrm>
            <a:off x="8510740" y="4556107"/>
            <a:ext cx="4331213" cy="1612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3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Sola lettura (Read-only)</a:t>
            </a:r>
          </a:p>
        </p:txBody>
      </p:sp>
      <p:sp>
        <p:nvSpPr>
          <p:cNvPr id="246" name="Text 22"/>
          <p:cNvSpPr txBox="1"/>
          <p:nvPr/>
        </p:nvSpPr>
        <p:spPr>
          <a:xfrm>
            <a:off x="4491852" y="5290701"/>
            <a:ext cx="2474973" cy="1278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000"/>
              </a:lnSpc>
              <a:defRPr sz="900" b="1" spc="8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REAL-TIME ENGINE</a:t>
            </a:r>
          </a:p>
        </p:txBody>
      </p:sp>
      <p:sp>
        <p:nvSpPr>
          <p:cNvPr id="247" name="Text 23"/>
          <p:cNvSpPr txBox="1"/>
          <p:nvPr/>
        </p:nvSpPr>
        <p:spPr>
          <a:xfrm>
            <a:off x="4491851" y="5460336"/>
            <a:ext cx="12452236" cy="1612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ts val="1300"/>
              </a:lnSpc>
              <a:defRPr sz="10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Streaming dati tramite </a:t>
            </a:r>
            <a:r>
              <a:rPr b="1"/>
              <a:t>Server-Sent Events (SSE)</a:t>
            </a:r>
            <a:r>
              <a:t> per grafici dinamici.</a:t>
            </a:r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Image 0" descr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50" name="Image 1" descr="Imag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81000"/>
            <a:ext cx="11430000" cy="6858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51" name="Image 2" descr="Imag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1371600"/>
            <a:ext cx="5562600" cy="3295650"/>
          </a:xfrm>
          <a:prstGeom prst="rect">
            <a:avLst/>
          </a:prstGeom>
          <a:ln w="12700">
            <a:miter lim="400000"/>
          </a:ln>
        </p:spPr>
      </p:pic>
      <p:pic>
        <p:nvPicPr>
          <p:cNvPr id="252" name="Image 3" descr="Imag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1638300"/>
            <a:ext cx="228600" cy="2286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53" name="Image 4" descr="Image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2095500"/>
            <a:ext cx="152400" cy="1524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54" name="Image 5" descr="Image 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2933700"/>
            <a:ext cx="152400" cy="1524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55" name="Image 6" descr="Image 6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" y="3771900"/>
            <a:ext cx="152400" cy="1524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56" name="Image 7" descr="Imag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8400" y="1371600"/>
            <a:ext cx="5562600" cy="3295650"/>
          </a:xfrm>
          <a:prstGeom prst="rect">
            <a:avLst/>
          </a:prstGeom>
          <a:ln w="12700">
            <a:miter lim="400000"/>
          </a:ln>
        </p:spPr>
      </p:pic>
      <p:pic>
        <p:nvPicPr>
          <p:cNvPr id="257" name="Image 8" descr="Image 8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77000" y="1638300"/>
            <a:ext cx="200025" cy="2286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58" name="Image 9" descr="Image 9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77000" y="2095500"/>
            <a:ext cx="152400" cy="1524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59" name="Image 10" descr="Image 10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77000" y="2933700"/>
            <a:ext cx="114300" cy="1524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60" name="Image 11" descr="Image 11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77000" y="3771900"/>
            <a:ext cx="152400" cy="152400"/>
          </a:xfrm>
          <a:prstGeom prst="rect">
            <a:avLst/>
          </a:prstGeom>
          <a:ln w="12700">
            <a:miter lim="400000"/>
          </a:ln>
        </p:spPr>
      </p:pic>
      <p:sp>
        <p:nvSpPr>
          <p:cNvPr id="261" name="Text 0"/>
          <p:cNvSpPr txBox="1"/>
          <p:nvPr/>
        </p:nvSpPr>
        <p:spPr>
          <a:xfrm>
            <a:off x="609599" y="379669"/>
            <a:ext cx="12755882" cy="383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3000"/>
              </a:lnSpc>
              <a:defRPr sz="2700" b="1" spc="-54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AI, DIGITAL TWIN E ANALISI DATI</a:t>
            </a:r>
          </a:p>
        </p:txBody>
      </p:sp>
      <p:sp>
        <p:nvSpPr>
          <p:cNvPr id="262" name="Text 1"/>
          <p:cNvSpPr txBox="1"/>
          <p:nvPr/>
        </p:nvSpPr>
        <p:spPr>
          <a:xfrm>
            <a:off x="609600" y="804864"/>
            <a:ext cx="14401800" cy="257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2100"/>
              </a:lnSpc>
              <a:defRPr sz="15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Dall'analisi esplorativa alla predizione neurale in tempo reale</a:t>
            </a:r>
          </a:p>
        </p:txBody>
      </p:sp>
      <p:sp>
        <p:nvSpPr>
          <p:cNvPr id="263" name="Text 2"/>
          <p:cNvSpPr txBox="1"/>
          <p:nvPr/>
        </p:nvSpPr>
        <p:spPr>
          <a:xfrm>
            <a:off x="952500" y="1604392"/>
            <a:ext cx="5105400" cy="296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2400"/>
              </a:lnSpc>
              <a:defRPr b="1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Architettura LSTM</a:t>
            </a:r>
          </a:p>
        </p:txBody>
      </p:sp>
      <p:sp>
        <p:nvSpPr>
          <p:cNvPr id="264" name="Text 3"/>
          <p:cNvSpPr txBox="1"/>
          <p:nvPr/>
        </p:nvSpPr>
        <p:spPr>
          <a:xfrm>
            <a:off x="876299" y="2062734"/>
            <a:ext cx="3474723" cy="2179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sz="1200" b="1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Finestra Temporale:</a:t>
            </a:r>
          </a:p>
        </p:txBody>
      </p:sp>
      <p:sp>
        <p:nvSpPr>
          <p:cNvPr id="265" name="Text 4"/>
          <p:cNvSpPr txBox="1"/>
          <p:nvPr/>
        </p:nvSpPr>
        <p:spPr>
          <a:xfrm>
            <a:off x="876300" y="2291334"/>
            <a:ext cx="4819650" cy="4465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sz="12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Utilizzo di 12 timestep (ore) passati per predire il consumo dell'ora successiva.</a:t>
            </a:r>
          </a:p>
        </p:txBody>
      </p:sp>
      <p:sp>
        <p:nvSpPr>
          <p:cNvPr id="266" name="Text 5"/>
          <p:cNvSpPr txBox="1"/>
          <p:nvPr/>
        </p:nvSpPr>
        <p:spPr>
          <a:xfrm>
            <a:off x="876299" y="2900934"/>
            <a:ext cx="2560323" cy="2179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sz="1200" b="1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Input Feature:</a:t>
            </a:r>
          </a:p>
        </p:txBody>
      </p:sp>
      <p:sp>
        <p:nvSpPr>
          <p:cNvPr id="267" name="Text 6"/>
          <p:cNvSpPr txBox="1"/>
          <p:nvPr/>
        </p:nvSpPr>
        <p:spPr>
          <a:xfrm>
            <a:off x="876300" y="3243834"/>
            <a:ext cx="4695974" cy="2179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sz="12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Temperatura, umidità, occupanza e storico consumi normalizzati.</a:t>
            </a:r>
          </a:p>
        </p:txBody>
      </p:sp>
      <p:sp>
        <p:nvSpPr>
          <p:cNvPr id="268" name="Text 7"/>
          <p:cNvSpPr txBox="1"/>
          <p:nvPr/>
        </p:nvSpPr>
        <p:spPr>
          <a:xfrm>
            <a:off x="876299" y="3739134"/>
            <a:ext cx="2926083" cy="2179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sz="1200" b="1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Soglia Anomalia:</a:t>
            </a:r>
          </a:p>
        </p:txBody>
      </p:sp>
      <p:sp>
        <p:nvSpPr>
          <p:cNvPr id="269" name="Text 8"/>
          <p:cNvSpPr txBox="1"/>
          <p:nvPr/>
        </p:nvSpPr>
        <p:spPr>
          <a:xfrm>
            <a:off x="876300" y="3967734"/>
            <a:ext cx="4819650" cy="4465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sz="12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Deviazione &gt; 2.5 MAE tra valore reale e predetto attiva un alert immediato.</a:t>
            </a:r>
          </a:p>
        </p:txBody>
      </p:sp>
      <p:sp>
        <p:nvSpPr>
          <p:cNvPr id="270" name="Text 9"/>
          <p:cNvSpPr txBox="1"/>
          <p:nvPr/>
        </p:nvSpPr>
        <p:spPr>
          <a:xfrm>
            <a:off x="6791325" y="1604392"/>
            <a:ext cx="6858000" cy="296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2400"/>
              </a:lnSpc>
              <a:defRPr b="1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Analisi Esplorativa (EDA)</a:t>
            </a:r>
          </a:p>
        </p:txBody>
      </p:sp>
      <p:sp>
        <p:nvSpPr>
          <p:cNvPr id="271" name="Text 10"/>
          <p:cNvSpPr txBox="1"/>
          <p:nvPr/>
        </p:nvSpPr>
        <p:spPr>
          <a:xfrm>
            <a:off x="6743699" y="2062734"/>
            <a:ext cx="3108963" cy="2179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sz="1200" b="1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Encoding Ciclico:</a:t>
            </a:r>
          </a:p>
        </p:txBody>
      </p:sp>
      <p:sp>
        <p:nvSpPr>
          <p:cNvPr id="272" name="Text 11"/>
          <p:cNvSpPr txBox="1"/>
          <p:nvPr/>
        </p:nvSpPr>
        <p:spPr>
          <a:xfrm>
            <a:off x="6743700" y="2291334"/>
            <a:ext cx="4819650" cy="4465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sz="12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Trasformazione Sin/Cos per catturare la stagionalità di ore, giorni e mesi.</a:t>
            </a:r>
          </a:p>
        </p:txBody>
      </p:sp>
      <p:sp>
        <p:nvSpPr>
          <p:cNvPr id="273" name="Text 12"/>
          <p:cNvSpPr txBox="1"/>
          <p:nvPr/>
        </p:nvSpPr>
        <p:spPr>
          <a:xfrm>
            <a:off x="6705599" y="2900934"/>
            <a:ext cx="5120643" cy="2179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sz="1200" b="1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Coerenza Ricerca-Produzione:</a:t>
            </a:r>
          </a:p>
        </p:txBody>
      </p:sp>
      <p:sp>
        <p:nvSpPr>
          <p:cNvPr id="274" name="Text 13"/>
          <p:cNvSpPr txBox="1"/>
          <p:nvPr/>
        </p:nvSpPr>
        <p:spPr>
          <a:xfrm>
            <a:off x="6705600" y="3129534"/>
            <a:ext cx="4857750" cy="4465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sz="12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Pre-processing identico tra notebook Python e backend Java/AI service.</a:t>
            </a:r>
          </a:p>
        </p:txBody>
      </p:sp>
      <p:sp>
        <p:nvSpPr>
          <p:cNvPr id="275" name="Text 14"/>
          <p:cNvSpPr txBox="1"/>
          <p:nvPr/>
        </p:nvSpPr>
        <p:spPr>
          <a:xfrm>
            <a:off x="6743700" y="3739134"/>
            <a:ext cx="2377440" cy="2179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sz="1200" b="1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Baseline MAE:</a:t>
            </a:r>
          </a:p>
        </p:txBody>
      </p:sp>
      <p:sp>
        <p:nvSpPr>
          <p:cNvPr id="276" name="Text 15"/>
          <p:cNvSpPr txBox="1"/>
          <p:nvPr/>
        </p:nvSpPr>
        <p:spPr>
          <a:xfrm>
            <a:off x="6743700" y="3967734"/>
            <a:ext cx="4819650" cy="4465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sz="12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Validazione offline tramite PyTorch per definire i parametri del Digital Twin.</a:t>
            </a:r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Text 16"/>
          <p:cNvSpPr txBox="1"/>
          <p:nvPr/>
        </p:nvSpPr>
        <p:spPr>
          <a:xfrm>
            <a:off x="4157805" y="561279"/>
            <a:ext cx="3876391" cy="2513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2100"/>
              </a:lnSpc>
              <a:defRPr sz="1300" b="1" spc="108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SIMULAZIONE PREDIZIONE VS ANOMALIA</a:t>
            </a:r>
          </a:p>
        </p:txBody>
      </p:sp>
      <p:pic>
        <p:nvPicPr>
          <p:cNvPr id="279" name="Screenshot 2026-02-15 alle 20.09.04.png" descr="Screenshot 2026-02-15 alle 20.09.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1950" y="1182066"/>
            <a:ext cx="8928101" cy="5130802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Image 1" descr="Imag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750" y="285750"/>
            <a:ext cx="11620500" cy="7239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82" name="Image 2" descr="Imag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750" y="1247775"/>
            <a:ext cx="5657850" cy="4857750"/>
          </a:xfrm>
          <a:prstGeom prst="rect">
            <a:avLst/>
          </a:prstGeom>
          <a:ln w="12700">
            <a:miter lim="400000"/>
          </a:ln>
        </p:spPr>
      </p:pic>
      <p:pic>
        <p:nvPicPr>
          <p:cNvPr id="283" name="Image 3" descr="Imag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" y="1438275"/>
            <a:ext cx="190500" cy="1905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84" name="Image 4" descr="Image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8150" y="2352675"/>
            <a:ext cx="1733550" cy="3429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85" name="Image 5" descr="Image 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47900" y="2352675"/>
            <a:ext cx="1733550" cy="3429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86" name="Image 6" descr="Image 6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57650" y="2352675"/>
            <a:ext cx="1733550" cy="3429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87" name="Image 9" descr="Imag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8400" y="1247775"/>
            <a:ext cx="5657850" cy="4857750"/>
          </a:xfrm>
          <a:prstGeom prst="rect">
            <a:avLst/>
          </a:prstGeom>
          <a:ln w="12700">
            <a:miter lim="400000"/>
          </a:ln>
        </p:spPr>
      </p:pic>
      <p:pic>
        <p:nvPicPr>
          <p:cNvPr id="288" name="Image 10" descr="Image 10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00800" y="1438275"/>
            <a:ext cx="238125" cy="1905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89" name="Image 11" descr="Image 11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00800" y="1819275"/>
            <a:ext cx="5353050" cy="4572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90" name="Image 12" descr="Image 12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15100" y="1933575"/>
            <a:ext cx="542925" cy="2286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91" name="Image 13" descr="Image 13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00800" y="2390775"/>
            <a:ext cx="5353050" cy="4572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92" name="Image 14" descr="Image 14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515100" y="2505075"/>
            <a:ext cx="457200" cy="2286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93" name="Image 16" descr="Image 16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00800" y="3124199"/>
            <a:ext cx="238125" cy="190502"/>
          </a:xfrm>
          <a:prstGeom prst="rect">
            <a:avLst/>
          </a:prstGeom>
          <a:ln w="12700">
            <a:miter lim="400000"/>
          </a:ln>
        </p:spPr>
      </p:pic>
      <p:pic>
        <p:nvPicPr>
          <p:cNvPr id="294" name="Image 17" descr="Image 17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85750" y="6257925"/>
            <a:ext cx="11620500" cy="4572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95" name="Image 19" descr="Image 19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70593" y="3045619"/>
            <a:ext cx="125614" cy="114302"/>
          </a:xfrm>
          <a:prstGeom prst="rect">
            <a:avLst/>
          </a:prstGeom>
          <a:ln w="12700">
            <a:miter lim="400000"/>
          </a:ln>
        </p:spPr>
      </p:pic>
      <p:sp>
        <p:nvSpPr>
          <p:cNvPr id="296" name="Text 0"/>
          <p:cNvSpPr txBox="1"/>
          <p:nvPr/>
        </p:nvSpPr>
        <p:spPr>
          <a:xfrm>
            <a:off x="476248" y="284419"/>
            <a:ext cx="11521444" cy="383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3000"/>
              </a:lnSpc>
              <a:defRPr sz="2700" b="1" spc="-54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SICUREZZA E GESTIONE ACCESSI</a:t>
            </a:r>
          </a:p>
        </p:txBody>
      </p:sp>
      <p:sp>
        <p:nvSpPr>
          <p:cNvPr id="297" name="Text 1"/>
          <p:cNvSpPr txBox="1"/>
          <p:nvPr/>
        </p:nvSpPr>
        <p:spPr>
          <a:xfrm>
            <a:off x="476250" y="747714"/>
            <a:ext cx="16230600" cy="257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2100"/>
              </a:lnSpc>
              <a:defRPr sz="15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Protezione del sistema e integrità dei dati tramite protocolli standard</a:t>
            </a:r>
          </a:p>
        </p:txBody>
      </p:sp>
      <p:sp>
        <p:nvSpPr>
          <p:cNvPr id="298" name="Text 2"/>
          <p:cNvSpPr txBox="1"/>
          <p:nvPr/>
        </p:nvSpPr>
        <p:spPr>
          <a:xfrm>
            <a:off x="742950" y="1404938"/>
            <a:ext cx="6400800" cy="2571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2100"/>
              </a:lnSpc>
              <a:defRPr sz="1500" b="1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Autenticazione JWT Stateless</a:t>
            </a:r>
          </a:p>
        </p:txBody>
      </p:sp>
      <p:sp>
        <p:nvSpPr>
          <p:cNvPr id="299" name="Text 3"/>
          <p:cNvSpPr txBox="1"/>
          <p:nvPr/>
        </p:nvSpPr>
        <p:spPr>
          <a:xfrm>
            <a:off x="438150" y="1822260"/>
            <a:ext cx="5353050" cy="3750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500"/>
              </a:lnSpc>
              <a:defRPr sz="1100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Token firmato crittograficamente emesso al login. Consente una scalabilità orizzontale non richiedendo sessioni lato server.</a:t>
            </a:r>
          </a:p>
        </p:txBody>
      </p:sp>
      <p:sp>
        <p:nvSpPr>
          <p:cNvPr id="300" name="Text 4"/>
          <p:cNvSpPr txBox="1"/>
          <p:nvPr/>
        </p:nvSpPr>
        <p:spPr>
          <a:xfrm>
            <a:off x="438150" y="2434468"/>
            <a:ext cx="1504950" cy="1793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ts val="1500"/>
              </a:lnSpc>
              <a:defRPr sz="1000">
                <a:solidFill>
                  <a:srgbClr val="991B1B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Header</a:t>
            </a:r>
          </a:p>
        </p:txBody>
      </p:sp>
      <p:sp>
        <p:nvSpPr>
          <p:cNvPr id="301" name="Text 5"/>
          <p:cNvSpPr txBox="1"/>
          <p:nvPr/>
        </p:nvSpPr>
        <p:spPr>
          <a:xfrm>
            <a:off x="2247900" y="2434468"/>
            <a:ext cx="1504950" cy="1793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ts val="1500"/>
              </a:lnSpc>
              <a:defRPr sz="1000">
                <a:solidFill>
                  <a:srgbClr val="1E40A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Payload</a:t>
            </a:r>
          </a:p>
        </p:txBody>
      </p:sp>
      <p:sp>
        <p:nvSpPr>
          <p:cNvPr id="302" name="Text 6"/>
          <p:cNvSpPr txBox="1"/>
          <p:nvPr/>
        </p:nvSpPr>
        <p:spPr>
          <a:xfrm>
            <a:off x="4057650" y="2434468"/>
            <a:ext cx="1504950" cy="1793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ts val="1500"/>
              </a:lnSpc>
              <a:defRPr sz="1000">
                <a:solidFill>
                  <a:srgbClr val="16653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Signature</a:t>
            </a:r>
          </a:p>
        </p:txBody>
      </p:sp>
      <p:sp>
        <p:nvSpPr>
          <p:cNvPr id="303" name="Text 7"/>
          <p:cNvSpPr txBox="1"/>
          <p:nvPr/>
        </p:nvSpPr>
        <p:spPr>
          <a:xfrm>
            <a:off x="855779" y="2974183"/>
            <a:ext cx="5353053" cy="2571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2100"/>
              </a:lnSpc>
              <a:defRPr sz="1500" b="1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Hashing con BCrypt</a:t>
            </a:r>
          </a:p>
        </p:txBody>
      </p:sp>
      <p:sp>
        <p:nvSpPr>
          <p:cNvPr id="304" name="Text 8"/>
          <p:cNvSpPr txBox="1"/>
          <p:nvPr/>
        </p:nvSpPr>
        <p:spPr>
          <a:xfrm>
            <a:off x="438150" y="6910071"/>
            <a:ext cx="5353050" cy="372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500"/>
              </a:lnSpc>
              <a:defRPr sz="1000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Le password non sono mai salvate in chiaro. BCrypt utilizza un meccanismo di salting e un fattore di costo adattivo per resistere ad attacchi brute-force.</a:t>
            </a:r>
          </a:p>
        </p:txBody>
      </p:sp>
      <p:sp>
        <p:nvSpPr>
          <p:cNvPr id="305" name="Text 9"/>
          <p:cNvSpPr txBox="1"/>
          <p:nvPr/>
        </p:nvSpPr>
        <p:spPr>
          <a:xfrm>
            <a:off x="6753225" y="1404938"/>
            <a:ext cx="5486400" cy="2571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2100"/>
              </a:lnSpc>
              <a:defRPr sz="1500" b="1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Controllo Accessi (RBAC)</a:t>
            </a:r>
          </a:p>
        </p:txBody>
      </p:sp>
      <p:sp>
        <p:nvSpPr>
          <p:cNvPr id="306" name="Text 10"/>
          <p:cNvSpPr txBox="1"/>
          <p:nvPr/>
        </p:nvSpPr>
        <p:spPr>
          <a:xfrm>
            <a:off x="6591300" y="1973770"/>
            <a:ext cx="493295" cy="1482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200"/>
              </a:lnSpc>
              <a:defRPr sz="9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ADMIN</a:t>
            </a:r>
          </a:p>
        </p:txBody>
      </p:sp>
      <p:sp>
        <p:nvSpPr>
          <p:cNvPr id="307" name="Text 11"/>
          <p:cNvSpPr txBox="1"/>
          <p:nvPr/>
        </p:nvSpPr>
        <p:spPr>
          <a:xfrm>
            <a:off x="7210425" y="1957071"/>
            <a:ext cx="7200900" cy="1816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500"/>
              </a:lnSpc>
              <a:defRPr sz="1000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Simulazione, Gestione Utenti, Caricamento CSV</a:t>
            </a:r>
          </a:p>
        </p:txBody>
      </p:sp>
      <p:sp>
        <p:nvSpPr>
          <p:cNvPr id="308" name="Text 12"/>
          <p:cNvSpPr txBox="1"/>
          <p:nvPr/>
        </p:nvSpPr>
        <p:spPr>
          <a:xfrm>
            <a:off x="6591299" y="2545270"/>
            <a:ext cx="365763" cy="1482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200"/>
              </a:lnSpc>
              <a:defRPr sz="9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USER</a:t>
            </a:r>
          </a:p>
        </p:txBody>
      </p:sp>
      <p:sp>
        <p:nvSpPr>
          <p:cNvPr id="309" name="Text 13"/>
          <p:cNvSpPr txBox="1"/>
          <p:nvPr/>
        </p:nvSpPr>
        <p:spPr>
          <a:xfrm>
            <a:off x="7124700" y="2528571"/>
            <a:ext cx="6560819" cy="1816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500"/>
              </a:lnSpc>
              <a:defRPr sz="1000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Dashboard Lettura, Visualizzazione Report</a:t>
            </a:r>
          </a:p>
        </p:txBody>
      </p:sp>
      <p:sp>
        <p:nvSpPr>
          <p:cNvPr id="310" name="Text 14"/>
          <p:cNvSpPr txBox="1"/>
          <p:nvPr/>
        </p:nvSpPr>
        <p:spPr>
          <a:xfrm>
            <a:off x="6819899" y="3090864"/>
            <a:ext cx="5353053" cy="257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2100"/>
              </a:lnSpc>
              <a:defRPr sz="1500" b="1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Logout &amp; Blacklist</a:t>
            </a:r>
          </a:p>
        </p:txBody>
      </p:sp>
      <p:sp>
        <p:nvSpPr>
          <p:cNvPr id="311" name="Text 15"/>
          <p:cNvSpPr txBox="1"/>
          <p:nvPr/>
        </p:nvSpPr>
        <p:spPr>
          <a:xfrm>
            <a:off x="6400800" y="6910071"/>
            <a:ext cx="5353050" cy="372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500"/>
              </a:lnSpc>
              <a:defRPr sz="1000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Gestione della sicurezza post-disconnessione: i token invalidati vengono inseriti in una blacklist volatile per impedirne il riuso fino alla loro scadenza naturale.</a:t>
            </a:r>
          </a:p>
        </p:txBody>
      </p:sp>
      <p:sp>
        <p:nvSpPr>
          <p:cNvPr id="312" name="Text 19"/>
          <p:cNvSpPr txBox="1"/>
          <p:nvPr/>
        </p:nvSpPr>
        <p:spPr>
          <a:xfrm>
            <a:off x="10098584" y="6488620"/>
            <a:ext cx="1807668" cy="1482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200"/>
              </a:lnSpc>
              <a:defRPr sz="900" i="1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Nexus Energy Security Layer v1.0</a:t>
            </a:r>
          </a:p>
        </p:txBody>
      </p:sp>
      <p:pic>
        <p:nvPicPr>
          <p:cNvPr id="313" name="Screenshot 2026-02-15 alle 19.54.20.png" descr="Screenshot 2026-02-15 alle 19.54.20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31934" y="3348035"/>
            <a:ext cx="5565482" cy="2667990"/>
          </a:xfrm>
          <a:prstGeom prst="rect">
            <a:avLst/>
          </a:prstGeom>
          <a:ln w="12700">
            <a:miter lim="400000"/>
          </a:ln>
        </p:spPr>
      </p:pic>
      <p:pic>
        <p:nvPicPr>
          <p:cNvPr id="314" name="Screenshot 2026-02-15 alle 19.57.05.png" descr="Screenshot 2026-02-15 alle 19.57.05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632323" y="3749135"/>
            <a:ext cx="4890004" cy="186579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6" name="Image 0" descr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87" cy="6858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317" name="Image 1" descr="Imag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022" y="479022"/>
            <a:ext cx="11233943" cy="744607"/>
          </a:xfrm>
          <a:prstGeom prst="rect">
            <a:avLst/>
          </a:prstGeom>
          <a:ln w="12700">
            <a:miter lim="400000"/>
          </a:ln>
        </p:spPr>
      </p:pic>
      <p:pic>
        <p:nvPicPr>
          <p:cNvPr id="318" name="Image 2" descr="Imag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022" y="1620316"/>
            <a:ext cx="231529" cy="228536"/>
          </a:xfrm>
          <a:prstGeom prst="rect">
            <a:avLst/>
          </a:prstGeom>
          <a:ln w="12700">
            <a:miter lim="400000"/>
          </a:ln>
        </p:spPr>
      </p:pic>
      <p:pic>
        <p:nvPicPr>
          <p:cNvPr id="319" name="Image 3" descr="Imag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9022" y="2692628"/>
            <a:ext cx="11233943" cy="31937"/>
          </a:xfrm>
          <a:prstGeom prst="rect">
            <a:avLst/>
          </a:prstGeom>
          <a:ln w="12700">
            <a:miter lim="400000"/>
          </a:ln>
        </p:spPr>
      </p:pic>
      <p:pic>
        <p:nvPicPr>
          <p:cNvPr id="320" name="Image 4" descr="Image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9022" y="2596824"/>
            <a:ext cx="191611" cy="191611"/>
          </a:xfrm>
          <a:prstGeom prst="rect">
            <a:avLst/>
          </a:prstGeom>
          <a:ln w="12700">
            <a:miter lim="400000"/>
          </a:ln>
        </p:spPr>
      </p:pic>
      <p:pic>
        <p:nvPicPr>
          <p:cNvPr id="321" name="Image 5" descr="Image 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59758" y="2596824"/>
            <a:ext cx="191611" cy="191611"/>
          </a:xfrm>
          <a:prstGeom prst="rect">
            <a:avLst/>
          </a:prstGeom>
          <a:ln w="12700">
            <a:miter lim="400000"/>
          </a:ln>
        </p:spPr>
      </p:pic>
      <p:pic>
        <p:nvPicPr>
          <p:cNvPr id="322" name="Image 6" descr="Image 6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40494" y="2596824"/>
            <a:ext cx="191611" cy="191611"/>
          </a:xfrm>
          <a:prstGeom prst="rect">
            <a:avLst/>
          </a:prstGeom>
          <a:ln w="12700">
            <a:miter lim="400000"/>
          </a:ln>
        </p:spPr>
      </p:pic>
      <p:pic>
        <p:nvPicPr>
          <p:cNvPr id="323" name="Image 7" descr="Image 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521230" y="2596824"/>
            <a:ext cx="191611" cy="191611"/>
          </a:xfrm>
          <a:prstGeom prst="rect">
            <a:avLst/>
          </a:prstGeom>
          <a:ln w="12700">
            <a:miter lim="400000"/>
          </a:ln>
        </p:spPr>
      </p:pic>
      <p:pic>
        <p:nvPicPr>
          <p:cNvPr id="324" name="Image 8" descr="Image 8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9022" y="3235518"/>
            <a:ext cx="3616867" cy="1844238"/>
          </a:xfrm>
          <a:prstGeom prst="rect">
            <a:avLst/>
          </a:prstGeom>
          <a:ln w="12700">
            <a:miter lim="400000"/>
          </a:ln>
        </p:spPr>
      </p:pic>
      <p:pic>
        <p:nvPicPr>
          <p:cNvPr id="325" name="Image 9" descr="Image 9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0631" y="3427129"/>
            <a:ext cx="383220" cy="383220"/>
          </a:xfrm>
          <a:prstGeom prst="rect">
            <a:avLst/>
          </a:prstGeom>
          <a:ln w="12700">
            <a:miter lim="400000"/>
          </a:ln>
        </p:spPr>
      </p:pic>
      <p:pic>
        <p:nvPicPr>
          <p:cNvPr id="326" name="Image 10" descr="Image 10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66435" y="3506966"/>
            <a:ext cx="191610" cy="223546"/>
          </a:xfrm>
          <a:prstGeom prst="rect">
            <a:avLst/>
          </a:prstGeom>
          <a:ln w="12700">
            <a:miter lim="400000"/>
          </a:ln>
        </p:spPr>
      </p:pic>
      <p:pic>
        <p:nvPicPr>
          <p:cNvPr id="327" name="Image 11" descr="Image 11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87496" y="3235518"/>
            <a:ext cx="3616869" cy="1844238"/>
          </a:xfrm>
          <a:prstGeom prst="rect">
            <a:avLst/>
          </a:prstGeom>
          <a:ln w="12700">
            <a:miter lim="400000"/>
          </a:ln>
        </p:spPr>
      </p:pic>
      <p:pic>
        <p:nvPicPr>
          <p:cNvPr id="328" name="Image 12" descr="Image 12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479106" y="3427129"/>
            <a:ext cx="383220" cy="383220"/>
          </a:xfrm>
          <a:prstGeom prst="rect">
            <a:avLst/>
          </a:prstGeom>
          <a:ln w="12700">
            <a:miter lim="400000"/>
          </a:ln>
        </p:spPr>
      </p:pic>
      <p:pic>
        <p:nvPicPr>
          <p:cNvPr id="329" name="Image 13" descr="Image 13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562935" y="3506966"/>
            <a:ext cx="215562" cy="223546"/>
          </a:xfrm>
          <a:prstGeom prst="rect">
            <a:avLst/>
          </a:prstGeom>
          <a:ln w="12700">
            <a:miter lim="400000"/>
          </a:ln>
        </p:spPr>
      </p:pic>
      <p:pic>
        <p:nvPicPr>
          <p:cNvPr id="330" name="Image 14" descr="Image 14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095973" y="3235518"/>
            <a:ext cx="3616993" cy="1844238"/>
          </a:xfrm>
          <a:prstGeom prst="rect">
            <a:avLst/>
          </a:prstGeom>
          <a:ln w="12700">
            <a:miter lim="400000"/>
          </a:ln>
        </p:spPr>
      </p:pic>
      <p:pic>
        <p:nvPicPr>
          <p:cNvPr id="331" name="Image 15" descr="Image 15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287580" y="3427129"/>
            <a:ext cx="383219" cy="383220"/>
          </a:xfrm>
          <a:prstGeom prst="rect">
            <a:avLst/>
          </a:prstGeom>
          <a:ln w="12700">
            <a:miter lim="400000"/>
          </a:ln>
        </p:spPr>
      </p:pic>
      <p:pic>
        <p:nvPicPr>
          <p:cNvPr id="332" name="Image 16" descr="Image 16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387377" y="3506966"/>
            <a:ext cx="183627" cy="223546"/>
          </a:xfrm>
          <a:prstGeom prst="rect">
            <a:avLst/>
          </a:prstGeom>
          <a:ln w="12700">
            <a:miter lim="400000"/>
          </a:ln>
        </p:spPr>
      </p:pic>
      <p:pic>
        <p:nvPicPr>
          <p:cNvPr id="333" name="Image 17" descr="Image 17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79022" y="5836086"/>
            <a:ext cx="11233943" cy="542893"/>
          </a:xfrm>
          <a:prstGeom prst="rect">
            <a:avLst/>
          </a:prstGeom>
          <a:ln w="12700">
            <a:miter lim="400000"/>
          </a:ln>
        </p:spPr>
      </p:pic>
      <p:pic>
        <p:nvPicPr>
          <p:cNvPr id="334" name="Image 18" descr="Image 18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79022" y="6168657"/>
            <a:ext cx="119758" cy="133230"/>
          </a:xfrm>
          <a:prstGeom prst="rect">
            <a:avLst/>
          </a:prstGeom>
          <a:ln w="12700">
            <a:miter lim="400000"/>
          </a:ln>
        </p:spPr>
      </p:pic>
      <p:pic>
        <p:nvPicPr>
          <p:cNvPr id="335" name="Image 19" descr="Image 19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843110" y="6168657"/>
            <a:ext cx="135725" cy="133230"/>
          </a:xfrm>
          <a:prstGeom prst="rect">
            <a:avLst/>
          </a:prstGeom>
          <a:ln w="12700">
            <a:miter lim="400000"/>
          </a:ln>
        </p:spPr>
      </p:pic>
      <p:pic>
        <p:nvPicPr>
          <p:cNvPr id="336" name="Image 20" descr="Image 20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917544" y="6168657"/>
            <a:ext cx="135725" cy="133230"/>
          </a:xfrm>
          <a:prstGeom prst="rect">
            <a:avLst/>
          </a:prstGeom>
          <a:ln w="12700">
            <a:miter lim="400000"/>
          </a:ln>
        </p:spPr>
      </p:pic>
      <p:pic>
        <p:nvPicPr>
          <p:cNvPr id="337" name="Image 21" descr="Image 21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5013934" y="5735229"/>
            <a:ext cx="6661992" cy="744607"/>
          </a:xfrm>
          <a:prstGeom prst="rect">
            <a:avLst/>
          </a:prstGeom>
          <a:ln w="12700">
            <a:miter lim="400000"/>
          </a:ln>
        </p:spPr>
      </p:pic>
      <p:sp>
        <p:nvSpPr>
          <p:cNvPr id="338" name="Text 0"/>
          <p:cNvSpPr txBox="1"/>
          <p:nvPr/>
        </p:nvSpPr>
        <p:spPr>
          <a:xfrm>
            <a:off x="670631" y="472164"/>
            <a:ext cx="22254986" cy="4709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3600"/>
              </a:lnSpc>
              <a:defRPr sz="3600" b="1" spc="-86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Avvio del Sistema e Demo Operativa</a:t>
            </a:r>
          </a:p>
        </p:txBody>
      </p:sp>
      <p:sp>
        <p:nvSpPr>
          <p:cNvPr id="339" name="Text 1"/>
          <p:cNvSpPr txBox="1"/>
          <p:nvPr/>
        </p:nvSpPr>
        <p:spPr>
          <a:xfrm>
            <a:off x="670631" y="1003589"/>
            <a:ext cx="19091266" cy="2165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700"/>
              </a:lnSpc>
              <a:defRPr sz="15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Dalla configurazione Docker alla validazione dei pattern di resilienza</a:t>
            </a:r>
          </a:p>
        </p:txBody>
      </p:sp>
      <p:sp>
        <p:nvSpPr>
          <p:cNvPr id="340" name="Text 2"/>
          <p:cNvSpPr txBox="1"/>
          <p:nvPr/>
        </p:nvSpPr>
        <p:spPr>
          <a:xfrm>
            <a:off x="806352" y="1606696"/>
            <a:ext cx="11233946" cy="2557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2000"/>
              </a:lnSpc>
              <a:defRPr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Pipeline di Deployment</a:t>
            </a:r>
          </a:p>
        </p:txBody>
      </p:sp>
      <p:sp>
        <p:nvSpPr>
          <p:cNvPr id="341" name="Text 3"/>
          <p:cNvSpPr txBox="1"/>
          <p:nvPr/>
        </p:nvSpPr>
        <p:spPr>
          <a:xfrm>
            <a:off x="260806" y="2124229"/>
            <a:ext cx="3436432" cy="2106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ts val="1700"/>
              </a:lnSpc>
              <a:defRPr sz="1300" b="1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Configurazione</a:t>
            </a:r>
          </a:p>
        </p:txBody>
      </p:sp>
      <p:sp>
        <p:nvSpPr>
          <p:cNvPr id="342" name="Text 4"/>
          <p:cNvSpPr txBox="1"/>
          <p:nvPr/>
        </p:nvSpPr>
        <p:spPr>
          <a:xfrm>
            <a:off x="-407452" y="2377552"/>
            <a:ext cx="4772825" cy="1511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ts val="1200"/>
              </a:lnSpc>
              <a:defRPr sz="1000" i="1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.env (MySQL, JWT, Rabbit)</a:t>
            </a:r>
          </a:p>
        </p:txBody>
      </p:sp>
      <p:sp>
        <p:nvSpPr>
          <p:cNvPr id="343" name="Text 5"/>
          <p:cNvSpPr txBox="1"/>
          <p:nvPr/>
        </p:nvSpPr>
        <p:spPr>
          <a:xfrm>
            <a:off x="2269077" y="2124229"/>
            <a:ext cx="4909185" cy="2106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ts val="1700"/>
              </a:lnSpc>
              <a:defRPr sz="1300" b="1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Docker Orchestration</a:t>
            </a:r>
          </a:p>
        </p:txBody>
      </p:sp>
      <p:sp>
        <p:nvSpPr>
          <p:cNvPr id="344" name="Text 6"/>
          <p:cNvSpPr txBox="1"/>
          <p:nvPr/>
        </p:nvSpPr>
        <p:spPr>
          <a:xfrm>
            <a:off x="2814476" y="2377552"/>
            <a:ext cx="3818263" cy="1511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ts val="1200"/>
              </a:lnSpc>
              <a:defRPr sz="1000" i="1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docker-compose up -d</a:t>
            </a:r>
          </a:p>
        </p:txBody>
      </p:sp>
      <p:sp>
        <p:nvSpPr>
          <p:cNvPr id="345" name="Text 7"/>
          <p:cNvSpPr txBox="1"/>
          <p:nvPr/>
        </p:nvSpPr>
        <p:spPr>
          <a:xfrm>
            <a:off x="5995561" y="2124229"/>
            <a:ext cx="2945512" cy="2106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ts val="1700"/>
              </a:lnSpc>
              <a:defRPr sz="1300" b="1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Health Check</a:t>
            </a:r>
          </a:p>
        </p:txBody>
      </p:sp>
      <p:sp>
        <p:nvSpPr>
          <p:cNvPr id="346" name="Text 8"/>
          <p:cNvSpPr txBox="1"/>
          <p:nvPr/>
        </p:nvSpPr>
        <p:spPr>
          <a:xfrm>
            <a:off x="5145478" y="2377552"/>
            <a:ext cx="4645553" cy="1511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ts val="1200"/>
              </a:lnSpc>
              <a:defRPr sz="1000" i="1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Server Ready (~2-4 min)</a:t>
            </a:r>
          </a:p>
        </p:txBody>
      </p:sp>
      <p:sp>
        <p:nvSpPr>
          <p:cNvPr id="347" name="Text 9"/>
          <p:cNvSpPr txBox="1"/>
          <p:nvPr/>
        </p:nvSpPr>
        <p:spPr>
          <a:xfrm>
            <a:off x="8840703" y="2124229"/>
            <a:ext cx="2744523" cy="2106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ts val="1700"/>
              </a:lnSpc>
              <a:defRPr sz="1300" b="1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Demo Ready</a:t>
            </a:r>
          </a:p>
        </p:txBody>
      </p:sp>
      <p:sp>
        <p:nvSpPr>
          <p:cNvPr id="348" name="Text 10"/>
          <p:cNvSpPr txBox="1"/>
          <p:nvPr/>
        </p:nvSpPr>
        <p:spPr>
          <a:xfrm>
            <a:off x="7921945" y="2377552"/>
            <a:ext cx="4581915" cy="1511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ts val="1200"/>
              </a:lnSpc>
              <a:defRPr sz="1000" i="1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Login ADMIN &amp; Simulation</a:t>
            </a:r>
          </a:p>
        </p:txBody>
      </p:sp>
      <p:sp>
        <p:nvSpPr>
          <p:cNvPr id="349" name="Text 11"/>
          <p:cNvSpPr txBox="1"/>
          <p:nvPr/>
        </p:nvSpPr>
        <p:spPr>
          <a:xfrm>
            <a:off x="670630" y="3941591"/>
            <a:ext cx="4636453" cy="2165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700"/>
              </a:lnSpc>
              <a:defRPr sz="1500" b="1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Digital Twin Live</a:t>
            </a:r>
          </a:p>
        </p:txBody>
      </p:sp>
      <p:sp>
        <p:nvSpPr>
          <p:cNvPr id="350" name="Text 12"/>
          <p:cNvSpPr txBox="1"/>
          <p:nvPr/>
        </p:nvSpPr>
        <p:spPr>
          <a:xfrm>
            <a:off x="670629" y="4233659"/>
            <a:ext cx="3217686" cy="6337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7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Streaming SSE di dati reali vs predizioni LSTM. Visualizzazione insight e trend settimanali sulla Dashboard React.</a:t>
            </a:r>
          </a:p>
        </p:txBody>
      </p:sp>
      <p:sp>
        <p:nvSpPr>
          <p:cNvPr id="351" name="Text 13"/>
          <p:cNvSpPr txBox="1"/>
          <p:nvPr/>
        </p:nvSpPr>
        <p:spPr>
          <a:xfrm>
            <a:off x="4479106" y="3941591"/>
            <a:ext cx="4636451" cy="2165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700"/>
              </a:lnSpc>
              <a:defRPr sz="1500" b="1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Stress &amp; Fallback</a:t>
            </a:r>
          </a:p>
        </p:txBody>
      </p:sp>
      <p:sp>
        <p:nvSpPr>
          <p:cNvPr id="352" name="Text 14"/>
          <p:cNvSpPr txBox="1"/>
          <p:nvPr/>
        </p:nvSpPr>
        <p:spPr>
          <a:xfrm>
            <a:off x="4479106" y="4233659"/>
            <a:ext cx="3217684" cy="6337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ts val="17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Simulazione </a:t>
            </a:r>
            <a:r>
              <a:rPr b="1"/>
              <a:t>DB Down</a:t>
            </a:r>
            <a:r>
              <a:t>: attivazione automatica del Circuit Breaker e instradamento su RabbitMQ Quorum Queue.</a:t>
            </a:r>
          </a:p>
        </p:txBody>
      </p:sp>
      <p:sp>
        <p:nvSpPr>
          <p:cNvPr id="353" name="Text 15"/>
          <p:cNvSpPr txBox="1"/>
          <p:nvPr/>
        </p:nvSpPr>
        <p:spPr>
          <a:xfrm>
            <a:off x="8287580" y="3941591"/>
            <a:ext cx="4909185" cy="2165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700"/>
              </a:lnSpc>
              <a:defRPr sz="1500" b="1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Proactive Alerting</a:t>
            </a:r>
          </a:p>
        </p:txBody>
      </p:sp>
      <p:sp>
        <p:nvSpPr>
          <p:cNvPr id="354" name="Text 16"/>
          <p:cNvSpPr txBox="1"/>
          <p:nvPr/>
        </p:nvSpPr>
        <p:spPr>
          <a:xfrm>
            <a:off x="8287580" y="4233267"/>
            <a:ext cx="3217683" cy="4178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ts val="17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Invio alert su </a:t>
            </a:r>
            <a:r>
              <a:rPr b="1"/>
              <a:t>Telegram</a:t>
            </a:r>
            <a:r>
              <a:t> via Logstash per anomalie energetiche e criticità infrastrutturali.</a:t>
            </a:r>
          </a:p>
        </p:txBody>
      </p:sp>
      <p:sp>
        <p:nvSpPr>
          <p:cNvPr id="355" name="Text 17"/>
          <p:cNvSpPr txBox="1"/>
          <p:nvPr/>
        </p:nvSpPr>
        <p:spPr>
          <a:xfrm>
            <a:off x="662647" y="6159706"/>
            <a:ext cx="1108612" cy="1511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200"/>
              </a:lnSpc>
              <a:defRPr sz="10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MySQL / Redis</a:t>
            </a:r>
          </a:p>
        </p:txBody>
      </p:sp>
      <p:sp>
        <p:nvSpPr>
          <p:cNvPr id="356" name="Text 18"/>
          <p:cNvSpPr txBox="1"/>
          <p:nvPr/>
        </p:nvSpPr>
        <p:spPr>
          <a:xfrm>
            <a:off x="2042703" y="6159706"/>
            <a:ext cx="1527307" cy="1511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200"/>
              </a:lnSpc>
              <a:defRPr sz="10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RabbitMQ</a:t>
            </a:r>
          </a:p>
        </p:txBody>
      </p:sp>
      <p:sp>
        <p:nvSpPr>
          <p:cNvPr id="357" name="Text 19"/>
          <p:cNvSpPr txBox="1"/>
          <p:nvPr/>
        </p:nvSpPr>
        <p:spPr>
          <a:xfrm>
            <a:off x="3117137" y="6159706"/>
            <a:ext cx="1718219" cy="1511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200"/>
              </a:lnSpc>
              <a:defRPr sz="10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ELK Stack</a:t>
            </a:r>
          </a:p>
        </p:txBody>
      </p:sp>
      <p:sp>
        <p:nvSpPr>
          <p:cNvPr id="358" name="Text 20"/>
          <p:cNvSpPr txBox="1"/>
          <p:nvPr/>
        </p:nvSpPr>
        <p:spPr>
          <a:xfrm>
            <a:off x="6024597" y="6077944"/>
            <a:ext cx="4909186" cy="1861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200"/>
              </a:lnSpc>
              <a:defRPr sz="2200" b="1" spc="22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FINE PRESENTAZIONE • Q&amp;A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1114</Words>
  <Application>Microsoft Macintosh PowerPoint</Application>
  <PresentationFormat>Widescreen</PresentationFormat>
  <Paragraphs>177</Paragraphs>
  <Slides>10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10</vt:i4>
      </vt:variant>
    </vt:vector>
  </HeadingPairs>
  <TitlesOfParts>
    <vt:vector size="14" baseType="lpstr">
      <vt:lpstr>Arial</vt:lpstr>
      <vt:lpstr>Calibri</vt:lpstr>
      <vt:lpstr>Calibri Light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GABRIELE RUGGIERI</cp:lastModifiedBy>
  <cp:revision>1</cp:revision>
  <dcterms:modified xsi:type="dcterms:W3CDTF">2026-02-16T08:06:02Z</dcterms:modified>
</cp:coreProperties>
</file>