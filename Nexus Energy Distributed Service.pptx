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g"/>
  <Default Extension="png" ContentType="image/png"/>
  <Default Extension="bmp" ContentType="image/bmp"/>
  <Default Extension="gif" ContentType="image/gif"/>
  <Default Extension="tif" ContentType="image/tif"/>
  <Default Extension="pdf" ContentType="application/pdf"/>
  <Default Extension="mov" ContentType="application/movie"/>
  <Default Extension="vml" ContentType="application/vnd.openxmlformats-officedocument.vmlDrawing"/>
  <Default Extension="xlsx" ContentType="application/vnd.openxmlformats-officedocument.spreadsheetml.sheet"/>
  <Override PartName="/docProps/core.xml" ContentType="application/vnd.openxmlformats-package.core-propertie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commentAuthors.xml" ContentType="application/vnd.openxmlformats-officedocument.presentationml.commentAuthors+xml"/>
  <Override PartName="/ppt/tableStyles.xml" ContentType="application/vnd.openxmlformats-officedocument.presentationml.tableStyles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notesMasters/notesMaster1.xml" ContentType="application/vnd.openxmlformats-officedocument.presentationml.notes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Layouts/slideLayout1.xml" ContentType="application/vnd.openxmlformats-officedocument.presentationml.slideLayout+xml"/>
  <Override PartName="/ppt/theme/theme2.xml" ContentType="application/vnd.openxmlformats-officedocument.them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sldMasterIdLst>
    <p:sldMasterId id="2147483648" r:id="rId5"/>
  </p:sldMasterIdLst>
  <p:notesMasterIdLst>
    <p:notesMasterId r:id="rId7"/>
  </p:notes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</p:sldIdLst>
  <p:sldSz cx="12192000" cy="6858000"/>
  <p:notesSz cx="6858000" cy="9144000"/>
  <p:defaultTextStyle>
    <a:defPPr marL="0" marR="0" indent="0" algn="l" defTabSz="914400" rtl="0" fontAlgn="auto" latinLnBrk="1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</a:defRPr>
    </a:defPPr>
    <a:lvl1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"/>
      </a:defRPr>
    </a:lvl1pPr>
    <a:lvl2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"/>
      </a:defRPr>
    </a:lvl2pPr>
    <a:lvl3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"/>
      </a:defRPr>
    </a:lvl3pPr>
    <a:lvl4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"/>
      </a:defRPr>
    </a:lvl4pPr>
    <a:lvl5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"/>
      </a:defRPr>
    </a:lvl5pPr>
    <a:lvl6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"/>
      </a:defRPr>
    </a:lvl6pPr>
    <a:lvl7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"/>
      </a:defRPr>
    </a:lvl7pPr>
    <a:lvl8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"/>
      </a:defRPr>
    </a:lvl8pPr>
    <a:lvl9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"/>
      </a:defRPr>
    </a:lvl9pPr>
  </p:defaultTextStyle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/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showPr loop="0"/>
</p:presentationPr>
</file>

<file path=ppt/tableStyles.xml><?xml version="1.0" encoding="utf-8"?>
<a:tblStyleLst xmlns:a="http://schemas.openxmlformats.org/drawingml/2006/main" xmlns:r="http://schemas.openxmlformats.org/officeDocument/2006/relationships" def="{5940675A-B579-460E-94D1-54222C63F5DA}">
  <a:tblStyle styleId="{4C3C2611-4C71-4FC5-86AE-919BDF0F9419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DD4EA"/>
          </a:solidFill>
        </a:fill>
      </a:tcStyle>
    </a:wholeTbl>
    <a:band2H>
      <a:tcTxStyle b="def" i="def"/>
      <a:tcStyle>
        <a:tcBdr/>
        <a:fill>
          <a:solidFill>
            <a:srgbClr val="E8EBF5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Row>
  </a:tblStyle>
  <a:tblStyle styleId="{C7B018BB-80A7-4F77-B60F-C8B233D01FF8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E0E0E0"/>
          </a:solidFill>
        </a:fill>
      </a:tcStyle>
    </a:wholeTbl>
    <a:band2H>
      <a:tcTxStyle b="def" i="def"/>
      <a:tcStyle>
        <a:tcBdr/>
        <a:fill>
          <a:solidFill>
            <a:srgbClr val="F0F0F0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Row>
  </a:tblStyle>
  <a:tblStyle styleId="{EEE7283C-3CF3-47DC-8721-378D4A62B228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D4E2CE"/>
          </a:solidFill>
        </a:fill>
      </a:tcStyle>
    </a:wholeTbl>
    <a:band2H>
      <a:tcTxStyle b="def" i="def"/>
      <a:tcStyle>
        <a:tcBdr/>
        <a:fill>
          <a:solidFill>
            <a:srgbClr val="EBF1E8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Row>
  </a:tblStyle>
  <a:tblStyle styleId="{CF821DB8-F4EB-4A41-A1BA-3FCAFE7338EE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E6E6E6"/>
          </a:solidFill>
        </a:fill>
      </a:tcStyle>
    </a:wholeTbl>
    <a:band2H>
      <a:tcTxStyle b="def" i="def"/>
      <a:tcStyle>
        <a:tcBdr/>
        <a:fill>
          <a:solidFill>
            <a:srgbClr val="FFFFFF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508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FFFFFF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254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Row>
  </a:tblStyle>
  <a:tblStyle styleId="{33BA23B1-9221-436E-865A-0063620EA4FD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ACACA"/>
          </a:solidFill>
        </a:fill>
      </a:tcStyle>
    </a:wholeTbl>
    <a:band2H>
      <a:tcTxStyle b="def" i="def"/>
      <a:tcStyle>
        <a:tcBdr/>
        <a:fill>
          <a:solidFill>
            <a:srgbClr val="E6E6E6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firstRow>
  </a:tblStyle>
  <a:tblStyle styleId="{2708684C-4D16-4618-839F-0558EEFCDFE6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solidFill>
            <a:srgbClr val="000000">
              <a:alpha val="20000"/>
            </a:srgbClr>
          </a:solidFill>
        </a:fill>
      </a:tcStyle>
    </a:wholeTbl>
    <a:band2H>
      <a:tcTxStyle b="def" i="def"/>
      <a:tcStyle>
        <a:tcBdr/>
        <a:fill>
          <a:solidFill>
            <a:srgbClr val="FFFFFF"/>
          </a:solidFill>
        </a:fill>
      </a:tcStyle>
    </a:band2H>
    <a:firstCol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solidFill>
            <a:srgbClr val="000000">
              <a:alpha val="20000"/>
            </a:srgbClr>
          </a:solidFill>
        </a:fill>
      </a:tcStyle>
    </a:firstCol>
    <a:la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508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noFill/>
        </a:fill>
      </a:tcStyle>
    </a:lastRow>
    <a:fir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Comments="1"/>
</file>

<file path=ppt/_rels/presentation.xml.rels><?xml version="1.0" encoding="UTF-8"?>
<Relationships xmlns="http://schemas.openxmlformats.org/package/2006/relationships"><Relationship Id="rId1" Type="http://schemas.openxmlformats.org/officeDocument/2006/relationships/presProps" Target="presProps.xml"/><Relationship Id="rId2" Type="http://schemas.openxmlformats.org/officeDocument/2006/relationships/viewProps" Target="viewProps.xml"/><Relationship Id="rId3" Type="http://schemas.openxmlformats.org/officeDocument/2006/relationships/commentAuthors" Target="commentAuthors.xml"/><Relationship Id="rId4" Type="http://schemas.openxmlformats.org/officeDocument/2006/relationships/tableStyles" Target="tableStyles.xml"/><Relationship Id="rId5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7" Type="http://schemas.openxmlformats.org/officeDocument/2006/relationships/notesMaster" Target="notesMasters/notesMaster1.xml"/><Relationship Id="rId8" Type="http://schemas.openxmlformats.org/officeDocument/2006/relationships/slide" Target="slides/slide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/Relationships>
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.xml"/></Relationships>
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Shape 17"/>
          <p:cNvSpPr/>
          <p:nvPr>
            <p:ph type="sldImg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18" name="Shape 18"/>
          <p:cNvSpPr/>
          <p:nvPr>
            <p:ph type="body" sz="quarter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latinLnBrk="0">
      <a:defRPr sz="1200">
        <a:latin typeface="+mj-lt"/>
        <a:ea typeface="+mj-ea"/>
        <a:cs typeface="+mj-cs"/>
        <a:sym typeface="Calibri"/>
      </a:defRPr>
    </a:lvl1pPr>
    <a:lvl2pPr indent="228600" latinLnBrk="0">
      <a:defRPr sz="1200">
        <a:latin typeface="+mj-lt"/>
        <a:ea typeface="+mj-ea"/>
        <a:cs typeface="+mj-cs"/>
        <a:sym typeface="Calibri"/>
      </a:defRPr>
    </a:lvl2pPr>
    <a:lvl3pPr indent="457200" latinLnBrk="0">
      <a:defRPr sz="1200">
        <a:latin typeface="+mj-lt"/>
        <a:ea typeface="+mj-ea"/>
        <a:cs typeface="+mj-cs"/>
        <a:sym typeface="Calibri"/>
      </a:defRPr>
    </a:lvl3pPr>
    <a:lvl4pPr indent="685800" latinLnBrk="0">
      <a:defRPr sz="1200">
        <a:latin typeface="+mj-lt"/>
        <a:ea typeface="+mj-ea"/>
        <a:cs typeface="+mj-cs"/>
        <a:sym typeface="Calibri"/>
      </a:defRPr>
    </a:lvl4pPr>
    <a:lvl5pPr indent="914400" latinLnBrk="0">
      <a:defRPr sz="1200">
        <a:latin typeface="+mj-lt"/>
        <a:ea typeface="+mj-ea"/>
        <a:cs typeface="+mj-cs"/>
        <a:sym typeface="Calibri"/>
      </a:defRPr>
    </a:lvl5pPr>
    <a:lvl6pPr indent="1143000" latinLnBrk="0">
      <a:defRPr sz="1200">
        <a:latin typeface="+mj-lt"/>
        <a:ea typeface="+mj-ea"/>
        <a:cs typeface="+mj-cs"/>
        <a:sym typeface="Calibri"/>
      </a:defRPr>
    </a:lvl6pPr>
    <a:lvl7pPr indent="1371600" latinLnBrk="0">
      <a:defRPr sz="1200">
        <a:latin typeface="+mj-lt"/>
        <a:ea typeface="+mj-ea"/>
        <a:cs typeface="+mj-cs"/>
        <a:sym typeface="Calibri"/>
      </a:defRPr>
    </a:lvl7pPr>
    <a:lvl8pPr indent="1600200" latinLnBrk="0">
      <a:defRPr sz="1200">
        <a:latin typeface="+mj-lt"/>
        <a:ea typeface="+mj-ea"/>
        <a:cs typeface="+mj-cs"/>
        <a:sym typeface="Calibri"/>
      </a:defRPr>
    </a:lvl8pPr>
    <a:lvl9pPr indent="1828800" latinLnBrk="0">
      <a:defRPr sz="1200">
        <a:latin typeface="+mj-lt"/>
        <a:ea typeface="+mj-ea"/>
        <a:cs typeface="+mj-cs"/>
        <a:sym typeface="Calibri"/>
      </a:defRPr>
    </a:lvl9pPr>
  </p:notesStyle>
</p:notesMaster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Numero diapositiva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/Relationships>
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Testo"/>
          <p:cNvSpPr txBox="1"/>
          <p:nvPr>
            <p:ph type="title"/>
          </p:nvPr>
        </p:nvSpPr>
        <p:spPr>
          <a:xfrm>
            <a:off x="1826683" y="769937"/>
            <a:ext cx="9753601" cy="166846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 anchor="ctr"/>
          <a:lstStyle/>
          <a:p>
            <a:pPr/>
            <a:r>
              <a:t>Titolo Testo</a:t>
            </a:r>
          </a:p>
        </p:txBody>
      </p:sp>
      <p:sp>
        <p:nvSpPr>
          <p:cNvPr id="3" name="Corpo livello uno…"/>
          <p:cNvSpPr txBox="1"/>
          <p:nvPr>
            <p:ph type="body" idx="1"/>
          </p:nvPr>
        </p:nvSpPr>
        <p:spPr>
          <a:xfrm>
            <a:off x="6805083" y="2438400"/>
            <a:ext cx="4775201" cy="44196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/>
          <a:lstStyle/>
          <a:p>
            <a:pPr/>
            <a:r>
              <a:t>Corpo livello uno</a:t>
            </a:r>
          </a:p>
          <a:p>
            <a:pPr lvl="1"/>
            <a:r>
              <a:t>Corpo livello due</a:t>
            </a:r>
          </a:p>
          <a:p>
            <a:pPr lvl="2"/>
            <a:r>
              <a:t>Corpo livello tre</a:t>
            </a:r>
          </a:p>
          <a:p>
            <a:pPr lvl="3"/>
            <a:r>
              <a:t>Corpo livello quattro</a:t>
            </a:r>
          </a:p>
          <a:p>
            <a:pPr lvl="4"/>
            <a:r>
              <a:t>Corpo livello cinque</a:t>
            </a:r>
          </a:p>
        </p:txBody>
      </p:sp>
      <p:sp>
        <p:nvSpPr>
          <p:cNvPr id="4" name="Numero diapositiva"/>
          <p:cNvSpPr txBox="1"/>
          <p:nvPr>
            <p:ph type="sldNum" sz="quarter" idx="2"/>
          </p:nvPr>
        </p:nvSpPr>
        <p:spPr>
          <a:xfrm>
            <a:off x="8478978" y="6232199"/>
            <a:ext cx="258623" cy="248303"/>
          </a:xfrm>
          <a:prstGeom prst="rect">
            <a:avLst/>
          </a:prstGeom>
          <a:ln w="12700">
            <a:miter lim="400000"/>
          </a:ln>
        </p:spPr>
        <p:txBody>
          <a:bodyPr wrap="none" lIns="45718" tIns="45718" rIns="45718" bIns="45718" anchor="ctr">
            <a:spAutoFit/>
          </a:bodyPr>
          <a:lstStyle>
            <a:lvl1pPr algn="r">
              <a:defRPr sz="1200">
                <a:latin typeface="+mj-lt"/>
                <a:ea typeface="+mj-ea"/>
                <a:cs typeface="+mj-cs"/>
                <a:sym typeface="Calibri"/>
              </a:defRPr>
            </a:lvl1pPr>
          </a:lstStyle>
          <a:p>
            <a:pPr/>
            <a:fld id="{86CB4B4D-7CA3-9044-876B-883B54F8677D}" type="slidenum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</p:sldLayoutIdLst>
  <p:transition xmlns:p14="http://schemas.microsoft.com/office/powerpoint/2010/main" spd="med" advClick="1"/>
  <p:txStyles>
    <p:titleStyle>
      <a:lvl1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Calibri Light"/>
          <a:ea typeface="Calibri Light"/>
          <a:cs typeface="Calibri Light"/>
          <a:sym typeface="Calibri Light"/>
        </a:defRPr>
      </a:lvl1pPr>
      <a:lvl2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Calibri Light"/>
          <a:ea typeface="Calibri Light"/>
          <a:cs typeface="Calibri Light"/>
          <a:sym typeface="Calibri Light"/>
        </a:defRPr>
      </a:lvl2pPr>
      <a:lvl3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Calibri Light"/>
          <a:ea typeface="Calibri Light"/>
          <a:cs typeface="Calibri Light"/>
          <a:sym typeface="Calibri Light"/>
        </a:defRPr>
      </a:lvl3pPr>
      <a:lvl4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Calibri Light"/>
          <a:ea typeface="Calibri Light"/>
          <a:cs typeface="Calibri Light"/>
          <a:sym typeface="Calibri Light"/>
        </a:defRPr>
      </a:lvl4pPr>
      <a:lvl5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Calibri Light"/>
          <a:ea typeface="Calibri Light"/>
          <a:cs typeface="Calibri Light"/>
          <a:sym typeface="Calibri Light"/>
        </a:defRPr>
      </a:lvl5pPr>
      <a:lvl6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Calibri Light"/>
          <a:ea typeface="Calibri Light"/>
          <a:cs typeface="Calibri Light"/>
          <a:sym typeface="Calibri Light"/>
        </a:defRPr>
      </a:lvl6pPr>
      <a:lvl7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Calibri Light"/>
          <a:ea typeface="Calibri Light"/>
          <a:cs typeface="Calibri Light"/>
          <a:sym typeface="Calibri Light"/>
        </a:defRPr>
      </a:lvl7pPr>
      <a:lvl8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Calibri Light"/>
          <a:ea typeface="Calibri Light"/>
          <a:cs typeface="Calibri Light"/>
          <a:sym typeface="Calibri Light"/>
        </a:defRPr>
      </a:lvl8pPr>
      <a:lvl9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Calibri Light"/>
          <a:ea typeface="Calibri Light"/>
          <a:cs typeface="Calibri Light"/>
          <a:sym typeface="Calibri Light"/>
        </a:defRPr>
      </a:lvl9pPr>
    </p:titleStyle>
    <p:bodyStyle>
      <a:lvl1pPr marL="342900" marR="0" indent="-342900" algn="l" defTabSz="9144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1pPr>
      <a:lvl2pPr marL="783771" marR="0" indent="-326571" algn="l" defTabSz="9144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–"/>
        <a:tabLst/>
        <a:defRPr b="0" baseline="0" cap="none" i="0" spc="0" strike="noStrike" sz="3200" u="none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2pPr>
      <a:lvl3pPr marL="1219200" marR="0" indent="-304800" algn="l" defTabSz="9144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3pPr>
      <a:lvl4pPr marL="1737360" marR="0" indent="-365760" algn="l" defTabSz="9144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–"/>
        <a:tabLst/>
        <a:defRPr b="0" baseline="0" cap="none" i="0" spc="0" strike="noStrike" sz="3200" u="none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4pPr>
      <a:lvl5pPr marL="2194560" marR="0" indent="-365760" algn="l" defTabSz="9144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»"/>
        <a:tabLst/>
        <a:defRPr b="0" baseline="0" cap="none" i="0" spc="0" strike="noStrike" sz="3200" u="none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5pPr>
      <a:lvl6pPr marL="2651760" marR="0" indent="-365760" algn="l" defTabSz="9144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6pPr>
      <a:lvl7pPr marL="3108960" marR="0" indent="-365760" algn="l" defTabSz="9144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7pPr>
      <a:lvl8pPr marL="3566159" marR="0" indent="-365759" algn="l" defTabSz="9144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8pPr>
      <a:lvl9pPr marL="4023359" marR="0" indent="-365759" algn="l" defTabSz="9144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9pPr>
    </p:bodyStyle>
    <p:otherStyle>
      <a:lvl1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1pPr>
      <a:lvl2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2pPr>
      <a:lvl3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3pPr>
      <a:lvl4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4pPr>
      <a:lvl5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5pPr>
      <a:lvl6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6pPr>
      <a:lvl7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7pPr>
      <a:lvl8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8pPr>
      <a:lvl9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9pPr>
    </p:otherStyle>
  </p:txStyles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png"/><Relationship Id="rId6" Type="http://schemas.openxmlformats.org/officeDocument/2006/relationships/image" Target="../media/image7.png"/><Relationship Id="rId7" Type="http://schemas.openxmlformats.org/officeDocument/2006/relationships/image" Target="../media/image8.png"/><Relationship Id="rId8" Type="http://schemas.openxmlformats.org/officeDocument/2006/relationships/image" Target="../media/image9.png"/><Relationship Id="rId9" Type="http://schemas.openxmlformats.org/officeDocument/2006/relationships/image" Target="../media/image10.png"/><Relationship Id="rId10" Type="http://schemas.openxmlformats.org/officeDocument/2006/relationships/image" Target="../media/image11.png"/><Relationship Id="rId11" Type="http://schemas.openxmlformats.org/officeDocument/2006/relationships/image" Target="../media/image12.png"/><Relationship Id="rId12" Type="http://schemas.openxmlformats.org/officeDocument/2006/relationships/image" Target="../media/image13.png"/><Relationship Id="rId13" Type="http://schemas.openxmlformats.org/officeDocument/2006/relationships/image" Target="../media/image14.png"/><Relationship Id="rId14" Type="http://schemas.openxmlformats.org/officeDocument/2006/relationships/image" Target="../media/image15.png"/><Relationship Id="rId15" Type="http://schemas.openxmlformats.org/officeDocument/2006/relationships/image" Target="../media/image16.png"/><Relationship Id="rId16" Type="http://schemas.openxmlformats.org/officeDocument/2006/relationships/image" Target="../media/image17.png"/><Relationship Id="rId17" Type="http://schemas.openxmlformats.org/officeDocument/2006/relationships/image" Target="../media/image18.png"/><Relationship Id="rId18" Type="http://schemas.openxmlformats.org/officeDocument/2006/relationships/image" Target="../media/image19.png"/></Relationships>
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0.png"/><Relationship Id="rId3" Type="http://schemas.openxmlformats.org/officeDocument/2006/relationships/image" Target="../media/image21.png"/><Relationship Id="rId4" Type="http://schemas.openxmlformats.org/officeDocument/2006/relationships/image" Target="../media/image22.png"/><Relationship Id="rId5" Type="http://schemas.openxmlformats.org/officeDocument/2006/relationships/image" Target="../media/image23.png"/><Relationship Id="rId6" Type="http://schemas.openxmlformats.org/officeDocument/2006/relationships/image" Target="../media/image24.png"/><Relationship Id="rId7" Type="http://schemas.openxmlformats.org/officeDocument/2006/relationships/image" Target="../media/image25.png"/><Relationship Id="rId8" Type="http://schemas.openxmlformats.org/officeDocument/2006/relationships/image" Target="../media/image26.png"/><Relationship Id="rId9" Type="http://schemas.openxmlformats.org/officeDocument/2006/relationships/image" Target="../media/image27.png"/><Relationship Id="rId10" Type="http://schemas.openxmlformats.org/officeDocument/2006/relationships/image" Target="../media/image28.png"/><Relationship Id="rId11" Type="http://schemas.openxmlformats.org/officeDocument/2006/relationships/image" Target="../media/image29.png"/><Relationship Id="rId12" Type="http://schemas.openxmlformats.org/officeDocument/2006/relationships/image" Target="../media/image30.png"/><Relationship Id="rId13" Type="http://schemas.openxmlformats.org/officeDocument/2006/relationships/image" Target="../media/image31.png"/><Relationship Id="rId14" Type="http://schemas.openxmlformats.org/officeDocument/2006/relationships/image" Target="../media/image32.png"/><Relationship Id="rId15" Type="http://schemas.openxmlformats.org/officeDocument/2006/relationships/image" Target="../media/image33.png"/><Relationship Id="rId16" Type="http://schemas.openxmlformats.org/officeDocument/2006/relationships/image" Target="../media/image34.png"/><Relationship Id="rId17" Type="http://schemas.openxmlformats.org/officeDocument/2006/relationships/image" Target="../media/image35.png"/><Relationship Id="rId18" Type="http://schemas.openxmlformats.org/officeDocument/2006/relationships/image" Target="../media/image36.png"/><Relationship Id="rId19" Type="http://schemas.openxmlformats.org/officeDocument/2006/relationships/image" Target="../media/image37.png"/></Relationships>
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Relationship Id="rId3" Type="http://schemas.openxmlformats.org/officeDocument/2006/relationships/image" Target="../media/image38.png"/><Relationship Id="rId4" Type="http://schemas.openxmlformats.org/officeDocument/2006/relationships/image" Target="../media/image39.png"/><Relationship Id="rId5" Type="http://schemas.openxmlformats.org/officeDocument/2006/relationships/image" Target="../media/image40.png"/><Relationship Id="rId6" Type="http://schemas.openxmlformats.org/officeDocument/2006/relationships/image" Target="../media/image41.png"/><Relationship Id="rId7" Type="http://schemas.openxmlformats.org/officeDocument/2006/relationships/image" Target="../media/image42.png"/><Relationship Id="rId8" Type="http://schemas.openxmlformats.org/officeDocument/2006/relationships/image" Target="../media/image43.png"/><Relationship Id="rId9" Type="http://schemas.openxmlformats.org/officeDocument/2006/relationships/image" Target="../media/image44.png"/><Relationship Id="rId10" Type="http://schemas.openxmlformats.org/officeDocument/2006/relationships/image" Target="../media/image45.png"/><Relationship Id="rId11" Type="http://schemas.openxmlformats.org/officeDocument/2006/relationships/image" Target="../media/image46.png"/><Relationship Id="rId12" Type="http://schemas.openxmlformats.org/officeDocument/2006/relationships/image" Target="../media/image47.png"/><Relationship Id="rId13" Type="http://schemas.openxmlformats.org/officeDocument/2006/relationships/image" Target="../media/image48.png"/><Relationship Id="rId14" Type="http://schemas.openxmlformats.org/officeDocument/2006/relationships/image" Target="../media/image49.png"/><Relationship Id="rId15" Type="http://schemas.openxmlformats.org/officeDocument/2006/relationships/image" Target="../media/image50.png"/><Relationship Id="rId16" Type="http://schemas.openxmlformats.org/officeDocument/2006/relationships/image" Target="../media/image51.png"/><Relationship Id="rId17" Type="http://schemas.openxmlformats.org/officeDocument/2006/relationships/image" Target="../media/image52.png"/><Relationship Id="rId18" Type="http://schemas.openxmlformats.org/officeDocument/2006/relationships/image" Target="../media/image53.png"/><Relationship Id="rId19" Type="http://schemas.openxmlformats.org/officeDocument/2006/relationships/image" Target="../media/image54.png"/></Relationships>
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0.png"/><Relationship Id="rId3" Type="http://schemas.openxmlformats.org/officeDocument/2006/relationships/image" Target="../media/image55.png"/><Relationship Id="rId4" Type="http://schemas.openxmlformats.org/officeDocument/2006/relationships/image" Target="../media/image56.png"/><Relationship Id="rId5" Type="http://schemas.openxmlformats.org/officeDocument/2006/relationships/image" Target="../media/image57.png"/><Relationship Id="rId6" Type="http://schemas.openxmlformats.org/officeDocument/2006/relationships/image" Target="../media/image58.png"/><Relationship Id="rId7" Type="http://schemas.openxmlformats.org/officeDocument/2006/relationships/image" Target="../media/image59.png"/><Relationship Id="rId8" Type="http://schemas.openxmlformats.org/officeDocument/2006/relationships/image" Target="../media/image60.png"/><Relationship Id="rId9" Type="http://schemas.openxmlformats.org/officeDocument/2006/relationships/image" Target="../media/image61.png"/><Relationship Id="rId10" Type="http://schemas.openxmlformats.org/officeDocument/2006/relationships/image" Target="../media/image62.png"/><Relationship Id="rId11" Type="http://schemas.openxmlformats.org/officeDocument/2006/relationships/image" Target="../media/image63.png"/><Relationship Id="rId12" Type="http://schemas.openxmlformats.org/officeDocument/2006/relationships/image" Target="../media/image64.png"/><Relationship Id="rId13" Type="http://schemas.openxmlformats.org/officeDocument/2006/relationships/image" Target="../media/image65.png"/><Relationship Id="rId14" Type="http://schemas.openxmlformats.org/officeDocument/2006/relationships/image" Target="../media/image66.png"/><Relationship Id="rId15" Type="http://schemas.openxmlformats.org/officeDocument/2006/relationships/image" Target="../media/image67.png"/><Relationship Id="rId16" Type="http://schemas.openxmlformats.org/officeDocument/2006/relationships/image" Target="../media/image68.png"/><Relationship Id="rId17" Type="http://schemas.openxmlformats.org/officeDocument/2006/relationships/image" Target="../media/image69.png"/><Relationship Id="rId18" Type="http://schemas.openxmlformats.org/officeDocument/2006/relationships/image" Target="../media/image70.png"/><Relationship Id="rId19" Type="http://schemas.openxmlformats.org/officeDocument/2006/relationships/image" Target="../media/image71.png"/><Relationship Id="rId20" Type="http://schemas.openxmlformats.org/officeDocument/2006/relationships/image" Target="../media/image72.png"/><Relationship Id="rId21" Type="http://schemas.openxmlformats.org/officeDocument/2006/relationships/image" Target="../media/image73.png"/><Relationship Id="rId22" Type="http://schemas.openxmlformats.org/officeDocument/2006/relationships/image" Target="../media/image74.png"/><Relationship Id="rId23" Type="http://schemas.openxmlformats.org/officeDocument/2006/relationships/image" Target="../media/image75.png"/></Relationships>
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Relationship Id="rId3" Type="http://schemas.openxmlformats.org/officeDocument/2006/relationships/image" Target="../media/image76.png"/><Relationship Id="rId4" Type="http://schemas.openxmlformats.org/officeDocument/2006/relationships/image" Target="../media/image77.png"/><Relationship Id="rId5" Type="http://schemas.openxmlformats.org/officeDocument/2006/relationships/image" Target="../media/image78.png"/><Relationship Id="rId6" Type="http://schemas.openxmlformats.org/officeDocument/2006/relationships/image" Target="../media/image79.png"/><Relationship Id="rId7" Type="http://schemas.openxmlformats.org/officeDocument/2006/relationships/image" Target="../media/image80.png"/><Relationship Id="rId8" Type="http://schemas.openxmlformats.org/officeDocument/2006/relationships/image" Target="../media/image81.png"/><Relationship Id="rId9" Type="http://schemas.openxmlformats.org/officeDocument/2006/relationships/image" Target="../media/image82.png"/><Relationship Id="rId10" Type="http://schemas.openxmlformats.org/officeDocument/2006/relationships/image" Target="../media/image83.png"/><Relationship Id="rId11" Type="http://schemas.openxmlformats.org/officeDocument/2006/relationships/image" Target="../media/image84.png"/><Relationship Id="rId12" Type="http://schemas.openxmlformats.org/officeDocument/2006/relationships/image" Target="../media/image85.png"/><Relationship Id="rId13" Type="http://schemas.openxmlformats.org/officeDocument/2006/relationships/image" Target="../media/image86.png"/><Relationship Id="rId14" Type="http://schemas.openxmlformats.org/officeDocument/2006/relationships/image" Target="../media/image87.png"/><Relationship Id="rId15" Type="http://schemas.openxmlformats.org/officeDocument/2006/relationships/image" Target="../media/image88.png"/><Relationship Id="rId16" Type="http://schemas.openxmlformats.org/officeDocument/2006/relationships/image" Target="../media/image89.png"/><Relationship Id="rId17" Type="http://schemas.openxmlformats.org/officeDocument/2006/relationships/image" Target="../media/image90.png"/><Relationship Id="rId18" Type="http://schemas.openxmlformats.org/officeDocument/2006/relationships/image" Target="../media/image91.png"/><Relationship Id="rId19" Type="http://schemas.openxmlformats.org/officeDocument/2006/relationships/image" Target="../media/image92.png"/><Relationship Id="rId20" Type="http://schemas.openxmlformats.org/officeDocument/2006/relationships/image" Target="../media/image93.png"/><Relationship Id="rId21" Type="http://schemas.openxmlformats.org/officeDocument/2006/relationships/image" Target="../media/image94.png"/></Relationships>
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0.png"/><Relationship Id="rId3" Type="http://schemas.openxmlformats.org/officeDocument/2006/relationships/image" Target="../media/image95.png"/><Relationship Id="rId4" Type="http://schemas.openxmlformats.org/officeDocument/2006/relationships/image" Target="../media/image96.png"/><Relationship Id="rId5" Type="http://schemas.openxmlformats.org/officeDocument/2006/relationships/image" Target="../media/image97.png"/><Relationship Id="rId6" Type="http://schemas.openxmlformats.org/officeDocument/2006/relationships/image" Target="../media/image98.png"/><Relationship Id="rId7" Type="http://schemas.openxmlformats.org/officeDocument/2006/relationships/image" Target="../media/image99.png"/><Relationship Id="rId8" Type="http://schemas.openxmlformats.org/officeDocument/2006/relationships/image" Target="../media/image100.png"/><Relationship Id="rId9" Type="http://schemas.openxmlformats.org/officeDocument/2006/relationships/image" Target="../media/image101.png"/><Relationship Id="rId10" Type="http://schemas.openxmlformats.org/officeDocument/2006/relationships/image" Target="../media/image102.png"/><Relationship Id="rId11" Type="http://schemas.openxmlformats.org/officeDocument/2006/relationships/image" Target="../media/image103.png"/><Relationship Id="rId12" Type="http://schemas.openxmlformats.org/officeDocument/2006/relationships/image" Target="../media/image104.png"/></Relationships>
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05.png"/></Relationships>
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0.png"/><Relationship Id="rId3" Type="http://schemas.openxmlformats.org/officeDocument/2006/relationships/image" Target="../media/image106.png"/><Relationship Id="rId4" Type="http://schemas.openxmlformats.org/officeDocument/2006/relationships/image" Target="../media/image107.png"/><Relationship Id="rId5" Type="http://schemas.openxmlformats.org/officeDocument/2006/relationships/image" Target="../media/image108.png"/><Relationship Id="rId6" Type="http://schemas.openxmlformats.org/officeDocument/2006/relationships/image" Target="../media/image109.png"/><Relationship Id="rId7" Type="http://schemas.openxmlformats.org/officeDocument/2006/relationships/image" Target="../media/image110.png"/><Relationship Id="rId8" Type="http://schemas.openxmlformats.org/officeDocument/2006/relationships/image" Target="../media/image111.png"/><Relationship Id="rId9" Type="http://schemas.openxmlformats.org/officeDocument/2006/relationships/image" Target="../media/image112.png"/><Relationship Id="rId10" Type="http://schemas.openxmlformats.org/officeDocument/2006/relationships/image" Target="../media/image113.png"/><Relationship Id="rId11" Type="http://schemas.openxmlformats.org/officeDocument/2006/relationships/image" Target="../media/image114.png"/><Relationship Id="rId12" Type="http://schemas.openxmlformats.org/officeDocument/2006/relationships/image" Target="../media/image115.png"/><Relationship Id="rId13" Type="http://schemas.openxmlformats.org/officeDocument/2006/relationships/image" Target="../media/image116.png"/><Relationship Id="rId14" Type="http://schemas.openxmlformats.org/officeDocument/2006/relationships/image" Target="../media/image117.png"/><Relationship Id="rId15" Type="http://schemas.openxmlformats.org/officeDocument/2006/relationships/image" Target="../media/image118.png"/><Relationship Id="rId16" Type="http://schemas.openxmlformats.org/officeDocument/2006/relationships/image" Target="../media/image119.png"/><Relationship Id="rId17" Type="http://schemas.openxmlformats.org/officeDocument/2006/relationships/image" Target="../media/image120.png"/><Relationship Id="rId18" Type="http://schemas.openxmlformats.org/officeDocument/2006/relationships/image" Target="../media/image121.png"/></Relationships>
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Relationship Id="rId3" Type="http://schemas.openxmlformats.org/officeDocument/2006/relationships/image" Target="../media/image122.png"/><Relationship Id="rId4" Type="http://schemas.openxmlformats.org/officeDocument/2006/relationships/image" Target="../media/image123.png"/><Relationship Id="rId5" Type="http://schemas.openxmlformats.org/officeDocument/2006/relationships/image" Target="../media/image124.png"/><Relationship Id="rId6" Type="http://schemas.openxmlformats.org/officeDocument/2006/relationships/image" Target="../media/image125.png"/><Relationship Id="rId7" Type="http://schemas.openxmlformats.org/officeDocument/2006/relationships/image" Target="../media/image126.png"/><Relationship Id="rId8" Type="http://schemas.openxmlformats.org/officeDocument/2006/relationships/image" Target="../media/image127.png"/><Relationship Id="rId9" Type="http://schemas.openxmlformats.org/officeDocument/2006/relationships/image" Target="../media/image128.png"/><Relationship Id="rId10" Type="http://schemas.openxmlformats.org/officeDocument/2006/relationships/image" Target="../media/image129.png"/><Relationship Id="rId11" Type="http://schemas.openxmlformats.org/officeDocument/2006/relationships/image" Target="../media/image130.png"/><Relationship Id="rId12" Type="http://schemas.openxmlformats.org/officeDocument/2006/relationships/image" Target="../media/image131.png"/><Relationship Id="rId13" Type="http://schemas.openxmlformats.org/officeDocument/2006/relationships/image" Target="../media/image132.png"/><Relationship Id="rId14" Type="http://schemas.openxmlformats.org/officeDocument/2006/relationships/image" Target="../media/image133.png"/><Relationship Id="rId15" Type="http://schemas.openxmlformats.org/officeDocument/2006/relationships/image" Target="../media/image134.png"/><Relationship Id="rId16" Type="http://schemas.openxmlformats.org/officeDocument/2006/relationships/image" Target="../media/image135.png"/><Relationship Id="rId17" Type="http://schemas.openxmlformats.org/officeDocument/2006/relationships/image" Target="../media/image136.png"/><Relationship Id="rId18" Type="http://schemas.openxmlformats.org/officeDocument/2006/relationships/image" Target="../media/image137.png"/><Relationship Id="rId19" Type="http://schemas.openxmlformats.org/officeDocument/2006/relationships/image" Target="../media/image138.png"/><Relationship Id="rId20" Type="http://schemas.openxmlformats.org/officeDocument/2006/relationships/image" Target="../media/image139.png"/><Relationship Id="rId21" Type="http://schemas.openxmlformats.org/officeDocument/2006/relationships/image" Target="../media/image140.png"/><Relationship Id="rId22" Type="http://schemas.openxmlformats.org/officeDocument/2006/relationships/image" Target="../media/image141.png"/><Relationship Id="rId23" Type="http://schemas.openxmlformats.org/officeDocument/2006/relationships/image" Target="../media/image142.png"/>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Image 0" descr="Image 0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ln w="12700">
            <a:miter lim="400000"/>
          </a:ln>
        </p:spPr>
      </p:pic>
      <p:pic>
        <p:nvPicPr>
          <p:cNvPr id="21" name="Image 1" descr="Image 1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ln w="12700">
            <a:miter lim="400000"/>
          </a:ln>
        </p:spPr>
      </p:pic>
      <p:sp>
        <p:nvSpPr>
          <p:cNvPr id="22" name="Text 0"/>
          <p:cNvSpPr txBox="1"/>
          <p:nvPr/>
        </p:nvSpPr>
        <p:spPr>
          <a:xfrm>
            <a:off x="3535679" y="1971357"/>
            <a:ext cx="5120643" cy="18160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lnSpc>
                <a:spcPts val="1500"/>
              </a:lnSpc>
              <a:defRPr b="1" spc="252" sz="1000">
                <a:solidFill>
                  <a:srgbClr val="FFA500"/>
                </a:solidFill>
                <a:latin typeface="Inter"/>
                <a:ea typeface="Inter"/>
                <a:cs typeface="Inter"/>
                <a:sym typeface="Inter"/>
              </a:defRPr>
            </a:lvl1pPr>
          </a:lstStyle>
          <a:p>
            <a:pPr/>
            <a:r>
              <a:t>DISTRIBUTED SYSTEMS ARCHITECTURE</a:t>
            </a:r>
          </a:p>
        </p:txBody>
      </p:sp>
      <p:sp>
        <p:nvSpPr>
          <p:cNvPr id="23" name="Text 1"/>
          <p:cNvSpPr txBox="1"/>
          <p:nvPr/>
        </p:nvSpPr>
        <p:spPr>
          <a:xfrm>
            <a:off x="-487680" y="2386591"/>
            <a:ext cx="13167361" cy="94181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 algn="ctr">
              <a:lnSpc>
                <a:spcPts val="7200"/>
              </a:lnSpc>
              <a:defRPr b="1" spc="-288" sz="7200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defRPr>
            </a:pPr>
            <a:r>
              <a:t>NEXUS </a:t>
            </a:r>
            <a:r>
              <a:rPr>
                <a:solidFill>
                  <a:srgbClr val="FFA500"/>
                </a:solidFill>
              </a:rPr>
              <a:t>ENERGY</a:t>
            </a:r>
          </a:p>
        </p:txBody>
      </p:sp>
      <p:sp>
        <p:nvSpPr>
          <p:cNvPr id="24" name="Text 2"/>
          <p:cNvSpPr txBox="1"/>
          <p:nvPr/>
        </p:nvSpPr>
        <p:spPr>
          <a:xfrm>
            <a:off x="335278" y="3465769"/>
            <a:ext cx="11521444" cy="38366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lnSpc>
                <a:spcPts val="3000"/>
              </a:lnSpc>
              <a:defRPr spc="-54" sz="2700">
                <a:solidFill>
                  <a:srgbClr val="D3D3D3"/>
                </a:solidFill>
                <a:latin typeface="Inter"/>
                <a:ea typeface="Inter"/>
                <a:cs typeface="Inter"/>
                <a:sym typeface="Inter"/>
              </a:defRPr>
            </a:lvl1pPr>
          </a:lstStyle>
          <a:p>
            <a:pPr/>
            <a:r>
              <a:t>Distributed Service Platform</a:t>
            </a:r>
          </a:p>
        </p:txBody>
      </p:sp>
      <p:sp>
        <p:nvSpPr>
          <p:cNvPr id="25" name="Text 3"/>
          <p:cNvSpPr txBox="1"/>
          <p:nvPr/>
        </p:nvSpPr>
        <p:spPr>
          <a:xfrm>
            <a:off x="2438400" y="4318636"/>
            <a:ext cx="7315200" cy="59245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 algn="ctr">
              <a:lnSpc>
                <a:spcPts val="2400"/>
              </a:lnSpc>
              <a:defRPr sz="1500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defRPr>
            </a:pPr>
            <a:r>
              <a:t>Piattaforma full-stack per il monitoraggio e l'analisi predittiva del consumo energetico negli edifici tramite </a:t>
            </a:r>
            <a:r>
              <a:rPr b="1">
                <a:solidFill>
                  <a:srgbClr val="FFA500"/>
                </a:solidFill>
              </a:rPr>
              <a:t>Digital Energy Twin</a:t>
            </a:r>
            <a:r>
              <a:t>.</a:t>
            </a:r>
          </a:p>
        </p:txBody>
      </p:sp>
      <p:sp>
        <p:nvSpPr>
          <p:cNvPr id="26" name="Text 4"/>
          <p:cNvSpPr txBox="1"/>
          <p:nvPr/>
        </p:nvSpPr>
        <p:spPr>
          <a:xfrm>
            <a:off x="762000" y="5795645"/>
            <a:ext cx="2952452" cy="18160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ts val="1500"/>
              </a:lnSpc>
              <a:defRPr spc="84" sz="1000">
                <a:solidFill>
                  <a:srgbClr val="D3D3D3"/>
                </a:solidFill>
                <a:latin typeface="Inter"/>
                <a:ea typeface="Inter"/>
                <a:cs typeface="Inter"/>
                <a:sym typeface="Inter"/>
              </a:defRPr>
            </a:lvl1pPr>
          </a:lstStyle>
          <a:p>
            <a:pPr/>
            <a:r>
              <a:t>CORE TECHNOLOGIES</a:t>
            </a:r>
          </a:p>
        </p:txBody>
      </p:sp>
      <p:sp>
        <p:nvSpPr>
          <p:cNvPr id="27" name="Text 5"/>
          <p:cNvSpPr txBox="1"/>
          <p:nvPr/>
        </p:nvSpPr>
        <p:spPr>
          <a:xfrm>
            <a:off x="762000" y="6122735"/>
            <a:ext cx="2952452" cy="25133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ts val="2100"/>
              </a:lnSpc>
              <a:defRPr b="1" sz="1300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defRPr>
            </a:lvl1pPr>
          </a:lstStyle>
          <a:p>
            <a:pPr/>
            <a:r>
              <a:t>AI • IoT • Real-time Streaming • ELK</a:t>
            </a:r>
          </a:p>
        </p:txBody>
      </p:sp>
      <p:sp>
        <p:nvSpPr>
          <p:cNvPr id="28" name="Text 6"/>
          <p:cNvSpPr txBox="1"/>
          <p:nvPr/>
        </p:nvSpPr>
        <p:spPr>
          <a:xfrm>
            <a:off x="8750647" y="5795645"/>
            <a:ext cx="2679355" cy="18160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r">
              <a:lnSpc>
                <a:spcPts val="1500"/>
              </a:lnSpc>
              <a:defRPr spc="84" sz="1000">
                <a:solidFill>
                  <a:srgbClr val="D3D3D3"/>
                </a:solidFill>
                <a:latin typeface="Inter"/>
                <a:ea typeface="Inter"/>
                <a:cs typeface="Inter"/>
                <a:sym typeface="Inter"/>
              </a:defRPr>
            </a:lvl1pPr>
          </a:lstStyle>
          <a:p>
            <a:pPr/>
            <a:r>
              <a:t>TARGET AUDIENCE</a:t>
            </a:r>
          </a:p>
        </p:txBody>
      </p:sp>
      <p:sp>
        <p:nvSpPr>
          <p:cNvPr id="29" name="Text 7"/>
          <p:cNvSpPr txBox="1"/>
          <p:nvPr/>
        </p:nvSpPr>
        <p:spPr>
          <a:xfrm>
            <a:off x="8750647" y="6122735"/>
            <a:ext cx="2679355" cy="25133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r">
              <a:lnSpc>
                <a:spcPts val="2100"/>
              </a:lnSpc>
              <a:defRPr b="1" sz="1300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defRPr>
            </a:lvl1pPr>
          </a:lstStyle>
          <a:p>
            <a:pPr/>
            <a:r>
              <a:t>Ingegneria dei Sistemi Distribuiti</a:t>
            </a:r>
          </a:p>
        </p:txBody>
      </p:sp>
      <p:sp>
        <p:nvSpPr>
          <p:cNvPr id="30" name="Text 8"/>
          <p:cNvSpPr txBox="1"/>
          <p:nvPr/>
        </p:nvSpPr>
        <p:spPr>
          <a:xfrm>
            <a:off x="457199" y="461393"/>
            <a:ext cx="822963" cy="29641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ts val="2400"/>
              </a:lnSpc>
              <a:defRPr b="1" spc="-72">
                <a:solidFill>
                  <a:srgbClr val="FFA500"/>
                </a:solidFill>
                <a:latin typeface="Inter"/>
                <a:ea typeface="Inter"/>
                <a:cs typeface="Inter"/>
                <a:sym typeface="Inter"/>
              </a:defRPr>
            </a:lvl1pPr>
          </a:lstStyle>
          <a:p>
            <a:pPr/>
            <a:r>
              <a:t>N/E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blipFill rotWithShape="1">
          <a:blip r:embed="rId2"/>
          <a:srcRect l="0" t="0" r="0" b="0"/>
          <a:stretch>
            <a:fillRect/>
          </a:stretch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2" name="Image 0" descr="Image 0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0" y="0"/>
            <a:ext cx="12191973" cy="6858000"/>
          </a:xfrm>
          <a:prstGeom prst="rect">
            <a:avLst/>
          </a:prstGeom>
          <a:ln w="12700">
            <a:miter lim="400000"/>
          </a:ln>
        </p:spPr>
      </p:pic>
      <p:pic>
        <p:nvPicPr>
          <p:cNvPr id="33" name="Image 1" descr="Image 1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12191973" cy="804852"/>
          </a:xfrm>
          <a:prstGeom prst="rect">
            <a:avLst/>
          </a:prstGeom>
          <a:ln w="12700">
            <a:miter lim="400000"/>
          </a:ln>
        </p:spPr>
      </p:pic>
      <p:pic>
        <p:nvPicPr>
          <p:cNvPr id="34" name="Image 2" descr="Image 2"/>
          <p:cNvPicPr>
            <a:picLocks noChangeAspect="1"/>
          </p:cNvPicPr>
          <p:nvPr/>
        </p:nvPicPr>
        <p:blipFill>
          <a:blip r:embed="rId4">
            <a:extLst/>
          </a:blip>
          <a:stretch>
            <a:fillRect/>
          </a:stretch>
        </p:blipFill>
        <p:spPr>
          <a:xfrm>
            <a:off x="11445806" y="234748"/>
            <a:ext cx="343740" cy="335355"/>
          </a:xfrm>
          <a:prstGeom prst="rect">
            <a:avLst/>
          </a:prstGeom>
          <a:ln w="12700">
            <a:miter lim="400000"/>
          </a:ln>
        </p:spPr>
      </p:pic>
      <p:pic>
        <p:nvPicPr>
          <p:cNvPr id="35" name="Image 3" descr="Image 3"/>
          <p:cNvPicPr>
            <a:picLocks noChangeAspect="1"/>
          </p:cNvPicPr>
          <p:nvPr/>
        </p:nvPicPr>
        <p:blipFill>
          <a:blip r:embed="rId5">
            <a:extLst/>
          </a:blip>
          <a:stretch>
            <a:fillRect/>
          </a:stretch>
        </p:blipFill>
        <p:spPr>
          <a:xfrm>
            <a:off x="402425" y="1240810"/>
            <a:ext cx="226364" cy="201215"/>
          </a:xfrm>
          <a:prstGeom prst="rect">
            <a:avLst/>
          </a:prstGeom>
          <a:ln w="12700">
            <a:miter lim="400000"/>
          </a:ln>
        </p:spPr>
      </p:pic>
      <p:pic>
        <p:nvPicPr>
          <p:cNvPr id="36" name="Image 4" descr="Image 4"/>
          <p:cNvPicPr>
            <a:picLocks noChangeAspect="1"/>
          </p:cNvPicPr>
          <p:nvPr/>
        </p:nvPicPr>
        <p:blipFill>
          <a:blip r:embed="rId6">
            <a:extLst/>
          </a:blip>
          <a:stretch>
            <a:fillRect/>
          </a:stretch>
        </p:blipFill>
        <p:spPr>
          <a:xfrm>
            <a:off x="402425" y="2464854"/>
            <a:ext cx="5525883" cy="3672135"/>
          </a:xfrm>
          <a:prstGeom prst="rect">
            <a:avLst/>
          </a:prstGeom>
          <a:ln w="12700">
            <a:miter lim="400000"/>
          </a:ln>
        </p:spPr>
      </p:pic>
      <p:pic>
        <p:nvPicPr>
          <p:cNvPr id="37" name="Image 5" descr="Image 5"/>
          <p:cNvPicPr>
            <a:picLocks noChangeAspect="1"/>
          </p:cNvPicPr>
          <p:nvPr/>
        </p:nvPicPr>
        <p:blipFill>
          <a:blip r:embed="rId7">
            <a:extLst/>
          </a:blip>
          <a:stretch>
            <a:fillRect/>
          </a:stretch>
        </p:blipFill>
        <p:spPr>
          <a:xfrm>
            <a:off x="670709" y="3202634"/>
            <a:ext cx="285053" cy="335357"/>
          </a:xfrm>
          <a:prstGeom prst="rect">
            <a:avLst/>
          </a:prstGeom>
          <a:ln w="12700">
            <a:miter lim="400000"/>
          </a:ln>
        </p:spPr>
      </p:pic>
      <p:pic>
        <p:nvPicPr>
          <p:cNvPr id="38" name="Image 6" descr="Image 6"/>
          <p:cNvPicPr>
            <a:picLocks noChangeAspect="1"/>
          </p:cNvPicPr>
          <p:nvPr/>
        </p:nvPicPr>
        <p:blipFill>
          <a:blip r:embed="rId8">
            <a:extLst/>
          </a:blip>
          <a:stretch>
            <a:fillRect/>
          </a:stretch>
        </p:blipFill>
        <p:spPr>
          <a:xfrm>
            <a:off x="737780" y="3303242"/>
            <a:ext cx="150912" cy="134144"/>
          </a:xfrm>
          <a:prstGeom prst="rect">
            <a:avLst/>
          </a:prstGeom>
          <a:ln w="12700">
            <a:miter lim="400000"/>
          </a:ln>
        </p:spPr>
      </p:pic>
      <p:pic>
        <p:nvPicPr>
          <p:cNvPr id="39" name="Image 7" descr="Image 7"/>
          <p:cNvPicPr>
            <a:picLocks noChangeAspect="1"/>
          </p:cNvPicPr>
          <p:nvPr/>
        </p:nvPicPr>
        <p:blipFill>
          <a:blip r:embed="rId9">
            <a:extLst/>
          </a:blip>
          <a:stretch>
            <a:fillRect/>
          </a:stretch>
        </p:blipFill>
        <p:spPr>
          <a:xfrm>
            <a:off x="670709" y="3806273"/>
            <a:ext cx="268286" cy="335357"/>
          </a:xfrm>
          <a:prstGeom prst="rect">
            <a:avLst/>
          </a:prstGeom>
          <a:ln w="12700">
            <a:miter lim="400000"/>
          </a:ln>
        </p:spPr>
      </p:pic>
      <p:pic>
        <p:nvPicPr>
          <p:cNvPr id="40" name="Image 8" descr="Image 8"/>
          <p:cNvPicPr>
            <a:picLocks noChangeAspect="1"/>
          </p:cNvPicPr>
          <p:nvPr/>
        </p:nvPicPr>
        <p:blipFill>
          <a:blip r:embed="rId10">
            <a:extLst/>
          </a:blip>
          <a:stretch>
            <a:fillRect/>
          </a:stretch>
        </p:blipFill>
        <p:spPr>
          <a:xfrm>
            <a:off x="737780" y="3906880"/>
            <a:ext cx="134144" cy="134144"/>
          </a:xfrm>
          <a:prstGeom prst="rect">
            <a:avLst/>
          </a:prstGeom>
          <a:ln w="12700">
            <a:miter lim="400000"/>
          </a:ln>
        </p:spPr>
      </p:pic>
      <p:pic>
        <p:nvPicPr>
          <p:cNvPr id="41" name="Image 9" descr="Image 9"/>
          <p:cNvPicPr>
            <a:picLocks noChangeAspect="1"/>
          </p:cNvPicPr>
          <p:nvPr/>
        </p:nvPicPr>
        <p:blipFill>
          <a:blip r:embed="rId11">
            <a:extLst/>
          </a:blip>
          <a:stretch>
            <a:fillRect/>
          </a:stretch>
        </p:blipFill>
        <p:spPr>
          <a:xfrm>
            <a:off x="670709" y="4409911"/>
            <a:ext cx="251518" cy="335357"/>
          </a:xfrm>
          <a:prstGeom prst="rect">
            <a:avLst/>
          </a:prstGeom>
          <a:ln w="12700">
            <a:miter lim="400000"/>
          </a:ln>
        </p:spPr>
      </p:pic>
      <p:pic>
        <p:nvPicPr>
          <p:cNvPr id="42" name="Image 10" descr="Image 10"/>
          <p:cNvPicPr>
            <a:picLocks noChangeAspect="1"/>
          </p:cNvPicPr>
          <p:nvPr/>
        </p:nvPicPr>
        <p:blipFill>
          <a:blip r:embed="rId12">
            <a:extLst/>
          </a:blip>
          <a:stretch>
            <a:fillRect/>
          </a:stretch>
        </p:blipFill>
        <p:spPr>
          <a:xfrm>
            <a:off x="737780" y="4510518"/>
            <a:ext cx="117376" cy="134144"/>
          </a:xfrm>
          <a:prstGeom prst="rect">
            <a:avLst/>
          </a:prstGeom>
          <a:ln w="12700">
            <a:miter lim="400000"/>
          </a:ln>
        </p:spPr>
      </p:pic>
      <p:pic>
        <p:nvPicPr>
          <p:cNvPr id="43" name="Image 11" descr="Image 11"/>
          <p:cNvPicPr>
            <a:picLocks noChangeAspect="1"/>
          </p:cNvPicPr>
          <p:nvPr/>
        </p:nvPicPr>
        <p:blipFill>
          <a:blip r:embed="rId13">
            <a:extLst/>
          </a:blip>
          <a:stretch>
            <a:fillRect/>
          </a:stretch>
        </p:blipFill>
        <p:spPr>
          <a:xfrm>
            <a:off x="6263663" y="2464854"/>
            <a:ext cx="5525883" cy="3672135"/>
          </a:xfrm>
          <a:prstGeom prst="rect">
            <a:avLst/>
          </a:prstGeom>
          <a:ln w="12700">
            <a:miter lim="400000"/>
          </a:ln>
        </p:spPr>
      </p:pic>
      <p:pic>
        <p:nvPicPr>
          <p:cNvPr id="44" name="Image 12" descr="Image 12"/>
          <p:cNvPicPr>
            <a:picLocks noChangeAspect="1"/>
          </p:cNvPicPr>
          <p:nvPr/>
        </p:nvPicPr>
        <p:blipFill>
          <a:blip r:embed="rId14">
            <a:extLst/>
          </a:blip>
          <a:stretch>
            <a:fillRect/>
          </a:stretch>
        </p:blipFill>
        <p:spPr>
          <a:xfrm>
            <a:off x="6531947" y="3751779"/>
            <a:ext cx="4989315" cy="603640"/>
          </a:xfrm>
          <a:prstGeom prst="rect">
            <a:avLst/>
          </a:prstGeom>
          <a:ln w="12700">
            <a:miter lim="400000"/>
          </a:ln>
        </p:spPr>
      </p:pic>
      <p:pic>
        <p:nvPicPr>
          <p:cNvPr id="45" name="Image 13" descr="Image 13"/>
          <p:cNvPicPr>
            <a:picLocks noChangeAspect="1"/>
          </p:cNvPicPr>
          <p:nvPr/>
        </p:nvPicPr>
        <p:blipFill>
          <a:blip r:embed="rId15">
            <a:extLst/>
          </a:blip>
          <a:stretch>
            <a:fillRect/>
          </a:stretch>
        </p:blipFill>
        <p:spPr>
          <a:xfrm>
            <a:off x="6531947" y="4489558"/>
            <a:ext cx="4989315" cy="603640"/>
          </a:xfrm>
          <a:prstGeom prst="rect">
            <a:avLst/>
          </a:prstGeom>
          <a:ln w="12700">
            <a:miter lim="400000"/>
          </a:ln>
        </p:spPr>
      </p:pic>
      <p:pic>
        <p:nvPicPr>
          <p:cNvPr id="46" name="Image 14" descr="Image 14"/>
          <p:cNvPicPr>
            <a:picLocks noChangeAspect="1"/>
          </p:cNvPicPr>
          <p:nvPr/>
        </p:nvPicPr>
        <p:blipFill>
          <a:blip r:embed="rId16">
            <a:extLst/>
          </a:blip>
          <a:stretch>
            <a:fillRect/>
          </a:stretch>
        </p:blipFill>
        <p:spPr>
          <a:xfrm>
            <a:off x="6531947" y="5227337"/>
            <a:ext cx="4989315" cy="603640"/>
          </a:xfrm>
          <a:prstGeom prst="rect">
            <a:avLst/>
          </a:prstGeom>
          <a:ln w="12700">
            <a:miter lim="400000"/>
          </a:ln>
        </p:spPr>
      </p:pic>
      <p:pic>
        <p:nvPicPr>
          <p:cNvPr id="47" name="Image 15" descr="Image 15"/>
          <p:cNvPicPr>
            <a:picLocks noChangeAspect="1"/>
          </p:cNvPicPr>
          <p:nvPr/>
        </p:nvPicPr>
        <p:blipFill>
          <a:blip r:embed="rId17">
            <a:extLst/>
          </a:blip>
          <a:stretch>
            <a:fillRect/>
          </a:stretch>
        </p:blipFill>
        <p:spPr>
          <a:xfrm>
            <a:off x="11051764" y="5399208"/>
            <a:ext cx="1073136" cy="1073136"/>
          </a:xfrm>
          <a:prstGeom prst="rect">
            <a:avLst/>
          </a:prstGeom>
          <a:ln w="12700">
            <a:miter lim="400000"/>
          </a:ln>
        </p:spPr>
      </p:pic>
      <p:pic>
        <p:nvPicPr>
          <p:cNvPr id="48" name="Image 16" descr="Image 16"/>
          <p:cNvPicPr>
            <a:picLocks noChangeAspect="1"/>
          </p:cNvPicPr>
          <p:nvPr/>
        </p:nvPicPr>
        <p:blipFill>
          <a:blip r:embed="rId18">
            <a:extLst/>
          </a:blip>
          <a:stretch>
            <a:fillRect/>
          </a:stretch>
        </p:blipFill>
        <p:spPr>
          <a:xfrm>
            <a:off x="402425" y="6405271"/>
            <a:ext cx="11387120" cy="402427"/>
          </a:xfrm>
          <a:prstGeom prst="rect">
            <a:avLst/>
          </a:prstGeom>
          <a:ln w="12700">
            <a:miter lim="400000"/>
          </a:ln>
        </p:spPr>
      </p:pic>
      <p:sp>
        <p:nvSpPr>
          <p:cNvPr id="49" name="Text 0"/>
          <p:cNvSpPr txBox="1"/>
          <p:nvPr/>
        </p:nvSpPr>
        <p:spPr>
          <a:xfrm>
            <a:off x="402424" y="169618"/>
            <a:ext cx="15323172" cy="2979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ts val="2300"/>
              </a:lnSpc>
              <a:defRPr b="1" spc="-51" sz="2200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defRPr>
            </a:lvl1pPr>
          </a:lstStyle>
          <a:p>
            <a:pPr/>
            <a:r>
              <a:t>02. Introduzione e Digital Energy Twin</a:t>
            </a:r>
          </a:p>
        </p:txBody>
      </p:sp>
      <p:sp>
        <p:nvSpPr>
          <p:cNvPr id="50" name="Text 1"/>
          <p:cNvSpPr txBox="1"/>
          <p:nvPr/>
        </p:nvSpPr>
        <p:spPr>
          <a:xfrm>
            <a:off x="402423" y="472689"/>
            <a:ext cx="5817636" cy="16128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ts val="1300"/>
              </a:lnSpc>
              <a:defRPr spc="95" sz="1000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defRPr>
            </a:lvl1pPr>
          </a:lstStyle>
          <a:p>
            <a:pPr/>
            <a:r>
              <a:t>NEXUS ENERGY DISTRIBUTED SERVICE</a:t>
            </a:r>
          </a:p>
        </p:txBody>
      </p:sp>
      <p:sp>
        <p:nvSpPr>
          <p:cNvPr id="51" name="Text 2"/>
          <p:cNvSpPr txBox="1"/>
          <p:nvPr/>
        </p:nvSpPr>
        <p:spPr>
          <a:xfrm>
            <a:off x="729395" y="1212831"/>
            <a:ext cx="11387123" cy="25717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ts val="2100"/>
              </a:lnSpc>
              <a:defRPr b="1" sz="1500">
                <a:solidFill>
                  <a:srgbClr val="006400"/>
                </a:solidFill>
                <a:latin typeface="Inter"/>
                <a:ea typeface="Inter"/>
                <a:cs typeface="Inter"/>
                <a:sym typeface="Inter"/>
              </a:defRPr>
            </a:lvl1pPr>
          </a:lstStyle>
          <a:p>
            <a:pPr/>
            <a:r>
              <a:t>Visione del Progetto</a:t>
            </a:r>
          </a:p>
        </p:txBody>
      </p:sp>
      <p:sp>
        <p:nvSpPr>
          <p:cNvPr id="52" name="Text 3"/>
          <p:cNvSpPr txBox="1"/>
          <p:nvPr/>
        </p:nvSpPr>
        <p:spPr>
          <a:xfrm>
            <a:off x="402425" y="1722301"/>
            <a:ext cx="8585076" cy="46646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lnSpc>
                <a:spcPts val="1900"/>
              </a:lnSpc>
              <a:defRPr sz="1100">
                <a:solidFill>
                  <a:srgbClr val="374151"/>
                </a:solidFill>
                <a:latin typeface="Inter"/>
                <a:ea typeface="Inter"/>
                <a:cs typeface="Inter"/>
                <a:sym typeface="Inter"/>
              </a:defRPr>
            </a:pPr>
            <a:r>
              <a:t>Nexus Energy è una piattaforma </a:t>
            </a:r>
            <a:r>
              <a:rPr b="1"/>
              <a:t>full-stack distribuita</a:t>
            </a:r>
            <a:r>
              <a:t> progettata per il monitoraggio e l’analisi predittiva del consumo energetico negli edifici. Integra tecnologie eterogenee in un'architettura pronta per la produzione, scalabile e resiliente.</a:t>
            </a:r>
          </a:p>
        </p:txBody>
      </p:sp>
      <p:sp>
        <p:nvSpPr>
          <p:cNvPr id="53" name="Text 4"/>
          <p:cNvSpPr txBox="1"/>
          <p:nvPr/>
        </p:nvSpPr>
        <p:spPr>
          <a:xfrm>
            <a:off x="670708" y="2740088"/>
            <a:ext cx="4989319" cy="22085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ts val="1800"/>
              </a:lnSpc>
              <a:defRPr b="1" spc="30" sz="1300">
                <a:solidFill>
                  <a:srgbClr val="006400"/>
                </a:solidFill>
                <a:latin typeface="Inter"/>
                <a:ea typeface="Inter"/>
                <a:cs typeface="Inter"/>
                <a:sym typeface="Inter"/>
              </a:defRPr>
            </a:lvl1pPr>
          </a:lstStyle>
          <a:p>
            <a:pPr/>
            <a:r>
              <a:t>OBIETTIVI DI SISTEMA</a:t>
            </a:r>
          </a:p>
        </p:txBody>
      </p:sp>
      <p:sp>
        <p:nvSpPr>
          <p:cNvPr id="54" name="Text 5"/>
          <p:cNvSpPr txBox="1"/>
          <p:nvPr/>
        </p:nvSpPr>
        <p:spPr>
          <a:xfrm>
            <a:off x="1089901" y="3178902"/>
            <a:ext cx="4389123" cy="18160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ts val="1500"/>
              </a:lnSpc>
              <a:defRPr b="1" sz="1000">
                <a:latin typeface="Inter"/>
                <a:ea typeface="Inter"/>
                <a:cs typeface="Inter"/>
                <a:sym typeface="Inter"/>
              </a:defRPr>
            </a:lvl1pPr>
          </a:lstStyle>
          <a:p>
            <a:pPr/>
            <a:r>
              <a:t>Integrazione Tecnologica</a:t>
            </a:r>
          </a:p>
        </p:txBody>
      </p:sp>
      <p:sp>
        <p:nvSpPr>
          <p:cNvPr id="55" name="Text 6"/>
          <p:cNvSpPr txBox="1"/>
          <p:nvPr/>
        </p:nvSpPr>
        <p:spPr>
          <a:xfrm>
            <a:off x="1089900" y="3395926"/>
            <a:ext cx="11521444" cy="15836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ts val="1300"/>
              </a:lnSpc>
              <a:defRPr i="1" sz="900">
                <a:solidFill>
                  <a:srgbClr val="4B5563"/>
                </a:solidFill>
                <a:latin typeface="Inter"/>
                <a:ea typeface="Inter"/>
                <a:cs typeface="Inter"/>
                <a:sym typeface="Inter"/>
              </a:defRPr>
            </a:lvl1pPr>
          </a:lstStyle>
          <a:p>
            <a:pPr/>
            <a:r>
              <a:t>Frontend, Backend, AI, Messaging e Osservabilità in un unico ecosistema.</a:t>
            </a:r>
          </a:p>
        </p:txBody>
      </p:sp>
      <p:sp>
        <p:nvSpPr>
          <p:cNvPr id="56" name="Text 7"/>
          <p:cNvSpPr txBox="1"/>
          <p:nvPr/>
        </p:nvSpPr>
        <p:spPr>
          <a:xfrm>
            <a:off x="1073134" y="3782540"/>
            <a:ext cx="4330921" cy="18160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ts val="1500"/>
              </a:lnSpc>
              <a:defRPr b="1" sz="1000">
                <a:latin typeface="Inter"/>
                <a:ea typeface="Inter"/>
                <a:cs typeface="Inter"/>
                <a:sym typeface="Inter"/>
              </a:defRPr>
            </a:lvl1pPr>
          </a:lstStyle>
          <a:p>
            <a:pPr/>
            <a:r>
              <a:t>Produzione Pronta</a:t>
            </a:r>
          </a:p>
        </p:txBody>
      </p:sp>
      <p:sp>
        <p:nvSpPr>
          <p:cNvPr id="57" name="Text 8"/>
          <p:cNvSpPr txBox="1"/>
          <p:nvPr/>
        </p:nvSpPr>
        <p:spPr>
          <a:xfrm>
            <a:off x="1073133" y="3999565"/>
            <a:ext cx="12961623" cy="15836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ts val="1300"/>
              </a:lnSpc>
              <a:defRPr i="1" sz="900">
                <a:solidFill>
                  <a:srgbClr val="4B5563"/>
                </a:solidFill>
                <a:latin typeface="Inter"/>
                <a:ea typeface="Inter"/>
                <a:cs typeface="Inter"/>
                <a:sym typeface="Inter"/>
              </a:defRPr>
            </a:lvl1pPr>
          </a:lstStyle>
          <a:p>
            <a:pPr/>
            <a:r>
              <a:t>Gestione di errori, sicurezza JWT, logging centralizzato e pattern di resilienza.</a:t>
            </a:r>
          </a:p>
        </p:txBody>
      </p:sp>
      <p:sp>
        <p:nvSpPr>
          <p:cNvPr id="58" name="Text 9"/>
          <p:cNvSpPr txBox="1"/>
          <p:nvPr/>
        </p:nvSpPr>
        <p:spPr>
          <a:xfrm>
            <a:off x="1056366" y="4386178"/>
            <a:ext cx="3532489" cy="18160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ts val="1500"/>
              </a:lnSpc>
              <a:defRPr b="1" sz="1000">
                <a:latin typeface="Inter"/>
                <a:ea typeface="Inter"/>
                <a:cs typeface="Inter"/>
                <a:sym typeface="Inter"/>
              </a:defRPr>
            </a:lvl1pPr>
          </a:lstStyle>
          <a:p>
            <a:pPr/>
            <a:r>
              <a:t>Real-time Analytics</a:t>
            </a:r>
          </a:p>
        </p:txBody>
      </p:sp>
      <p:sp>
        <p:nvSpPr>
          <p:cNvPr id="59" name="Text 10"/>
          <p:cNvSpPr txBox="1"/>
          <p:nvPr/>
        </p:nvSpPr>
        <p:spPr>
          <a:xfrm>
            <a:off x="1056366" y="4603203"/>
            <a:ext cx="10241282" cy="15836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ts val="1300"/>
              </a:lnSpc>
              <a:defRPr i="1" sz="900">
                <a:solidFill>
                  <a:srgbClr val="4B5563"/>
                </a:solidFill>
                <a:latin typeface="Inter"/>
                <a:ea typeface="Inter"/>
                <a:cs typeface="Inter"/>
                <a:sym typeface="Inter"/>
              </a:defRPr>
            </a:lvl1pPr>
          </a:lstStyle>
          <a:p>
            <a:pPr/>
            <a:r>
              <a:t>Streaming di dati tramite SSE e notifiche immediate di anomalie.</a:t>
            </a:r>
          </a:p>
        </p:txBody>
      </p:sp>
      <p:sp>
        <p:nvSpPr>
          <p:cNvPr id="60" name="Text 11"/>
          <p:cNvSpPr txBox="1"/>
          <p:nvPr/>
        </p:nvSpPr>
        <p:spPr>
          <a:xfrm>
            <a:off x="6531946" y="2740088"/>
            <a:ext cx="5029203" cy="22085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ts val="1800"/>
              </a:lnSpc>
              <a:defRPr b="1" spc="30" sz="1300">
                <a:solidFill>
                  <a:srgbClr val="FFA500"/>
                </a:solidFill>
                <a:latin typeface="Inter"/>
                <a:ea typeface="Inter"/>
                <a:cs typeface="Inter"/>
                <a:sym typeface="Inter"/>
              </a:defRPr>
            </a:lvl1pPr>
          </a:lstStyle>
          <a:p>
            <a:pPr/>
            <a:r>
              <a:t>IL DIGITAL ENERGY TWIN</a:t>
            </a:r>
          </a:p>
        </p:txBody>
      </p:sp>
      <p:sp>
        <p:nvSpPr>
          <p:cNvPr id="61" name="Text 12"/>
          <p:cNvSpPr txBox="1"/>
          <p:nvPr/>
        </p:nvSpPr>
        <p:spPr>
          <a:xfrm>
            <a:off x="6531947" y="3175238"/>
            <a:ext cx="4989315" cy="36918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lnSpc>
                <a:spcPts val="1500"/>
              </a:lnSpc>
              <a:defRPr sz="900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defRPr>
            </a:pPr>
            <a:r>
              <a:t>Il cuore pulsante di Nexus Energy è il </a:t>
            </a:r>
            <a:r>
              <a:rPr b="1"/>
              <a:t>Digital Twin</a:t>
            </a:r>
            <a:r>
              <a:t>: una rappresentazione virtuale neurale che modella il comportamento energetico dell'edificio.</a:t>
            </a:r>
          </a:p>
        </p:txBody>
      </p:sp>
      <p:sp>
        <p:nvSpPr>
          <p:cNvPr id="62" name="Text 13"/>
          <p:cNvSpPr txBox="1"/>
          <p:nvPr/>
        </p:nvSpPr>
        <p:spPr>
          <a:xfrm>
            <a:off x="6666086" y="3889492"/>
            <a:ext cx="4704266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ts val="1000"/>
              </a:lnSpc>
              <a:defRPr b="1" sz="700">
                <a:solidFill>
                  <a:srgbClr val="FFA500"/>
                </a:solidFill>
                <a:latin typeface="Inter"/>
                <a:ea typeface="Inter"/>
                <a:cs typeface="Inter"/>
                <a:sym typeface="Inter"/>
              </a:defRPr>
            </a:lvl1pPr>
          </a:lstStyle>
          <a:p>
            <a:pPr/>
            <a:r>
              <a:t>MODELLO NEURALE</a:t>
            </a:r>
          </a:p>
        </p:txBody>
      </p:sp>
      <p:sp>
        <p:nvSpPr>
          <p:cNvPr id="63" name="Text 14"/>
          <p:cNvSpPr txBox="1"/>
          <p:nvPr/>
        </p:nvSpPr>
        <p:spPr>
          <a:xfrm>
            <a:off x="6666087" y="4058253"/>
            <a:ext cx="10081261" cy="15836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lnSpc>
                <a:spcPts val="1300"/>
              </a:lnSpc>
              <a:defRPr sz="900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defRPr>
            </a:pPr>
            <a:r>
              <a:t>Architettura </a:t>
            </a:r>
            <a:r>
              <a:rPr b="1"/>
              <a:t>LSTM</a:t>
            </a:r>
            <a:r>
              <a:t> (Long Short-Term Memory) per serie temporali.</a:t>
            </a:r>
          </a:p>
        </p:txBody>
      </p:sp>
      <p:sp>
        <p:nvSpPr>
          <p:cNvPr id="64" name="Text 15"/>
          <p:cNvSpPr txBox="1"/>
          <p:nvPr/>
        </p:nvSpPr>
        <p:spPr>
          <a:xfrm>
            <a:off x="6666086" y="4627271"/>
            <a:ext cx="4704266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ts val="1000"/>
              </a:lnSpc>
              <a:defRPr b="1" sz="700">
                <a:solidFill>
                  <a:srgbClr val="FFA500"/>
                </a:solidFill>
                <a:latin typeface="Inter"/>
                <a:ea typeface="Inter"/>
                <a:cs typeface="Inter"/>
                <a:sym typeface="Inter"/>
              </a:defRPr>
            </a:lvl1pPr>
          </a:lstStyle>
          <a:p>
            <a:pPr/>
            <a:r>
              <a:t>INPUT DATASET (KAGGLE)</a:t>
            </a:r>
          </a:p>
        </p:txBody>
      </p:sp>
      <p:sp>
        <p:nvSpPr>
          <p:cNvPr id="65" name="Text 16"/>
          <p:cNvSpPr txBox="1"/>
          <p:nvPr/>
        </p:nvSpPr>
        <p:spPr>
          <a:xfrm>
            <a:off x="6666086" y="4796032"/>
            <a:ext cx="8961123" cy="15836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ts val="1300"/>
              </a:lnSpc>
              <a:defRPr i="1" sz="900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defRPr>
            </a:lvl1pPr>
          </a:lstStyle>
          <a:p>
            <a:pPr/>
            <a:r>
              <a:t>Temperatura, Umidità, Occupazione, HVAC e Illuminazione.</a:t>
            </a:r>
          </a:p>
        </p:txBody>
      </p:sp>
      <p:sp>
        <p:nvSpPr>
          <p:cNvPr id="66" name="Text 17"/>
          <p:cNvSpPr txBox="1"/>
          <p:nvPr/>
        </p:nvSpPr>
        <p:spPr>
          <a:xfrm>
            <a:off x="6666086" y="5365050"/>
            <a:ext cx="4704266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ts val="1000"/>
              </a:lnSpc>
              <a:defRPr b="1" sz="700">
                <a:solidFill>
                  <a:srgbClr val="FFA500"/>
                </a:solidFill>
                <a:latin typeface="Inter"/>
                <a:ea typeface="Inter"/>
                <a:cs typeface="Inter"/>
                <a:sym typeface="Inter"/>
              </a:defRPr>
            </a:lvl1pPr>
          </a:lstStyle>
          <a:p>
            <a:pPr/>
            <a:r>
              <a:t>RILEVAMENTO ANOMALIE</a:t>
            </a:r>
          </a:p>
        </p:txBody>
      </p:sp>
      <p:sp>
        <p:nvSpPr>
          <p:cNvPr id="67" name="Text 18"/>
          <p:cNvSpPr txBox="1"/>
          <p:nvPr/>
        </p:nvSpPr>
        <p:spPr>
          <a:xfrm>
            <a:off x="6666086" y="5533812"/>
            <a:ext cx="12321542" cy="15836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lnSpc>
                <a:spcPts val="1300"/>
              </a:lnSpc>
              <a:defRPr sz="900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defRPr>
            </a:pPr>
            <a:r>
              <a:t>Confronto continuo tra </a:t>
            </a:r>
            <a:r>
              <a:rPr b="1"/>
              <a:t>Predizione vs Dati Reali</a:t>
            </a:r>
            <a:r>
              <a:t> per individuare inefficienze.</a:t>
            </a:r>
          </a:p>
        </p:txBody>
      </p:sp>
      <p:sp>
        <p:nvSpPr>
          <p:cNvPr id="68" name="Text 19"/>
          <p:cNvSpPr txBox="1"/>
          <p:nvPr/>
        </p:nvSpPr>
        <p:spPr>
          <a:xfrm>
            <a:off x="402425" y="6610056"/>
            <a:ext cx="3480875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ts val="1000"/>
              </a:lnSpc>
              <a:defRPr sz="700">
                <a:solidFill>
                  <a:srgbClr val="9CA3AF"/>
                </a:solidFill>
                <a:latin typeface="Inter"/>
                <a:ea typeface="Inter"/>
                <a:cs typeface="Inter"/>
                <a:sym typeface="Inter"/>
              </a:defRPr>
            </a:lvl1pPr>
          </a:lstStyle>
          <a:p>
            <a:pPr/>
            <a:r>
              <a:t>Dataset: Energy Consumption Prediction (Synthetic real-world emulation)</a:t>
            </a:r>
          </a:p>
        </p:txBody>
      </p:sp>
      <p:sp>
        <p:nvSpPr>
          <p:cNvPr id="69" name="Text 20"/>
          <p:cNvSpPr txBox="1"/>
          <p:nvPr/>
        </p:nvSpPr>
        <p:spPr>
          <a:xfrm>
            <a:off x="9869771" y="6610054"/>
            <a:ext cx="5486402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ts val="1000"/>
              </a:lnSpc>
              <a:defRPr b="1" i="1" sz="700">
                <a:solidFill>
                  <a:srgbClr val="006400"/>
                </a:solidFill>
                <a:latin typeface="Inter"/>
                <a:ea typeface="Inter"/>
                <a:cs typeface="Inter"/>
                <a:sym typeface="Inter"/>
              </a:defRPr>
            </a:lvl1pPr>
          </a:lstStyle>
          <a:p>
            <a:pPr/>
            <a:r>
              <a:t>Nexus Energy: Scalability &amp; Intelligence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blipFill rotWithShape="1">
          <a:blip r:embed="rId2"/>
          <a:srcRect l="0" t="0" r="0" b="0"/>
          <a:stretch>
            <a:fillRect/>
          </a:stretch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1" name="Image 0" descr="Image 0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ln w="12700">
            <a:miter lim="400000"/>
          </a:ln>
        </p:spPr>
      </p:pic>
      <p:pic>
        <p:nvPicPr>
          <p:cNvPr id="72" name="Image 1" descr="Image 1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381000" y="381000"/>
            <a:ext cx="11430000" cy="723900"/>
          </a:xfrm>
          <a:prstGeom prst="rect">
            <a:avLst/>
          </a:prstGeom>
          <a:ln w="12700">
            <a:miter lim="400000"/>
          </a:ln>
        </p:spPr>
      </p:pic>
      <p:pic>
        <p:nvPicPr>
          <p:cNvPr id="73" name="Image 2" descr="Image 2"/>
          <p:cNvPicPr>
            <a:picLocks noChangeAspect="1"/>
          </p:cNvPicPr>
          <p:nvPr/>
        </p:nvPicPr>
        <p:blipFill>
          <a:blip r:embed="rId4">
            <a:extLst/>
          </a:blip>
          <a:stretch>
            <a:fillRect/>
          </a:stretch>
        </p:blipFill>
        <p:spPr>
          <a:xfrm>
            <a:off x="381000" y="1485900"/>
            <a:ext cx="3606702" cy="2314575"/>
          </a:xfrm>
          <a:prstGeom prst="rect">
            <a:avLst/>
          </a:prstGeom>
          <a:ln w="12700">
            <a:miter lim="400000"/>
          </a:ln>
        </p:spPr>
      </p:pic>
      <p:pic>
        <p:nvPicPr>
          <p:cNvPr id="74" name="Image 3" descr="Image 3"/>
          <p:cNvPicPr>
            <a:picLocks noChangeAspect="1"/>
          </p:cNvPicPr>
          <p:nvPr/>
        </p:nvPicPr>
        <p:blipFill>
          <a:blip r:embed="rId5">
            <a:extLst/>
          </a:blip>
          <a:stretch>
            <a:fillRect/>
          </a:stretch>
        </p:blipFill>
        <p:spPr>
          <a:xfrm>
            <a:off x="609600" y="1752600"/>
            <a:ext cx="219075" cy="190500"/>
          </a:xfrm>
          <a:prstGeom prst="rect">
            <a:avLst/>
          </a:prstGeom>
          <a:ln w="12700">
            <a:miter lim="400000"/>
          </a:ln>
        </p:spPr>
      </p:pic>
      <p:pic>
        <p:nvPicPr>
          <p:cNvPr id="75" name="Image 4" descr="Image 4"/>
          <p:cNvPicPr>
            <a:picLocks noChangeAspect="1"/>
          </p:cNvPicPr>
          <p:nvPr/>
        </p:nvPicPr>
        <p:blipFill>
          <a:blip r:embed="rId6">
            <a:extLst/>
          </a:blip>
          <a:stretch>
            <a:fillRect/>
          </a:stretch>
        </p:blipFill>
        <p:spPr>
          <a:xfrm>
            <a:off x="4292501" y="1485900"/>
            <a:ext cx="7518501" cy="2314575"/>
          </a:xfrm>
          <a:prstGeom prst="rect">
            <a:avLst/>
          </a:prstGeom>
          <a:ln w="12700">
            <a:miter lim="400000"/>
          </a:ln>
        </p:spPr>
      </p:pic>
      <p:pic>
        <p:nvPicPr>
          <p:cNvPr id="76" name="Image 5" descr="Image 5"/>
          <p:cNvPicPr>
            <a:picLocks noChangeAspect="1"/>
          </p:cNvPicPr>
          <p:nvPr/>
        </p:nvPicPr>
        <p:blipFill>
          <a:blip r:embed="rId7">
            <a:extLst/>
          </a:blip>
          <a:stretch>
            <a:fillRect/>
          </a:stretch>
        </p:blipFill>
        <p:spPr>
          <a:xfrm>
            <a:off x="4483001" y="2105025"/>
            <a:ext cx="1665389" cy="1495425"/>
          </a:xfrm>
          <a:prstGeom prst="rect">
            <a:avLst/>
          </a:prstGeom>
          <a:ln w="12700">
            <a:miter lim="400000"/>
          </a:ln>
        </p:spPr>
      </p:pic>
      <p:pic>
        <p:nvPicPr>
          <p:cNvPr id="77" name="Image 6" descr="Image 6"/>
          <p:cNvPicPr>
            <a:picLocks noChangeAspect="1"/>
          </p:cNvPicPr>
          <p:nvPr/>
        </p:nvPicPr>
        <p:blipFill>
          <a:blip r:embed="rId8">
            <a:extLst/>
          </a:blip>
          <a:stretch>
            <a:fillRect/>
          </a:stretch>
        </p:blipFill>
        <p:spPr>
          <a:xfrm>
            <a:off x="5201394" y="2333625"/>
            <a:ext cx="228602" cy="304800"/>
          </a:xfrm>
          <a:prstGeom prst="rect">
            <a:avLst/>
          </a:prstGeom>
          <a:ln w="12700">
            <a:miter lim="400000"/>
          </a:ln>
        </p:spPr>
      </p:pic>
      <p:pic>
        <p:nvPicPr>
          <p:cNvPr id="78" name="Image 7" descr="Image 7"/>
          <p:cNvPicPr>
            <a:picLocks noChangeAspect="1"/>
          </p:cNvPicPr>
          <p:nvPr/>
        </p:nvPicPr>
        <p:blipFill>
          <a:blip r:embed="rId9">
            <a:extLst/>
          </a:blip>
          <a:stretch>
            <a:fillRect/>
          </a:stretch>
        </p:blipFill>
        <p:spPr>
          <a:xfrm>
            <a:off x="6300787" y="2105025"/>
            <a:ext cx="1665389" cy="1495425"/>
          </a:xfrm>
          <a:prstGeom prst="rect">
            <a:avLst/>
          </a:prstGeom>
          <a:ln w="12700">
            <a:miter lim="400000"/>
          </a:ln>
        </p:spPr>
      </p:pic>
      <p:pic>
        <p:nvPicPr>
          <p:cNvPr id="79" name="Image 8" descr="Image 8"/>
          <p:cNvPicPr>
            <a:picLocks noChangeAspect="1"/>
          </p:cNvPicPr>
          <p:nvPr/>
        </p:nvPicPr>
        <p:blipFill>
          <a:blip r:embed="rId10">
            <a:extLst/>
          </a:blip>
          <a:stretch>
            <a:fillRect/>
          </a:stretch>
        </p:blipFill>
        <p:spPr>
          <a:xfrm>
            <a:off x="7019180" y="2333625"/>
            <a:ext cx="228602" cy="304800"/>
          </a:xfrm>
          <a:prstGeom prst="rect">
            <a:avLst/>
          </a:prstGeom>
          <a:ln w="12700">
            <a:miter lim="400000"/>
          </a:ln>
        </p:spPr>
      </p:pic>
      <p:pic>
        <p:nvPicPr>
          <p:cNvPr id="80" name="Image 9" descr="Image 9"/>
          <p:cNvPicPr>
            <a:picLocks noChangeAspect="1"/>
          </p:cNvPicPr>
          <p:nvPr/>
        </p:nvPicPr>
        <p:blipFill>
          <a:blip r:embed="rId11">
            <a:extLst/>
          </a:blip>
          <a:stretch>
            <a:fillRect/>
          </a:stretch>
        </p:blipFill>
        <p:spPr>
          <a:xfrm>
            <a:off x="8118574" y="2105025"/>
            <a:ext cx="1665389" cy="1495425"/>
          </a:xfrm>
          <a:prstGeom prst="rect">
            <a:avLst/>
          </a:prstGeom>
          <a:ln w="12700">
            <a:miter lim="400000"/>
          </a:ln>
        </p:spPr>
      </p:pic>
      <p:pic>
        <p:nvPicPr>
          <p:cNvPr id="81" name="Image 10" descr="Image 10"/>
          <p:cNvPicPr>
            <a:picLocks noChangeAspect="1"/>
          </p:cNvPicPr>
          <p:nvPr/>
        </p:nvPicPr>
        <p:blipFill>
          <a:blip r:embed="rId12">
            <a:extLst/>
          </a:blip>
          <a:stretch>
            <a:fillRect/>
          </a:stretch>
        </p:blipFill>
        <p:spPr>
          <a:xfrm>
            <a:off x="8836968" y="2333625"/>
            <a:ext cx="228602" cy="304800"/>
          </a:xfrm>
          <a:prstGeom prst="rect">
            <a:avLst/>
          </a:prstGeom>
          <a:ln w="12700">
            <a:miter lim="400000"/>
          </a:ln>
        </p:spPr>
      </p:pic>
      <p:pic>
        <p:nvPicPr>
          <p:cNvPr id="82" name="Image 11" descr="Image 11"/>
          <p:cNvPicPr>
            <a:picLocks noChangeAspect="1"/>
          </p:cNvPicPr>
          <p:nvPr/>
        </p:nvPicPr>
        <p:blipFill>
          <a:blip r:embed="rId13">
            <a:extLst/>
          </a:blip>
          <a:stretch>
            <a:fillRect/>
          </a:stretch>
        </p:blipFill>
        <p:spPr>
          <a:xfrm>
            <a:off x="9936360" y="2105025"/>
            <a:ext cx="1665389" cy="1495425"/>
          </a:xfrm>
          <a:prstGeom prst="rect">
            <a:avLst/>
          </a:prstGeom>
          <a:ln w="12700">
            <a:miter lim="400000"/>
          </a:ln>
        </p:spPr>
      </p:pic>
      <p:pic>
        <p:nvPicPr>
          <p:cNvPr id="83" name="Image 12" descr="Image 12"/>
          <p:cNvPicPr>
            <a:picLocks noChangeAspect="1"/>
          </p:cNvPicPr>
          <p:nvPr/>
        </p:nvPicPr>
        <p:blipFill>
          <a:blip r:embed="rId14">
            <a:extLst/>
          </a:blip>
          <a:stretch>
            <a:fillRect/>
          </a:stretch>
        </p:blipFill>
        <p:spPr>
          <a:xfrm>
            <a:off x="10640466" y="2333625"/>
            <a:ext cx="257177" cy="304800"/>
          </a:xfrm>
          <a:prstGeom prst="rect">
            <a:avLst/>
          </a:prstGeom>
          <a:ln w="12700">
            <a:miter lim="400000"/>
          </a:ln>
        </p:spPr>
      </p:pic>
      <p:pic>
        <p:nvPicPr>
          <p:cNvPr id="84" name="Image 13" descr="Image 13"/>
          <p:cNvPicPr>
            <a:picLocks noChangeAspect="1"/>
          </p:cNvPicPr>
          <p:nvPr/>
        </p:nvPicPr>
        <p:blipFill>
          <a:blip r:embed="rId15">
            <a:extLst/>
          </a:blip>
          <a:stretch>
            <a:fillRect/>
          </a:stretch>
        </p:blipFill>
        <p:spPr>
          <a:xfrm>
            <a:off x="381000" y="4181475"/>
            <a:ext cx="533400" cy="609600"/>
          </a:xfrm>
          <a:prstGeom prst="rect">
            <a:avLst/>
          </a:prstGeom>
          <a:ln w="12700">
            <a:miter lim="400000"/>
          </a:ln>
        </p:spPr>
      </p:pic>
      <p:pic>
        <p:nvPicPr>
          <p:cNvPr id="85" name="Image 14" descr="Image 14"/>
          <p:cNvPicPr>
            <a:picLocks noChangeAspect="1"/>
          </p:cNvPicPr>
          <p:nvPr/>
        </p:nvPicPr>
        <p:blipFill>
          <a:blip r:embed="rId16">
            <a:extLst/>
          </a:blip>
          <a:stretch>
            <a:fillRect/>
          </a:stretch>
        </p:blipFill>
        <p:spPr>
          <a:xfrm>
            <a:off x="533400" y="4333875"/>
            <a:ext cx="228600" cy="304800"/>
          </a:xfrm>
          <a:prstGeom prst="rect">
            <a:avLst/>
          </a:prstGeom>
          <a:ln w="12700">
            <a:miter lim="400000"/>
          </a:ln>
        </p:spPr>
      </p:pic>
      <p:pic>
        <p:nvPicPr>
          <p:cNvPr id="86" name="Image 15" descr="Image 15"/>
          <p:cNvPicPr>
            <a:picLocks noChangeAspect="1"/>
          </p:cNvPicPr>
          <p:nvPr/>
        </p:nvPicPr>
        <p:blipFill>
          <a:blip r:embed="rId17">
            <a:extLst/>
          </a:blip>
          <a:stretch>
            <a:fillRect/>
          </a:stretch>
        </p:blipFill>
        <p:spPr>
          <a:xfrm>
            <a:off x="5517505" y="4181475"/>
            <a:ext cx="504827" cy="609600"/>
          </a:xfrm>
          <a:prstGeom prst="rect">
            <a:avLst/>
          </a:prstGeom>
          <a:ln w="12700">
            <a:miter lim="400000"/>
          </a:ln>
        </p:spPr>
      </p:pic>
      <p:pic>
        <p:nvPicPr>
          <p:cNvPr id="87" name="Image 16" descr="Image 16"/>
          <p:cNvPicPr>
            <a:picLocks noChangeAspect="1"/>
          </p:cNvPicPr>
          <p:nvPr/>
        </p:nvPicPr>
        <p:blipFill>
          <a:blip r:embed="rId18">
            <a:extLst/>
          </a:blip>
          <a:stretch>
            <a:fillRect/>
          </a:stretch>
        </p:blipFill>
        <p:spPr>
          <a:xfrm>
            <a:off x="5669905" y="4333875"/>
            <a:ext cx="200027" cy="304800"/>
          </a:xfrm>
          <a:prstGeom prst="rect">
            <a:avLst/>
          </a:prstGeom>
          <a:ln w="12700">
            <a:miter lim="400000"/>
          </a:ln>
        </p:spPr>
      </p:pic>
      <p:pic>
        <p:nvPicPr>
          <p:cNvPr id="88" name="Image 17" descr="Image 17"/>
          <p:cNvPicPr>
            <a:picLocks noChangeAspect="1"/>
          </p:cNvPicPr>
          <p:nvPr/>
        </p:nvPicPr>
        <p:blipFill>
          <a:blip r:embed="rId19">
            <a:extLst/>
          </a:blip>
          <a:stretch>
            <a:fillRect/>
          </a:stretch>
        </p:blipFill>
        <p:spPr>
          <a:xfrm>
            <a:off x="381000" y="6019800"/>
            <a:ext cx="11430000" cy="457200"/>
          </a:xfrm>
          <a:prstGeom prst="rect">
            <a:avLst/>
          </a:prstGeom>
          <a:ln w="12700">
            <a:miter lim="400000"/>
          </a:ln>
        </p:spPr>
      </p:pic>
      <p:sp>
        <p:nvSpPr>
          <p:cNvPr id="89" name="Text 0"/>
          <p:cNvSpPr txBox="1"/>
          <p:nvPr/>
        </p:nvSpPr>
        <p:spPr>
          <a:xfrm>
            <a:off x="609600" y="379669"/>
            <a:ext cx="16047720" cy="38366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ts val="3000"/>
              </a:lnSpc>
              <a:defRPr b="1" spc="-54" sz="2700">
                <a:solidFill>
                  <a:srgbClr val="006400"/>
                </a:solidFill>
                <a:latin typeface="Inter"/>
                <a:ea typeface="Inter"/>
                <a:cs typeface="Inter"/>
                <a:sym typeface="Inter"/>
              </a:defRPr>
            </a:lvl1pPr>
          </a:lstStyle>
          <a:p>
            <a:pPr/>
            <a:r>
              <a:t>ARCHITETTURA DEL SERVER (ENERGY-SERVER)</a:t>
            </a:r>
          </a:p>
        </p:txBody>
      </p:sp>
      <p:sp>
        <p:nvSpPr>
          <p:cNvPr id="90" name="Text 1"/>
          <p:cNvSpPr txBox="1"/>
          <p:nvPr/>
        </p:nvSpPr>
        <p:spPr>
          <a:xfrm>
            <a:off x="609600" y="842963"/>
            <a:ext cx="12801600" cy="25717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ts val="2100"/>
              </a:lnSpc>
              <a:defRPr sz="1500">
                <a:solidFill>
                  <a:srgbClr val="4B5563"/>
                </a:solidFill>
                <a:latin typeface="Inter"/>
                <a:ea typeface="Inter"/>
                <a:cs typeface="Inter"/>
                <a:sym typeface="Inter"/>
              </a:defRPr>
            </a:lvl1pPr>
          </a:lstStyle>
          <a:p>
            <a:pPr/>
            <a:r>
              <a:t>Logica centralizzata e gestione reattiva dei flussi dati</a:t>
            </a:r>
          </a:p>
        </p:txBody>
      </p:sp>
      <p:sp>
        <p:nvSpPr>
          <p:cNvPr id="91" name="Text 2"/>
          <p:cNvSpPr txBox="1"/>
          <p:nvPr/>
        </p:nvSpPr>
        <p:spPr>
          <a:xfrm>
            <a:off x="942975" y="1719264"/>
            <a:ext cx="3149501" cy="25717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ts val="2100"/>
              </a:lnSpc>
              <a:defRPr b="1" sz="1500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defRPr>
            </a:lvl1pPr>
          </a:lstStyle>
          <a:p>
            <a:pPr/>
            <a:r>
              <a:t>Remote Facade</a:t>
            </a:r>
          </a:p>
        </p:txBody>
      </p:sp>
      <p:sp>
        <p:nvSpPr>
          <p:cNvPr id="92" name="Text 3"/>
          <p:cNvSpPr txBox="1"/>
          <p:nvPr/>
        </p:nvSpPr>
        <p:spPr>
          <a:xfrm>
            <a:off x="609600" y="2212022"/>
            <a:ext cx="3149501" cy="63372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ts val="1700"/>
              </a:lnSpc>
              <a:defRPr sz="1000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defRPr>
            </a:lvl1pPr>
          </a:lstStyle>
          <a:p>
            <a:pPr/>
            <a:r>
              <a:t>Centralizza la logica di business esponendo operazioni aggregate. Riduce il "chattiness" tra client e server, mappando chiamate complesse su endpoint ottimizzati.</a:t>
            </a:r>
          </a:p>
        </p:txBody>
      </p:sp>
      <p:sp>
        <p:nvSpPr>
          <p:cNvPr id="93" name="Text 4"/>
          <p:cNvSpPr txBox="1"/>
          <p:nvPr/>
        </p:nvSpPr>
        <p:spPr>
          <a:xfrm>
            <a:off x="4483001" y="1693609"/>
            <a:ext cx="7118451" cy="25133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ts val="2100"/>
              </a:lnSpc>
              <a:defRPr b="1" sz="1300">
                <a:solidFill>
                  <a:srgbClr val="006400"/>
                </a:solidFill>
                <a:latin typeface="Inter"/>
                <a:ea typeface="Inter"/>
                <a:cs typeface="Inter"/>
                <a:sym typeface="Inter"/>
              </a:defRPr>
            </a:lvl1pPr>
          </a:lstStyle>
          <a:p>
            <a:pPr/>
            <a:r>
              <a:t>Pipeline di Elaborazione Dati</a:t>
            </a:r>
          </a:p>
        </p:txBody>
      </p:sp>
      <p:sp>
        <p:nvSpPr>
          <p:cNvPr id="94" name="Text 5"/>
          <p:cNvSpPr txBox="1"/>
          <p:nvPr/>
        </p:nvSpPr>
        <p:spPr>
          <a:xfrm>
            <a:off x="4515594" y="2757171"/>
            <a:ext cx="1600202" cy="18160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lnSpc>
                <a:spcPts val="1500"/>
              </a:lnSpc>
              <a:defRPr b="1" sz="1000">
                <a:solidFill>
                  <a:srgbClr val="1F2937"/>
                </a:solidFill>
                <a:latin typeface="Inter"/>
                <a:ea typeface="Inter"/>
                <a:cs typeface="Inter"/>
                <a:sym typeface="Inter"/>
              </a:defRPr>
            </a:lvl1pPr>
          </a:lstStyle>
          <a:p>
            <a:pPr/>
            <a:r>
              <a:t>Ingestione</a:t>
            </a:r>
          </a:p>
        </p:txBody>
      </p:sp>
      <p:sp>
        <p:nvSpPr>
          <p:cNvPr id="95" name="Text 6"/>
          <p:cNvSpPr txBox="1"/>
          <p:nvPr/>
        </p:nvSpPr>
        <p:spPr>
          <a:xfrm>
            <a:off x="4711601" y="3021520"/>
            <a:ext cx="1189139" cy="30060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lnSpc>
                <a:spcPts val="1200"/>
              </a:lnSpc>
              <a:defRPr sz="900">
                <a:solidFill>
                  <a:srgbClr val="6B7280"/>
                </a:solidFill>
                <a:latin typeface="Inter"/>
                <a:ea typeface="Inter"/>
                <a:cs typeface="Inter"/>
                <a:sym typeface="Inter"/>
              </a:defRPr>
            </a:lvl1pPr>
          </a:lstStyle>
          <a:p>
            <a:pPr/>
            <a:r>
              <a:t>Parsing CSV e accodamento record</a:t>
            </a:r>
          </a:p>
        </p:txBody>
      </p:sp>
      <p:sp>
        <p:nvSpPr>
          <p:cNvPr id="96" name="Text 7"/>
          <p:cNvSpPr txBox="1"/>
          <p:nvPr/>
        </p:nvSpPr>
        <p:spPr>
          <a:xfrm>
            <a:off x="6253370" y="2757171"/>
            <a:ext cx="1760223" cy="18160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lnSpc>
                <a:spcPts val="1500"/>
              </a:lnSpc>
              <a:defRPr b="1" sz="1000">
                <a:solidFill>
                  <a:srgbClr val="1F2937"/>
                </a:solidFill>
                <a:latin typeface="Inter"/>
                <a:ea typeface="Inter"/>
                <a:cs typeface="Inter"/>
                <a:sym typeface="Inter"/>
              </a:defRPr>
            </a:lvl1pPr>
          </a:lstStyle>
          <a:p>
            <a:pPr/>
            <a:r>
              <a:t>Simulazione</a:t>
            </a:r>
          </a:p>
        </p:txBody>
      </p:sp>
      <p:sp>
        <p:nvSpPr>
          <p:cNvPr id="97" name="Text 8"/>
          <p:cNvSpPr txBox="1"/>
          <p:nvPr/>
        </p:nvSpPr>
        <p:spPr>
          <a:xfrm>
            <a:off x="6529388" y="3021520"/>
            <a:ext cx="1189139" cy="30060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lnSpc>
                <a:spcPts val="1200"/>
              </a:lnSpc>
              <a:defRPr sz="900">
                <a:solidFill>
                  <a:srgbClr val="6B7280"/>
                </a:solidFill>
                <a:latin typeface="Inter"/>
                <a:ea typeface="Inter"/>
                <a:cs typeface="Inter"/>
                <a:sym typeface="Inter"/>
              </a:defRPr>
            </a:lvl1pPr>
          </a:lstStyle>
          <a:p>
            <a:pPr/>
            <a:r>
              <a:t>Estrazione a intervalli fissi</a:t>
            </a:r>
          </a:p>
        </p:txBody>
      </p:sp>
      <p:sp>
        <p:nvSpPr>
          <p:cNvPr id="98" name="Text 9"/>
          <p:cNvSpPr txBox="1"/>
          <p:nvPr/>
        </p:nvSpPr>
        <p:spPr>
          <a:xfrm>
            <a:off x="7911138" y="2757171"/>
            <a:ext cx="2080262" cy="18160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lnSpc>
                <a:spcPts val="1500"/>
              </a:lnSpc>
              <a:defRPr b="1" sz="1000">
                <a:solidFill>
                  <a:srgbClr val="1F2937"/>
                </a:solidFill>
                <a:latin typeface="Inter"/>
                <a:ea typeface="Inter"/>
                <a:cs typeface="Inter"/>
                <a:sym typeface="Inter"/>
              </a:defRPr>
            </a:lvl1pPr>
          </a:lstStyle>
          <a:p>
            <a:pPr/>
            <a:r>
              <a:t>AI Prediction</a:t>
            </a:r>
          </a:p>
        </p:txBody>
      </p:sp>
      <p:sp>
        <p:nvSpPr>
          <p:cNvPr id="99" name="Text 10"/>
          <p:cNvSpPr txBox="1"/>
          <p:nvPr/>
        </p:nvSpPr>
        <p:spPr>
          <a:xfrm>
            <a:off x="8347174" y="3021520"/>
            <a:ext cx="1189139" cy="30060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lnSpc>
                <a:spcPts val="1200"/>
              </a:lnSpc>
              <a:defRPr sz="900">
                <a:solidFill>
                  <a:srgbClr val="6B7280"/>
                </a:solidFill>
                <a:latin typeface="Inter"/>
                <a:ea typeface="Inter"/>
                <a:cs typeface="Inter"/>
                <a:sym typeface="Inter"/>
              </a:defRPr>
            </a:lvl1pPr>
          </a:lstStyle>
          <a:p>
            <a:pPr/>
            <a:r>
              <a:t>Modello LSTM e confronto reale</a:t>
            </a:r>
          </a:p>
        </p:txBody>
      </p:sp>
      <p:sp>
        <p:nvSpPr>
          <p:cNvPr id="100" name="Text 11"/>
          <p:cNvSpPr txBox="1"/>
          <p:nvPr/>
        </p:nvSpPr>
        <p:spPr>
          <a:xfrm>
            <a:off x="9968954" y="2757171"/>
            <a:ext cx="1600202" cy="18160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lnSpc>
                <a:spcPts val="1500"/>
              </a:lnSpc>
              <a:defRPr b="1" sz="1000">
                <a:solidFill>
                  <a:srgbClr val="1F2937"/>
                </a:solidFill>
                <a:latin typeface="Inter"/>
                <a:ea typeface="Inter"/>
                <a:cs typeface="Inter"/>
                <a:sym typeface="Inter"/>
              </a:defRPr>
            </a:lvl1pPr>
          </a:lstStyle>
          <a:p>
            <a:pPr/>
            <a:r>
              <a:t>SSE Stream</a:t>
            </a:r>
          </a:p>
        </p:txBody>
      </p:sp>
      <p:sp>
        <p:nvSpPr>
          <p:cNvPr id="101" name="Text 12"/>
          <p:cNvSpPr txBox="1"/>
          <p:nvPr/>
        </p:nvSpPr>
        <p:spPr>
          <a:xfrm>
            <a:off x="10164960" y="3021520"/>
            <a:ext cx="1189139" cy="30060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lnSpc>
                <a:spcPts val="1200"/>
              </a:lnSpc>
              <a:defRPr sz="900">
                <a:solidFill>
                  <a:srgbClr val="6B7280"/>
                </a:solidFill>
                <a:latin typeface="Inter"/>
                <a:ea typeface="Inter"/>
                <a:cs typeface="Inter"/>
                <a:sym typeface="Inter"/>
              </a:defRPr>
            </a:lvl1pPr>
          </a:lstStyle>
          <a:p>
            <a:pPr/>
            <a:r>
              <a:t>Push real-time a tutti i client</a:t>
            </a:r>
          </a:p>
        </p:txBody>
      </p:sp>
      <p:sp>
        <p:nvSpPr>
          <p:cNvPr id="102" name="Text 13"/>
          <p:cNvSpPr txBox="1"/>
          <p:nvPr/>
        </p:nvSpPr>
        <p:spPr>
          <a:xfrm>
            <a:off x="1143000" y="4186239"/>
            <a:ext cx="6172200" cy="25717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ts val="2100"/>
              </a:lnSpc>
              <a:defRPr b="1" sz="1500">
                <a:solidFill>
                  <a:srgbClr val="1F2937"/>
                </a:solidFill>
                <a:latin typeface="Inter"/>
                <a:ea typeface="Inter"/>
                <a:cs typeface="Inter"/>
                <a:sym typeface="Inter"/>
              </a:defRPr>
            </a:lvl1pPr>
          </a:lstStyle>
          <a:p>
            <a:pPr/>
            <a:r>
              <a:t>Resilienza: Circuit Breaker</a:t>
            </a:r>
          </a:p>
        </p:txBody>
      </p:sp>
      <p:sp>
        <p:nvSpPr>
          <p:cNvPr id="103" name="Text 14"/>
          <p:cNvSpPr txBox="1"/>
          <p:nvPr/>
        </p:nvSpPr>
        <p:spPr>
          <a:xfrm>
            <a:off x="1143000" y="4528820"/>
            <a:ext cx="7360919" cy="18160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ts val="1500"/>
              </a:lnSpc>
              <a:defRPr sz="1000">
                <a:solidFill>
                  <a:srgbClr val="4B5563"/>
                </a:solidFill>
                <a:latin typeface="Inter"/>
                <a:ea typeface="Inter"/>
                <a:cs typeface="Inter"/>
                <a:sym typeface="Inter"/>
              </a:defRPr>
            </a:lvl1pPr>
          </a:lstStyle>
          <a:p>
            <a:pPr/>
            <a:r>
              <a:t>• Protezione del servizio di persistenza (DB).</a:t>
            </a:r>
          </a:p>
        </p:txBody>
      </p:sp>
      <p:sp>
        <p:nvSpPr>
          <p:cNvPr id="104" name="Text 15"/>
          <p:cNvSpPr txBox="1"/>
          <p:nvPr/>
        </p:nvSpPr>
        <p:spPr>
          <a:xfrm>
            <a:off x="1142999" y="4795520"/>
            <a:ext cx="9121142" cy="18160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ts val="1500"/>
              </a:lnSpc>
              <a:defRPr sz="1000">
                <a:solidFill>
                  <a:srgbClr val="4B5563"/>
                </a:solidFill>
                <a:latin typeface="Inter"/>
                <a:ea typeface="Inter"/>
                <a:cs typeface="Inter"/>
                <a:sym typeface="Inter"/>
              </a:defRPr>
            </a:lvl1pPr>
          </a:lstStyle>
          <a:p>
            <a:pPr/>
            <a:r>
              <a:t>• Finestra scorrevole per il monitoraggio dei fallimenti.</a:t>
            </a:r>
          </a:p>
        </p:txBody>
      </p:sp>
      <p:sp>
        <p:nvSpPr>
          <p:cNvPr id="105" name="Text 16"/>
          <p:cNvSpPr txBox="1"/>
          <p:nvPr/>
        </p:nvSpPr>
        <p:spPr>
          <a:xfrm>
            <a:off x="1143000" y="5157470"/>
            <a:ext cx="3447604" cy="18160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ts val="1500"/>
              </a:lnSpc>
              <a:defRPr sz="1000">
                <a:solidFill>
                  <a:srgbClr val="4B5563"/>
                </a:solidFill>
                <a:latin typeface="Inter"/>
                <a:ea typeface="Inter"/>
                <a:cs typeface="Inter"/>
                <a:sym typeface="Inter"/>
              </a:defRPr>
            </a:lvl1pPr>
          </a:lstStyle>
          <a:p>
            <a:pPr/>
            <a:r>
              <a:t>• Stato "Aperto" temporaneo per evitare sovraccarichi.</a:t>
            </a:r>
          </a:p>
        </p:txBody>
      </p:sp>
      <p:sp>
        <p:nvSpPr>
          <p:cNvPr id="106" name="Text 17"/>
          <p:cNvSpPr txBox="1"/>
          <p:nvPr/>
        </p:nvSpPr>
        <p:spPr>
          <a:xfrm>
            <a:off x="6250929" y="4186239"/>
            <a:ext cx="4572003" cy="25717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ts val="2100"/>
              </a:lnSpc>
              <a:defRPr b="1" sz="1500">
                <a:solidFill>
                  <a:srgbClr val="1F2937"/>
                </a:solidFill>
                <a:latin typeface="Inter"/>
                <a:ea typeface="Inter"/>
                <a:cs typeface="Inter"/>
                <a:sym typeface="Inter"/>
              </a:defRPr>
            </a:lvl1pPr>
          </a:lstStyle>
          <a:p>
            <a:pPr/>
            <a:r>
              <a:t>Snapshot &amp; Real-time</a:t>
            </a:r>
          </a:p>
        </p:txBody>
      </p:sp>
      <p:sp>
        <p:nvSpPr>
          <p:cNvPr id="107" name="Text 18"/>
          <p:cNvSpPr txBox="1"/>
          <p:nvPr/>
        </p:nvSpPr>
        <p:spPr>
          <a:xfrm>
            <a:off x="6250930" y="4528820"/>
            <a:ext cx="7840982" cy="18160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ts val="1500"/>
              </a:lnSpc>
              <a:defRPr sz="1000">
                <a:solidFill>
                  <a:srgbClr val="4B5563"/>
                </a:solidFill>
                <a:latin typeface="Inter"/>
                <a:ea typeface="Inter"/>
                <a:cs typeface="Inter"/>
                <a:sym typeface="Inter"/>
              </a:defRPr>
            </a:lvl1pPr>
          </a:lstStyle>
          <a:p>
            <a:pPr/>
            <a:r>
              <a:t>• Facade mantiene uno snapshot volatile dei dati.</a:t>
            </a:r>
          </a:p>
        </p:txBody>
      </p:sp>
      <p:sp>
        <p:nvSpPr>
          <p:cNvPr id="108" name="Text 19"/>
          <p:cNvSpPr txBox="1"/>
          <p:nvPr/>
        </p:nvSpPr>
        <p:spPr>
          <a:xfrm>
            <a:off x="6250930" y="4795520"/>
            <a:ext cx="8321042" cy="18160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ts val="1500"/>
              </a:lnSpc>
              <a:defRPr sz="1000">
                <a:solidFill>
                  <a:srgbClr val="4B5563"/>
                </a:solidFill>
                <a:latin typeface="Inter"/>
                <a:ea typeface="Inter"/>
                <a:cs typeface="Inter"/>
                <a:sym typeface="Inter"/>
              </a:defRPr>
            </a:lvl1pPr>
          </a:lstStyle>
          <a:p>
            <a:pPr/>
            <a:r>
              <a:t>• Gestione parallela di multiple connessioni client.</a:t>
            </a:r>
          </a:p>
        </p:txBody>
      </p:sp>
      <p:sp>
        <p:nvSpPr>
          <p:cNvPr id="109" name="Text 20"/>
          <p:cNvSpPr txBox="1"/>
          <p:nvPr/>
        </p:nvSpPr>
        <p:spPr>
          <a:xfrm>
            <a:off x="6250930" y="5062220"/>
            <a:ext cx="7680961" cy="18160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ts val="1500"/>
              </a:lnSpc>
              <a:defRPr sz="1000">
                <a:solidFill>
                  <a:srgbClr val="4B5563"/>
                </a:solidFill>
                <a:latin typeface="Inter"/>
                <a:ea typeface="Inter"/>
                <a:cs typeface="Inter"/>
                <a:sym typeface="Inter"/>
              </a:defRPr>
            </a:lvl1pPr>
          </a:lstStyle>
          <a:p>
            <a:pPr/>
            <a:r>
              <a:t>• Pulizia telemetria e reset snapshot all'avvio.</a:t>
            </a:r>
          </a:p>
        </p:txBody>
      </p:sp>
      <p:sp>
        <p:nvSpPr>
          <p:cNvPr id="110" name="Text 21"/>
          <p:cNvSpPr txBox="1"/>
          <p:nvPr/>
        </p:nvSpPr>
        <p:spPr>
          <a:xfrm>
            <a:off x="380998" y="6326695"/>
            <a:ext cx="5074924" cy="14820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ts val="1200"/>
              </a:lnSpc>
              <a:defRPr b="1" spc="72" sz="900">
                <a:solidFill>
                  <a:srgbClr val="9CA3AF"/>
                </a:solidFill>
                <a:latin typeface="Inter"/>
                <a:ea typeface="Inter"/>
                <a:cs typeface="Inter"/>
                <a:sym typeface="Inter"/>
              </a:defRPr>
            </a:lvl1pPr>
          </a:lstStyle>
          <a:p>
            <a:pPr/>
            <a:r>
              <a:t>NEXUS ENERGY DISTRIBUTED ARCHITECTURE</a:t>
            </a:r>
          </a:p>
        </p:txBody>
      </p:sp>
      <p:sp>
        <p:nvSpPr>
          <p:cNvPr id="111" name="Text 22"/>
          <p:cNvSpPr txBox="1"/>
          <p:nvPr/>
        </p:nvSpPr>
        <p:spPr>
          <a:xfrm>
            <a:off x="7566569" y="6326695"/>
            <a:ext cx="7269483" cy="14820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ts val="1200"/>
              </a:lnSpc>
              <a:defRPr b="1" spc="72" sz="900">
                <a:solidFill>
                  <a:srgbClr val="006400"/>
                </a:solidFill>
                <a:latin typeface="Inter"/>
                <a:ea typeface="Inter"/>
                <a:cs typeface="Inter"/>
                <a:sym typeface="Inter"/>
              </a:defRPr>
            </a:lvl1pPr>
          </a:lstStyle>
          <a:p>
            <a:pPr/>
            <a:r>
              <a:t>COMPONENT: ENERGY-SERVER (SPRING BOOT / NODE.JS CORE)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blipFill rotWithShape="1">
          <a:blip r:embed="rId2"/>
          <a:srcRect l="0" t="0" r="0" b="0"/>
          <a:stretch>
            <a:fillRect/>
          </a:stretch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3" name="Image 0" descr="Image 0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0" y="0"/>
            <a:ext cx="12191949" cy="6858000"/>
          </a:xfrm>
          <a:prstGeom prst="rect">
            <a:avLst/>
          </a:prstGeom>
          <a:ln w="12700">
            <a:miter lim="400000"/>
          </a:ln>
        </p:spPr>
      </p:pic>
      <p:pic>
        <p:nvPicPr>
          <p:cNvPr id="114" name="Image 1" descr="Image 1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12191949" cy="6858000"/>
          </a:xfrm>
          <a:prstGeom prst="rect">
            <a:avLst/>
          </a:prstGeom>
          <a:ln w="12700">
            <a:miter lim="400000"/>
          </a:ln>
        </p:spPr>
      </p:pic>
      <p:pic>
        <p:nvPicPr>
          <p:cNvPr id="115" name="Image 2" descr="Image 2"/>
          <p:cNvPicPr>
            <a:picLocks noChangeAspect="1"/>
          </p:cNvPicPr>
          <p:nvPr/>
        </p:nvPicPr>
        <p:blipFill>
          <a:blip r:embed="rId4">
            <a:extLst/>
          </a:blip>
          <a:stretch>
            <a:fillRect/>
          </a:stretch>
        </p:blipFill>
        <p:spPr>
          <a:xfrm>
            <a:off x="9754472" y="462857"/>
            <a:ext cx="1974618" cy="524573"/>
          </a:xfrm>
          <a:prstGeom prst="rect">
            <a:avLst/>
          </a:prstGeom>
          <a:ln w="12700">
            <a:miter lim="400000"/>
          </a:ln>
        </p:spPr>
      </p:pic>
      <p:pic>
        <p:nvPicPr>
          <p:cNvPr id="116" name="Image 3" descr="Image 3"/>
          <p:cNvPicPr>
            <a:picLocks noChangeAspect="1"/>
          </p:cNvPicPr>
          <p:nvPr/>
        </p:nvPicPr>
        <p:blipFill>
          <a:blip r:embed="rId5">
            <a:extLst/>
          </a:blip>
          <a:stretch>
            <a:fillRect/>
          </a:stretch>
        </p:blipFill>
        <p:spPr>
          <a:xfrm>
            <a:off x="9877900" y="586286"/>
            <a:ext cx="285430" cy="277716"/>
          </a:xfrm>
          <a:prstGeom prst="rect">
            <a:avLst/>
          </a:prstGeom>
          <a:ln w="12700">
            <a:miter lim="400000"/>
          </a:ln>
        </p:spPr>
      </p:pic>
      <p:pic>
        <p:nvPicPr>
          <p:cNvPr id="117" name="Image 4" descr="Image 4"/>
          <p:cNvPicPr>
            <a:picLocks noChangeAspect="1"/>
          </p:cNvPicPr>
          <p:nvPr/>
        </p:nvPicPr>
        <p:blipFill>
          <a:blip r:embed="rId6">
            <a:extLst/>
          </a:blip>
          <a:stretch>
            <a:fillRect/>
          </a:stretch>
        </p:blipFill>
        <p:spPr>
          <a:xfrm>
            <a:off x="462857" y="1596856"/>
            <a:ext cx="11266232" cy="1235734"/>
          </a:xfrm>
          <a:prstGeom prst="rect">
            <a:avLst/>
          </a:prstGeom>
          <a:ln w="12700">
            <a:miter lim="400000"/>
          </a:ln>
        </p:spPr>
      </p:pic>
      <p:pic>
        <p:nvPicPr>
          <p:cNvPr id="118" name="Image 5" descr="Image 5"/>
          <p:cNvPicPr>
            <a:picLocks noChangeAspect="1"/>
          </p:cNvPicPr>
          <p:nvPr/>
        </p:nvPicPr>
        <p:blipFill>
          <a:blip r:embed="rId7">
            <a:extLst/>
          </a:blip>
          <a:stretch>
            <a:fillRect/>
          </a:stretch>
        </p:blipFill>
        <p:spPr>
          <a:xfrm>
            <a:off x="647999" y="1794777"/>
            <a:ext cx="192859" cy="190448"/>
          </a:xfrm>
          <a:prstGeom prst="rect">
            <a:avLst/>
          </a:prstGeom>
          <a:ln w="12700">
            <a:miter lim="400000"/>
          </a:ln>
        </p:spPr>
      </p:pic>
      <p:pic>
        <p:nvPicPr>
          <p:cNvPr id="119" name="Image 6" descr="Image 6"/>
          <p:cNvPicPr>
            <a:picLocks noChangeAspect="1"/>
          </p:cNvPicPr>
          <p:nvPr/>
        </p:nvPicPr>
        <p:blipFill>
          <a:blip r:embed="rId8">
            <a:extLst/>
          </a:blip>
          <a:stretch>
            <a:fillRect/>
          </a:stretch>
        </p:blipFill>
        <p:spPr>
          <a:xfrm>
            <a:off x="462857" y="3141160"/>
            <a:ext cx="3590760" cy="1681715"/>
          </a:xfrm>
          <a:prstGeom prst="rect">
            <a:avLst/>
          </a:prstGeom>
          <a:ln w="12700">
            <a:miter lim="400000"/>
          </a:ln>
        </p:spPr>
      </p:pic>
      <p:pic>
        <p:nvPicPr>
          <p:cNvPr id="120" name="Image 7" descr="Image 7"/>
          <p:cNvPicPr>
            <a:picLocks noChangeAspect="1"/>
          </p:cNvPicPr>
          <p:nvPr/>
        </p:nvPicPr>
        <p:blipFill>
          <a:blip r:embed="rId9">
            <a:extLst/>
          </a:blip>
          <a:stretch>
            <a:fillRect/>
          </a:stretch>
        </p:blipFill>
        <p:spPr>
          <a:xfrm>
            <a:off x="647999" y="3326303"/>
            <a:ext cx="285431" cy="277716"/>
          </a:xfrm>
          <a:prstGeom prst="rect">
            <a:avLst/>
          </a:prstGeom>
          <a:ln w="12700">
            <a:miter lim="400000"/>
          </a:ln>
        </p:spPr>
      </p:pic>
      <p:pic>
        <p:nvPicPr>
          <p:cNvPr id="121" name="Image 8" descr="Image 8"/>
          <p:cNvPicPr>
            <a:picLocks noChangeAspect="1"/>
          </p:cNvPicPr>
          <p:nvPr/>
        </p:nvPicPr>
        <p:blipFill>
          <a:blip r:embed="rId10">
            <a:extLst/>
          </a:blip>
          <a:stretch>
            <a:fillRect/>
          </a:stretch>
        </p:blipFill>
        <p:spPr>
          <a:xfrm>
            <a:off x="4300473" y="3141160"/>
            <a:ext cx="3590881" cy="1681715"/>
          </a:xfrm>
          <a:prstGeom prst="rect">
            <a:avLst/>
          </a:prstGeom>
          <a:ln w="12700">
            <a:miter lim="400000"/>
          </a:ln>
        </p:spPr>
      </p:pic>
      <p:pic>
        <p:nvPicPr>
          <p:cNvPr id="122" name="Image 9" descr="Image 9"/>
          <p:cNvPicPr>
            <a:picLocks noChangeAspect="1"/>
          </p:cNvPicPr>
          <p:nvPr/>
        </p:nvPicPr>
        <p:blipFill>
          <a:blip r:embed="rId11">
            <a:extLst/>
          </a:blip>
          <a:stretch>
            <a:fillRect/>
          </a:stretch>
        </p:blipFill>
        <p:spPr>
          <a:xfrm>
            <a:off x="4485616" y="3326303"/>
            <a:ext cx="324002" cy="277716"/>
          </a:xfrm>
          <a:prstGeom prst="rect">
            <a:avLst/>
          </a:prstGeom>
          <a:ln w="12700">
            <a:miter lim="400000"/>
          </a:ln>
        </p:spPr>
      </p:pic>
      <p:pic>
        <p:nvPicPr>
          <p:cNvPr id="123" name="Image 10" descr="Image 10"/>
          <p:cNvPicPr>
            <a:picLocks noChangeAspect="1"/>
          </p:cNvPicPr>
          <p:nvPr/>
        </p:nvPicPr>
        <p:blipFill>
          <a:blip r:embed="rId12">
            <a:extLst/>
          </a:blip>
          <a:stretch>
            <a:fillRect/>
          </a:stretch>
        </p:blipFill>
        <p:spPr>
          <a:xfrm>
            <a:off x="8138210" y="3141160"/>
            <a:ext cx="3590760" cy="1681715"/>
          </a:xfrm>
          <a:prstGeom prst="rect">
            <a:avLst/>
          </a:prstGeom>
          <a:ln w="12700">
            <a:miter lim="400000"/>
          </a:ln>
        </p:spPr>
      </p:pic>
      <p:pic>
        <p:nvPicPr>
          <p:cNvPr id="124" name="Image 11" descr="Image 11"/>
          <p:cNvPicPr>
            <a:picLocks noChangeAspect="1"/>
          </p:cNvPicPr>
          <p:nvPr/>
        </p:nvPicPr>
        <p:blipFill>
          <a:blip r:embed="rId13">
            <a:extLst/>
          </a:blip>
          <a:stretch>
            <a:fillRect/>
          </a:stretch>
        </p:blipFill>
        <p:spPr>
          <a:xfrm>
            <a:off x="8323350" y="3326303"/>
            <a:ext cx="285431" cy="277716"/>
          </a:xfrm>
          <a:prstGeom prst="rect">
            <a:avLst/>
          </a:prstGeom>
          <a:ln w="12700">
            <a:miter lim="400000"/>
          </a:ln>
        </p:spPr>
      </p:pic>
      <p:pic>
        <p:nvPicPr>
          <p:cNvPr id="125" name="Image 12" descr="Image 12"/>
          <p:cNvPicPr>
            <a:picLocks noChangeAspect="1"/>
          </p:cNvPicPr>
          <p:nvPr/>
        </p:nvPicPr>
        <p:blipFill>
          <a:blip r:embed="rId14">
            <a:extLst/>
          </a:blip>
          <a:stretch>
            <a:fillRect/>
          </a:stretch>
        </p:blipFill>
        <p:spPr>
          <a:xfrm>
            <a:off x="462857" y="6140570"/>
            <a:ext cx="1126287" cy="256020"/>
          </a:xfrm>
          <a:prstGeom prst="rect">
            <a:avLst/>
          </a:prstGeom>
          <a:ln w="12700">
            <a:miter lim="400000"/>
          </a:ln>
        </p:spPr>
      </p:pic>
      <p:pic>
        <p:nvPicPr>
          <p:cNvPr id="126" name="Image 13" descr="Image 13"/>
          <p:cNvPicPr>
            <a:picLocks noChangeAspect="1"/>
          </p:cNvPicPr>
          <p:nvPr/>
        </p:nvPicPr>
        <p:blipFill>
          <a:blip r:embed="rId15">
            <a:extLst/>
          </a:blip>
          <a:stretch>
            <a:fillRect/>
          </a:stretch>
        </p:blipFill>
        <p:spPr>
          <a:xfrm>
            <a:off x="1681714" y="6140570"/>
            <a:ext cx="1566000" cy="256020"/>
          </a:xfrm>
          <a:prstGeom prst="rect">
            <a:avLst/>
          </a:prstGeom>
          <a:ln w="12700">
            <a:miter lim="400000"/>
          </a:ln>
        </p:spPr>
      </p:pic>
      <p:pic>
        <p:nvPicPr>
          <p:cNvPr id="127" name="Image 14" descr="Image 14"/>
          <p:cNvPicPr>
            <a:picLocks noChangeAspect="1"/>
          </p:cNvPicPr>
          <p:nvPr/>
        </p:nvPicPr>
        <p:blipFill>
          <a:blip r:embed="rId16">
            <a:extLst/>
          </a:blip>
          <a:stretch>
            <a:fillRect/>
          </a:stretch>
        </p:blipFill>
        <p:spPr>
          <a:xfrm>
            <a:off x="3340286" y="6140570"/>
            <a:ext cx="1195716" cy="256020"/>
          </a:xfrm>
          <a:prstGeom prst="rect">
            <a:avLst/>
          </a:prstGeom>
          <a:ln w="12700">
            <a:miter lim="400000"/>
          </a:ln>
        </p:spPr>
      </p:pic>
      <p:pic>
        <p:nvPicPr>
          <p:cNvPr id="128" name="Image 15" descr="Image 15"/>
          <p:cNvPicPr>
            <a:picLocks noChangeAspect="1"/>
          </p:cNvPicPr>
          <p:nvPr/>
        </p:nvPicPr>
        <p:blipFill>
          <a:blip r:embed="rId17">
            <a:extLst/>
          </a:blip>
          <a:stretch>
            <a:fillRect/>
          </a:stretch>
        </p:blipFill>
        <p:spPr>
          <a:xfrm>
            <a:off x="4628570" y="6140570"/>
            <a:ext cx="1350002" cy="256020"/>
          </a:xfrm>
          <a:prstGeom prst="rect">
            <a:avLst/>
          </a:prstGeom>
          <a:ln w="12700">
            <a:miter lim="400000"/>
          </a:ln>
        </p:spPr>
      </p:pic>
      <p:pic>
        <p:nvPicPr>
          <p:cNvPr id="129" name="Image 16" descr="Image 16"/>
          <p:cNvPicPr>
            <a:picLocks noChangeAspect="1"/>
          </p:cNvPicPr>
          <p:nvPr/>
        </p:nvPicPr>
        <p:blipFill>
          <a:blip r:embed="rId18">
            <a:extLst/>
          </a:blip>
          <a:stretch>
            <a:fillRect/>
          </a:stretch>
        </p:blipFill>
        <p:spPr>
          <a:xfrm>
            <a:off x="6071141" y="6140570"/>
            <a:ext cx="1319146" cy="256020"/>
          </a:xfrm>
          <a:prstGeom prst="rect">
            <a:avLst/>
          </a:prstGeom>
          <a:ln w="12700">
            <a:miter lim="400000"/>
          </a:ln>
        </p:spPr>
      </p:pic>
      <p:pic>
        <p:nvPicPr>
          <p:cNvPr id="130" name="Image 17" descr="Image 17"/>
          <p:cNvPicPr>
            <a:picLocks noChangeAspect="1"/>
          </p:cNvPicPr>
          <p:nvPr/>
        </p:nvPicPr>
        <p:blipFill>
          <a:blip r:embed="rId19">
            <a:extLst/>
          </a:blip>
          <a:stretch>
            <a:fillRect/>
          </a:stretch>
        </p:blipFill>
        <p:spPr>
          <a:xfrm>
            <a:off x="7482857" y="6140570"/>
            <a:ext cx="972002" cy="256020"/>
          </a:xfrm>
          <a:prstGeom prst="rect">
            <a:avLst/>
          </a:prstGeom>
          <a:ln w="12700">
            <a:miter lim="400000"/>
          </a:ln>
        </p:spPr>
      </p:pic>
      <p:sp>
        <p:nvSpPr>
          <p:cNvPr id="131" name="Text 0"/>
          <p:cNvSpPr txBox="1"/>
          <p:nvPr/>
        </p:nvSpPr>
        <p:spPr>
          <a:xfrm>
            <a:off x="462856" y="684594"/>
            <a:ext cx="5352391" cy="47090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ts val="3600"/>
              </a:lnSpc>
              <a:defRPr b="1" spc="-89" sz="3600">
                <a:solidFill>
                  <a:srgbClr val="006400"/>
                </a:solidFill>
                <a:latin typeface="Inter"/>
                <a:ea typeface="Inter"/>
                <a:cs typeface="Inter"/>
                <a:sym typeface="Inter"/>
              </a:defRPr>
            </a:lvl1pPr>
          </a:lstStyle>
          <a:p>
            <a:pPr/>
            <a:r>
              <a:t>Resilienza con RabbitMQ</a:t>
            </a:r>
          </a:p>
        </p:txBody>
      </p:sp>
      <p:sp>
        <p:nvSpPr>
          <p:cNvPr id="132" name="Text 1"/>
          <p:cNvSpPr txBox="1"/>
          <p:nvPr/>
        </p:nvSpPr>
        <p:spPr>
          <a:xfrm>
            <a:off x="462855" y="1439575"/>
            <a:ext cx="12532223" cy="24561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ts val="1900"/>
              </a:lnSpc>
              <a:defRPr i="1">
                <a:solidFill>
                  <a:srgbClr val="6B7280"/>
                </a:solidFill>
                <a:latin typeface="Inter"/>
                <a:ea typeface="Inter"/>
                <a:cs typeface="Inter"/>
                <a:sym typeface="Inter"/>
              </a:defRPr>
            </a:lvl1pPr>
          </a:lstStyle>
          <a:p>
            <a:pPr/>
            <a:r>
              <a:t>Fallback Event-Driven &amp; Data Recovery</a:t>
            </a:r>
          </a:p>
        </p:txBody>
      </p:sp>
      <p:sp>
        <p:nvSpPr>
          <p:cNvPr id="133" name="Text 2"/>
          <p:cNvSpPr txBox="1"/>
          <p:nvPr/>
        </p:nvSpPr>
        <p:spPr>
          <a:xfrm>
            <a:off x="10255901" y="596237"/>
            <a:ext cx="1349760" cy="25780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lnSpc>
                <a:spcPts val="1000"/>
              </a:lnSpc>
              <a:defRPr b="1" spc="52" sz="1000">
                <a:solidFill>
                  <a:srgbClr val="4B5563"/>
                </a:solidFill>
                <a:latin typeface="Inter"/>
                <a:ea typeface="Inter"/>
                <a:cs typeface="Inter"/>
                <a:sym typeface="Inter"/>
              </a:defRPr>
            </a:pPr>
            <a:r>
              <a:t>FAULT TOLERANCE</a:t>
            </a:r>
          </a:p>
          <a:p>
            <a:pPr>
              <a:lnSpc>
                <a:spcPts val="1000"/>
              </a:lnSpc>
              <a:defRPr b="1" spc="52" sz="1000">
                <a:solidFill>
                  <a:srgbClr val="4B5563"/>
                </a:solidFill>
                <a:latin typeface="Inter"/>
                <a:ea typeface="Inter"/>
                <a:cs typeface="Inter"/>
                <a:sym typeface="Inter"/>
              </a:defRPr>
            </a:pPr>
            <a:r>
              <a:t>ENGINE</a:t>
            </a:r>
          </a:p>
        </p:txBody>
      </p:sp>
      <p:sp>
        <p:nvSpPr>
          <p:cNvPr id="134" name="Text 3"/>
          <p:cNvSpPr txBox="1"/>
          <p:nvPr/>
        </p:nvSpPr>
        <p:spPr>
          <a:xfrm>
            <a:off x="902570" y="1781734"/>
            <a:ext cx="10895949" cy="21653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ts val="1700"/>
              </a:lnSpc>
              <a:defRPr b="1" sz="1500">
                <a:solidFill>
                  <a:srgbClr val="006400"/>
                </a:solidFill>
                <a:latin typeface="Inter"/>
                <a:ea typeface="Inter"/>
                <a:cs typeface="Inter"/>
                <a:sym typeface="Inter"/>
              </a:defRPr>
            </a:lvl1pPr>
          </a:lstStyle>
          <a:p>
            <a:pPr/>
            <a:r>
              <a:t>Strategia di Fallback</a:t>
            </a:r>
          </a:p>
        </p:txBody>
      </p:sp>
      <p:sp>
        <p:nvSpPr>
          <p:cNvPr id="135" name="Text 4"/>
          <p:cNvSpPr txBox="1"/>
          <p:nvPr/>
        </p:nvSpPr>
        <p:spPr>
          <a:xfrm>
            <a:off x="647998" y="2109992"/>
            <a:ext cx="10865093" cy="51803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lnSpc>
                <a:spcPts val="2100"/>
              </a:lnSpc>
              <a:defRPr sz="1300">
                <a:solidFill>
                  <a:srgbClr val="333333"/>
                </a:solidFill>
                <a:latin typeface="Inter"/>
                <a:ea typeface="Inter"/>
                <a:cs typeface="Inter"/>
                <a:sym typeface="Inter"/>
              </a:defRPr>
            </a:pPr>
            <a:r>
              <a:t>RabbitMQ non agisce come coda primaria, ma come un </a:t>
            </a:r>
            <a:r>
              <a:rPr b="1"/>
              <a:t>buffer persistente</a:t>
            </a:r>
            <a:r>
              <a:t> attivato dal </a:t>
            </a:r>
            <a:r>
              <a:rPr b="1"/>
              <a:t>Circuit Breaker</a:t>
            </a:r>
            <a:r>
              <a:t>. Quando il Database è indisponibile, i flussi di telemetria vengono dirottati per prevenire la perdita di dati.</a:t>
            </a:r>
          </a:p>
        </p:txBody>
      </p:sp>
      <p:sp>
        <p:nvSpPr>
          <p:cNvPr id="136" name="Text 5"/>
          <p:cNvSpPr txBox="1"/>
          <p:nvPr/>
        </p:nvSpPr>
        <p:spPr>
          <a:xfrm>
            <a:off x="647998" y="3765779"/>
            <a:ext cx="5080639" cy="21069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ts val="1700"/>
              </a:lnSpc>
              <a:defRPr b="1" sz="1300">
                <a:solidFill>
                  <a:srgbClr val="333333"/>
                </a:solidFill>
                <a:latin typeface="Inter"/>
                <a:ea typeface="Inter"/>
                <a:cs typeface="Inter"/>
                <a:sym typeface="Inter"/>
              </a:defRPr>
            </a:lvl1pPr>
          </a:lstStyle>
          <a:p>
            <a:pPr/>
            <a:r>
              <a:t>Publisher &amp; Exchange</a:t>
            </a:r>
          </a:p>
        </p:txBody>
      </p:sp>
      <p:sp>
        <p:nvSpPr>
          <p:cNvPr id="137" name="Text 6"/>
          <p:cNvSpPr txBox="1"/>
          <p:nvPr/>
        </p:nvSpPr>
        <p:spPr>
          <a:xfrm>
            <a:off x="648000" y="4042417"/>
            <a:ext cx="7310464" cy="15112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lnSpc>
                <a:spcPts val="1200"/>
              </a:lnSpc>
              <a:defRPr sz="1000">
                <a:solidFill>
                  <a:srgbClr val="4B5563"/>
                </a:solidFill>
                <a:latin typeface="Inter"/>
                <a:ea typeface="Inter"/>
                <a:cs typeface="Inter"/>
                <a:sym typeface="Inter"/>
              </a:defRPr>
            </a:pPr>
            <a:r>
              <a:t>• </a:t>
            </a:r>
            <a:r>
              <a:rPr b="1"/>
              <a:t>TopicExchange</a:t>
            </a:r>
            <a:r>
              <a:t> per routing granulare</a:t>
            </a:r>
          </a:p>
        </p:txBody>
      </p:sp>
      <p:sp>
        <p:nvSpPr>
          <p:cNvPr id="138" name="Text 7"/>
          <p:cNvSpPr txBox="1"/>
          <p:nvPr/>
        </p:nvSpPr>
        <p:spPr>
          <a:xfrm>
            <a:off x="647999" y="4258417"/>
            <a:ext cx="8100787" cy="15112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lnSpc>
                <a:spcPts val="1200"/>
              </a:lnSpc>
              <a:defRPr sz="1000">
                <a:solidFill>
                  <a:srgbClr val="4B5563"/>
                </a:solidFill>
                <a:latin typeface="Inter"/>
                <a:ea typeface="Inter"/>
                <a:cs typeface="Inter"/>
                <a:sym typeface="Inter"/>
              </a:defRPr>
            </a:pPr>
            <a:r>
              <a:t>• </a:t>
            </a:r>
            <a:r>
              <a:rPr b="1"/>
              <a:t>Publisher-Confirm</a:t>
            </a:r>
            <a:r>
              <a:t> per garanzia consegna</a:t>
            </a:r>
          </a:p>
        </p:txBody>
      </p:sp>
      <p:sp>
        <p:nvSpPr>
          <p:cNvPr id="139" name="Text 8"/>
          <p:cNvSpPr txBox="1"/>
          <p:nvPr/>
        </p:nvSpPr>
        <p:spPr>
          <a:xfrm>
            <a:off x="648000" y="4474417"/>
            <a:ext cx="5729824" cy="15112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ts val="1200"/>
              </a:lnSpc>
              <a:defRPr sz="1000">
                <a:solidFill>
                  <a:srgbClr val="4B5563"/>
                </a:solidFill>
                <a:latin typeface="Inter"/>
                <a:ea typeface="Inter"/>
                <a:cs typeface="Inter"/>
                <a:sym typeface="Inter"/>
              </a:defRPr>
            </a:lvl1pPr>
          </a:lstStyle>
          <a:p>
            <a:pPr/>
            <a:r>
              <a:t>• Serializzazione JSON sicura</a:t>
            </a:r>
          </a:p>
        </p:txBody>
      </p:sp>
      <p:sp>
        <p:nvSpPr>
          <p:cNvPr id="140" name="Text 9"/>
          <p:cNvSpPr txBox="1"/>
          <p:nvPr/>
        </p:nvSpPr>
        <p:spPr>
          <a:xfrm>
            <a:off x="4485616" y="3765779"/>
            <a:ext cx="3302415" cy="21069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ts val="1700"/>
              </a:lnSpc>
              <a:defRPr b="1" sz="1300">
                <a:solidFill>
                  <a:srgbClr val="006400"/>
                </a:solidFill>
                <a:latin typeface="Inter"/>
                <a:ea typeface="Inter"/>
                <a:cs typeface="Inter"/>
                <a:sym typeface="Inter"/>
              </a:defRPr>
            </a:lvl1pPr>
          </a:lstStyle>
          <a:p>
            <a:pPr/>
            <a:r>
              <a:t>Quorum Queues</a:t>
            </a:r>
          </a:p>
        </p:txBody>
      </p:sp>
      <p:sp>
        <p:nvSpPr>
          <p:cNvPr id="141" name="Text 10"/>
          <p:cNvSpPr txBox="1"/>
          <p:nvPr/>
        </p:nvSpPr>
        <p:spPr>
          <a:xfrm>
            <a:off x="4485616" y="4042417"/>
            <a:ext cx="6124986" cy="15112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lnSpc>
                <a:spcPts val="1200"/>
              </a:lnSpc>
              <a:defRPr sz="1000">
                <a:solidFill>
                  <a:srgbClr val="4B5563"/>
                </a:solidFill>
                <a:latin typeface="Inter"/>
                <a:ea typeface="Inter"/>
                <a:cs typeface="Inter"/>
                <a:sym typeface="Inter"/>
              </a:defRPr>
            </a:pPr>
            <a:r>
              <a:t>• </a:t>
            </a:r>
            <a:r>
              <a:rPr b="1"/>
              <a:t>High Availability</a:t>
            </a:r>
            <a:r>
              <a:t> distribuita</a:t>
            </a:r>
          </a:p>
        </p:txBody>
      </p:sp>
      <p:sp>
        <p:nvSpPr>
          <p:cNvPr id="142" name="Text 11"/>
          <p:cNvSpPr txBox="1"/>
          <p:nvPr/>
        </p:nvSpPr>
        <p:spPr>
          <a:xfrm>
            <a:off x="4485616" y="4258417"/>
            <a:ext cx="7112884" cy="15112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lnSpc>
                <a:spcPts val="1200"/>
              </a:lnSpc>
              <a:defRPr sz="1000">
                <a:solidFill>
                  <a:srgbClr val="4B5563"/>
                </a:solidFill>
                <a:latin typeface="Inter"/>
                <a:ea typeface="Inter"/>
                <a:cs typeface="Inter"/>
                <a:sym typeface="Inter"/>
              </a:defRPr>
            </a:pPr>
            <a:r>
              <a:t>• </a:t>
            </a:r>
            <a:r>
              <a:rPr b="1"/>
              <a:t>Dead Letter Queue (DLQ)</a:t>
            </a:r>
            <a:r>
              <a:t> per scarti</a:t>
            </a:r>
          </a:p>
        </p:txBody>
      </p:sp>
      <p:sp>
        <p:nvSpPr>
          <p:cNvPr id="143" name="Text 12"/>
          <p:cNvSpPr txBox="1"/>
          <p:nvPr/>
        </p:nvSpPr>
        <p:spPr>
          <a:xfrm>
            <a:off x="4485616" y="4474417"/>
            <a:ext cx="6717726" cy="15112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ts val="1200"/>
              </a:lnSpc>
              <a:defRPr sz="1000">
                <a:solidFill>
                  <a:srgbClr val="4B5563"/>
                </a:solidFill>
                <a:latin typeface="Inter"/>
                <a:ea typeface="Inter"/>
                <a:cs typeface="Inter"/>
                <a:sym typeface="Inter"/>
              </a:defRPr>
            </a:lvl1pPr>
          </a:lstStyle>
          <a:p>
            <a:pPr/>
            <a:r>
              <a:t>• TTL e Delivery Limit configurati</a:t>
            </a:r>
          </a:p>
        </p:txBody>
      </p:sp>
      <p:sp>
        <p:nvSpPr>
          <p:cNvPr id="144" name="Text 13"/>
          <p:cNvSpPr txBox="1"/>
          <p:nvPr/>
        </p:nvSpPr>
        <p:spPr>
          <a:xfrm>
            <a:off x="8323350" y="3765779"/>
            <a:ext cx="5334669" cy="21069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ts val="1700"/>
              </a:lnSpc>
              <a:defRPr b="1" sz="1300">
                <a:solidFill>
                  <a:srgbClr val="333333"/>
                </a:solidFill>
                <a:latin typeface="Inter"/>
                <a:ea typeface="Inter"/>
                <a:cs typeface="Inter"/>
                <a:sym typeface="Inter"/>
              </a:defRPr>
            </a:lvl1pPr>
          </a:lstStyle>
          <a:p>
            <a:pPr/>
            <a:r>
              <a:t>Self-Healing Consumer</a:t>
            </a:r>
          </a:p>
        </p:txBody>
      </p:sp>
      <p:sp>
        <p:nvSpPr>
          <p:cNvPr id="145" name="Text 14"/>
          <p:cNvSpPr txBox="1"/>
          <p:nvPr/>
        </p:nvSpPr>
        <p:spPr>
          <a:xfrm>
            <a:off x="8323350" y="4042417"/>
            <a:ext cx="6915306" cy="15112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ts val="1200"/>
              </a:lnSpc>
              <a:defRPr sz="1000">
                <a:solidFill>
                  <a:srgbClr val="4B5563"/>
                </a:solidFill>
                <a:latin typeface="Inter"/>
                <a:ea typeface="Inter"/>
                <a:cs typeface="Inter"/>
                <a:sym typeface="Inter"/>
              </a:defRPr>
            </a:lvl1pPr>
          </a:lstStyle>
          <a:p>
            <a:pPr/>
            <a:r>
              <a:t>• Riconciliazione automatica con DB</a:t>
            </a:r>
          </a:p>
        </p:txBody>
      </p:sp>
      <p:sp>
        <p:nvSpPr>
          <p:cNvPr id="146" name="Text 15"/>
          <p:cNvSpPr txBox="1"/>
          <p:nvPr/>
        </p:nvSpPr>
        <p:spPr>
          <a:xfrm>
            <a:off x="8323350" y="4258417"/>
            <a:ext cx="6717726" cy="15112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ts val="1200"/>
              </a:lnSpc>
              <a:defRPr sz="1000">
                <a:solidFill>
                  <a:srgbClr val="4B5563"/>
                </a:solidFill>
                <a:latin typeface="Inter"/>
                <a:ea typeface="Inter"/>
                <a:cs typeface="Inter"/>
                <a:sym typeface="Inter"/>
              </a:defRPr>
            </a:lvl1pPr>
          </a:lstStyle>
          <a:p>
            <a:pPr/>
            <a:r>
              <a:t>• Verifica duplicati (Idempotenza)</a:t>
            </a:r>
          </a:p>
        </p:txBody>
      </p:sp>
      <p:sp>
        <p:nvSpPr>
          <p:cNvPr id="147" name="Text 16"/>
          <p:cNvSpPr txBox="1"/>
          <p:nvPr/>
        </p:nvSpPr>
        <p:spPr>
          <a:xfrm>
            <a:off x="8323350" y="4474417"/>
            <a:ext cx="7112884" cy="15112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ts val="1200"/>
              </a:lnSpc>
              <a:defRPr sz="1000">
                <a:solidFill>
                  <a:srgbClr val="4B5563"/>
                </a:solidFill>
                <a:latin typeface="Inter"/>
                <a:ea typeface="Inter"/>
                <a:cs typeface="Inter"/>
                <a:sym typeface="Inter"/>
              </a:defRPr>
            </a:lvl1pPr>
          </a:lstStyle>
          <a:p>
            <a:pPr/>
            <a:r>
              <a:t>• Re-queueing intelligente su errore</a:t>
            </a:r>
          </a:p>
        </p:txBody>
      </p:sp>
      <p:sp>
        <p:nvSpPr>
          <p:cNvPr id="148" name="Text 17"/>
          <p:cNvSpPr txBox="1"/>
          <p:nvPr/>
        </p:nvSpPr>
        <p:spPr>
          <a:xfrm>
            <a:off x="462855" y="5891927"/>
            <a:ext cx="11266236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ts val="900"/>
              </a:lnSpc>
              <a:defRPr b="1" spc="89" sz="900">
                <a:solidFill>
                  <a:srgbClr val="9CA3AF"/>
                </a:solidFill>
                <a:latin typeface="Inter"/>
                <a:ea typeface="Inter"/>
                <a:cs typeface="Inter"/>
                <a:sym typeface="Inter"/>
              </a:defRPr>
            </a:lvl1pPr>
          </a:lstStyle>
          <a:p>
            <a:pPr/>
            <a:r>
              <a:t>PATTERN ARCHITETTURALI IMPLEMENTATI</a:t>
            </a:r>
          </a:p>
        </p:txBody>
      </p:sp>
      <p:sp>
        <p:nvSpPr>
          <p:cNvPr id="149" name="Text 18"/>
          <p:cNvSpPr txBox="1"/>
          <p:nvPr/>
        </p:nvSpPr>
        <p:spPr>
          <a:xfrm>
            <a:off x="555429" y="6177776"/>
            <a:ext cx="2294673" cy="18160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ts val="1500"/>
              </a:lnSpc>
              <a:defRPr b="1" sz="1000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defRPr>
            </a:lvl1pPr>
          </a:lstStyle>
          <a:p>
            <a:pPr/>
            <a:r>
              <a:t>Circuit Breaker</a:t>
            </a:r>
          </a:p>
        </p:txBody>
      </p:sp>
      <p:sp>
        <p:nvSpPr>
          <p:cNvPr id="150" name="Text 19"/>
          <p:cNvSpPr txBox="1"/>
          <p:nvPr/>
        </p:nvSpPr>
        <p:spPr>
          <a:xfrm>
            <a:off x="1774286" y="6177776"/>
            <a:ext cx="3442253" cy="18160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ts val="1500"/>
              </a:lnSpc>
              <a:defRPr b="1" sz="1000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defRPr>
            </a:lvl1pPr>
          </a:lstStyle>
          <a:p>
            <a:pPr/>
            <a:r>
              <a:t>Event-Driven Fallback</a:t>
            </a:r>
          </a:p>
        </p:txBody>
      </p:sp>
      <p:sp>
        <p:nvSpPr>
          <p:cNvPr id="151" name="Text 20"/>
          <p:cNvSpPr txBox="1"/>
          <p:nvPr/>
        </p:nvSpPr>
        <p:spPr>
          <a:xfrm>
            <a:off x="3432857" y="6177776"/>
            <a:ext cx="2018124" cy="18160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ts val="1500"/>
              </a:lnSpc>
              <a:defRPr b="1" sz="1000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defRPr>
            </a:lvl1pPr>
          </a:lstStyle>
          <a:p>
            <a:pPr/>
            <a:r>
              <a:t>Message Queue</a:t>
            </a:r>
          </a:p>
        </p:txBody>
      </p:sp>
      <p:sp>
        <p:nvSpPr>
          <p:cNvPr id="152" name="Text 21"/>
          <p:cNvSpPr txBox="1"/>
          <p:nvPr/>
        </p:nvSpPr>
        <p:spPr>
          <a:xfrm>
            <a:off x="4721142" y="6177776"/>
            <a:ext cx="2710378" cy="18160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ts val="1500"/>
              </a:lnSpc>
              <a:defRPr b="1" sz="1000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defRPr>
            </a:lvl1pPr>
          </a:lstStyle>
          <a:p>
            <a:pPr/>
            <a:r>
              <a:t>Dead Letter Queue</a:t>
            </a:r>
          </a:p>
        </p:txBody>
      </p:sp>
      <p:sp>
        <p:nvSpPr>
          <p:cNvPr id="153" name="Text 22"/>
          <p:cNvSpPr txBox="1"/>
          <p:nvPr/>
        </p:nvSpPr>
        <p:spPr>
          <a:xfrm>
            <a:off x="6163714" y="6177776"/>
            <a:ext cx="2697454" cy="18160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ts val="1500"/>
              </a:lnSpc>
              <a:defRPr b="1" sz="1000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defRPr>
            </a:lvl1pPr>
          </a:lstStyle>
          <a:p>
            <a:pPr/>
            <a:r>
              <a:t>Publisher-Confirm</a:t>
            </a:r>
          </a:p>
        </p:txBody>
      </p:sp>
      <p:sp>
        <p:nvSpPr>
          <p:cNvPr id="154" name="Text 23"/>
          <p:cNvSpPr txBox="1"/>
          <p:nvPr/>
        </p:nvSpPr>
        <p:spPr>
          <a:xfrm>
            <a:off x="7575428" y="6177776"/>
            <a:ext cx="1761535" cy="18160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ts val="1500"/>
              </a:lnSpc>
              <a:defRPr b="1" sz="1000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defRPr>
            </a:lvl1pPr>
          </a:lstStyle>
          <a:p>
            <a:pPr/>
            <a:r>
              <a:t>Self-Healing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blipFill rotWithShape="1">
          <a:blip r:embed="rId2"/>
          <a:srcRect l="0" t="0" r="0" b="0"/>
          <a:stretch>
            <a:fillRect/>
          </a:stretch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6" name="Image 0" descr="Image 0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ln w="12700">
            <a:miter lim="400000"/>
          </a:ln>
        </p:spPr>
      </p:pic>
      <p:pic>
        <p:nvPicPr>
          <p:cNvPr id="157" name="Image 1" descr="Image 1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381000" y="381000"/>
            <a:ext cx="11430000" cy="685800"/>
          </a:xfrm>
          <a:prstGeom prst="rect">
            <a:avLst/>
          </a:prstGeom>
          <a:ln w="12700">
            <a:miter lim="400000"/>
          </a:ln>
        </p:spPr>
      </p:pic>
      <p:pic>
        <p:nvPicPr>
          <p:cNvPr id="158" name="Image 2" descr="Image 2"/>
          <p:cNvPicPr>
            <a:picLocks noChangeAspect="1"/>
          </p:cNvPicPr>
          <p:nvPr/>
        </p:nvPicPr>
        <p:blipFill>
          <a:blip r:embed="rId4">
            <a:extLst/>
          </a:blip>
          <a:stretch>
            <a:fillRect/>
          </a:stretch>
        </p:blipFill>
        <p:spPr>
          <a:xfrm>
            <a:off x="1494233" y="1371600"/>
            <a:ext cx="609602" cy="457200"/>
          </a:xfrm>
          <a:prstGeom prst="rect">
            <a:avLst/>
          </a:prstGeom>
          <a:ln w="12700">
            <a:miter lim="400000"/>
          </a:ln>
        </p:spPr>
      </p:pic>
      <p:pic>
        <p:nvPicPr>
          <p:cNvPr id="159" name="Image 3" descr="Image 3"/>
          <p:cNvPicPr>
            <a:picLocks noChangeAspect="1"/>
          </p:cNvPicPr>
          <p:nvPr/>
        </p:nvPicPr>
        <p:blipFill>
          <a:blip r:embed="rId5">
            <a:extLst/>
          </a:blip>
          <a:stretch>
            <a:fillRect/>
          </a:stretch>
        </p:blipFill>
        <p:spPr>
          <a:xfrm>
            <a:off x="1684733" y="1447800"/>
            <a:ext cx="228602" cy="304800"/>
          </a:xfrm>
          <a:prstGeom prst="rect">
            <a:avLst/>
          </a:prstGeom>
          <a:ln w="12700">
            <a:miter lim="400000"/>
          </a:ln>
        </p:spPr>
      </p:pic>
      <p:pic>
        <p:nvPicPr>
          <p:cNvPr id="160" name="Image 4" descr="Image 4"/>
          <p:cNvPicPr>
            <a:picLocks noChangeAspect="1"/>
          </p:cNvPicPr>
          <p:nvPr/>
        </p:nvPicPr>
        <p:blipFill>
          <a:blip r:embed="rId6">
            <a:extLst/>
          </a:blip>
          <a:stretch>
            <a:fillRect/>
          </a:stretch>
        </p:blipFill>
        <p:spPr>
          <a:xfrm>
            <a:off x="533400" y="1905000"/>
            <a:ext cx="2531269" cy="457200"/>
          </a:xfrm>
          <a:prstGeom prst="rect">
            <a:avLst/>
          </a:prstGeom>
          <a:ln w="12700">
            <a:miter lim="400000"/>
          </a:ln>
        </p:spPr>
      </p:pic>
      <p:pic>
        <p:nvPicPr>
          <p:cNvPr id="161" name="Image 5" descr="Image 5"/>
          <p:cNvPicPr>
            <a:picLocks noChangeAspect="1"/>
          </p:cNvPicPr>
          <p:nvPr/>
        </p:nvPicPr>
        <p:blipFill>
          <a:blip r:embed="rId7">
            <a:extLst/>
          </a:blip>
          <a:stretch>
            <a:fillRect/>
          </a:stretch>
        </p:blipFill>
        <p:spPr>
          <a:xfrm>
            <a:off x="3159917" y="1905000"/>
            <a:ext cx="142877" cy="304800"/>
          </a:xfrm>
          <a:prstGeom prst="rect">
            <a:avLst/>
          </a:prstGeom>
          <a:ln w="12700">
            <a:miter lim="400000"/>
          </a:ln>
        </p:spPr>
      </p:pic>
      <p:pic>
        <p:nvPicPr>
          <p:cNvPr id="162" name="Image 6" descr="Image 6"/>
          <p:cNvPicPr>
            <a:picLocks noChangeAspect="1"/>
          </p:cNvPicPr>
          <p:nvPr/>
        </p:nvPicPr>
        <p:blipFill>
          <a:blip r:embed="rId8">
            <a:extLst/>
          </a:blip>
          <a:stretch>
            <a:fillRect/>
          </a:stretch>
        </p:blipFill>
        <p:spPr>
          <a:xfrm>
            <a:off x="4358878" y="1371600"/>
            <a:ext cx="609602" cy="457200"/>
          </a:xfrm>
          <a:prstGeom prst="rect">
            <a:avLst/>
          </a:prstGeom>
          <a:ln w="12700">
            <a:miter lim="400000"/>
          </a:ln>
        </p:spPr>
      </p:pic>
      <p:pic>
        <p:nvPicPr>
          <p:cNvPr id="163" name="Image 7" descr="Image 7"/>
          <p:cNvPicPr>
            <a:picLocks noChangeAspect="1"/>
          </p:cNvPicPr>
          <p:nvPr/>
        </p:nvPicPr>
        <p:blipFill>
          <a:blip r:embed="rId9">
            <a:extLst/>
          </a:blip>
          <a:stretch>
            <a:fillRect/>
          </a:stretch>
        </p:blipFill>
        <p:spPr>
          <a:xfrm>
            <a:off x="4549378" y="1447800"/>
            <a:ext cx="228602" cy="304800"/>
          </a:xfrm>
          <a:prstGeom prst="rect">
            <a:avLst/>
          </a:prstGeom>
          <a:ln w="12700">
            <a:miter lim="400000"/>
          </a:ln>
        </p:spPr>
      </p:pic>
      <p:pic>
        <p:nvPicPr>
          <p:cNvPr id="164" name="Image 8" descr="Image 8"/>
          <p:cNvPicPr>
            <a:picLocks noChangeAspect="1"/>
          </p:cNvPicPr>
          <p:nvPr/>
        </p:nvPicPr>
        <p:blipFill>
          <a:blip r:embed="rId10">
            <a:extLst/>
          </a:blip>
          <a:stretch>
            <a:fillRect/>
          </a:stretch>
        </p:blipFill>
        <p:spPr>
          <a:xfrm>
            <a:off x="3398044" y="1905000"/>
            <a:ext cx="2531271" cy="457200"/>
          </a:xfrm>
          <a:prstGeom prst="rect">
            <a:avLst/>
          </a:prstGeom>
          <a:ln w="12700">
            <a:miter lim="400000"/>
          </a:ln>
        </p:spPr>
      </p:pic>
      <p:pic>
        <p:nvPicPr>
          <p:cNvPr id="165" name="Image 9" descr="Image 9"/>
          <p:cNvPicPr>
            <a:picLocks noChangeAspect="1"/>
          </p:cNvPicPr>
          <p:nvPr/>
        </p:nvPicPr>
        <p:blipFill>
          <a:blip r:embed="rId7">
            <a:extLst/>
          </a:blip>
          <a:stretch>
            <a:fillRect/>
          </a:stretch>
        </p:blipFill>
        <p:spPr>
          <a:xfrm>
            <a:off x="6024562" y="1905000"/>
            <a:ext cx="142877" cy="304800"/>
          </a:xfrm>
          <a:prstGeom prst="rect">
            <a:avLst/>
          </a:prstGeom>
          <a:ln w="12700">
            <a:miter lim="400000"/>
          </a:ln>
        </p:spPr>
      </p:pic>
      <p:pic>
        <p:nvPicPr>
          <p:cNvPr id="166" name="Image 10" descr="Image 10"/>
          <p:cNvPicPr>
            <a:picLocks noChangeAspect="1"/>
          </p:cNvPicPr>
          <p:nvPr/>
        </p:nvPicPr>
        <p:blipFill>
          <a:blip r:embed="rId11">
            <a:extLst/>
          </a:blip>
          <a:stretch>
            <a:fillRect/>
          </a:stretch>
        </p:blipFill>
        <p:spPr>
          <a:xfrm>
            <a:off x="7223521" y="1371600"/>
            <a:ext cx="609602" cy="457200"/>
          </a:xfrm>
          <a:prstGeom prst="rect">
            <a:avLst/>
          </a:prstGeom>
          <a:ln w="12700">
            <a:miter lim="400000"/>
          </a:ln>
        </p:spPr>
      </p:pic>
      <p:pic>
        <p:nvPicPr>
          <p:cNvPr id="167" name="Image 11" descr="Image 11"/>
          <p:cNvPicPr>
            <a:picLocks noChangeAspect="1"/>
          </p:cNvPicPr>
          <p:nvPr/>
        </p:nvPicPr>
        <p:blipFill>
          <a:blip r:embed="rId12">
            <a:extLst/>
          </a:blip>
          <a:stretch>
            <a:fillRect/>
          </a:stretch>
        </p:blipFill>
        <p:spPr>
          <a:xfrm>
            <a:off x="7428309" y="1447800"/>
            <a:ext cx="200027" cy="304800"/>
          </a:xfrm>
          <a:prstGeom prst="rect">
            <a:avLst/>
          </a:prstGeom>
          <a:ln w="12700">
            <a:miter lim="400000"/>
          </a:ln>
        </p:spPr>
      </p:pic>
      <p:pic>
        <p:nvPicPr>
          <p:cNvPr id="168" name="Image 12" descr="Image 12"/>
          <p:cNvPicPr>
            <a:picLocks noChangeAspect="1"/>
          </p:cNvPicPr>
          <p:nvPr/>
        </p:nvPicPr>
        <p:blipFill>
          <a:blip r:embed="rId13">
            <a:extLst/>
          </a:blip>
          <a:stretch>
            <a:fillRect/>
          </a:stretch>
        </p:blipFill>
        <p:spPr>
          <a:xfrm>
            <a:off x="6262687" y="1905000"/>
            <a:ext cx="2531271" cy="457200"/>
          </a:xfrm>
          <a:prstGeom prst="rect">
            <a:avLst/>
          </a:prstGeom>
          <a:ln w="12700">
            <a:miter lim="400000"/>
          </a:ln>
        </p:spPr>
      </p:pic>
      <p:pic>
        <p:nvPicPr>
          <p:cNvPr id="169" name="Image 13" descr="Image 13"/>
          <p:cNvPicPr>
            <a:picLocks noChangeAspect="1"/>
          </p:cNvPicPr>
          <p:nvPr/>
        </p:nvPicPr>
        <p:blipFill>
          <a:blip r:embed="rId7">
            <a:extLst/>
          </a:blip>
          <a:stretch>
            <a:fillRect/>
          </a:stretch>
        </p:blipFill>
        <p:spPr>
          <a:xfrm>
            <a:off x="8889206" y="1905000"/>
            <a:ext cx="142877" cy="304800"/>
          </a:xfrm>
          <a:prstGeom prst="rect">
            <a:avLst/>
          </a:prstGeom>
          <a:ln w="12700">
            <a:miter lim="400000"/>
          </a:ln>
        </p:spPr>
      </p:pic>
      <p:pic>
        <p:nvPicPr>
          <p:cNvPr id="170" name="Image 14" descr="Image 14"/>
          <p:cNvPicPr>
            <a:picLocks noChangeAspect="1"/>
          </p:cNvPicPr>
          <p:nvPr/>
        </p:nvPicPr>
        <p:blipFill>
          <a:blip r:embed="rId14">
            <a:extLst/>
          </a:blip>
          <a:stretch>
            <a:fillRect/>
          </a:stretch>
        </p:blipFill>
        <p:spPr>
          <a:xfrm>
            <a:off x="10088164" y="1371600"/>
            <a:ext cx="609602" cy="609600"/>
          </a:xfrm>
          <a:prstGeom prst="rect">
            <a:avLst/>
          </a:prstGeom>
          <a:ln w="12700">
            <a:miter lim="400000"/>
          </a:ln>
        </p:spPr>
      </p:pic>
      <p:pic>
        <p:nvPicPr>
          <p:cNvPr id="171" name="Image 15" descr="Image 15"/>
          <p:cNvPicPr>
            <a:picLocks noChangeAspect="1"/>
          </p:cNvPicPr>
          <p:nvPr/>
        </p:nvPicPr>
        <p:blipFill>
          <a:blip r:embed="rId15">
            <a:extLst/>
          </a:blip>
          <a:stretch>
            <a:fillRect/>
          </a:stretch>
        </p:blipFill>
        <p:spPr>
          <a:xfrm>
            <a:off x="10278664" y="1524000"/>
            <a:ext cx="228602" cy="304800"/>
          </a:xfrm>
          <a:prstGeom prst="rect">
            <a:avLst/>
          </a:prstGeom>
          <a:ln w="12700">
            <a:miter lim="400000"/>
          </a:ln>
        </p:spPr>
      </p:pic>
      <p:pic>
        <p:nvPicPr>
          <p:cNvPr id="172" name="Image 16" descr="Image 16"/>
          <p:cNvPicPr>
            <a:picLocks noChangeAspect="1"/>
          </p:cNvPicPr>
          <p:nvPr/>
        </p:nvPicPr>
        <p:blipFill>
          <a:blip r:embed="rId16">
            <a:extLst/>
          </a:blip>
          <a:stretch>
            <a:fillRect/>
          </a:stretch>
        </p:blipFill>
        <p:spPr>
          <a:xfrm>
            <a:off x="9127331" y="2057400"/>
            <a:ext cx="2531271" cy="457200"/>
          </a:xfrm>
          <a:prstGeom prst="rect">
            <a:avLst/>
          </a:prstGeom>
          <a:ln w="12700">
            <a:miter lim="400000"/>
          </a:ln>
        </p:spPr>
      </p:pic>
      <p:pic>
        <p:nvPicPr>
          <p:cNvPr id="173" name="Image 17" descr="Image 17"/>
          <p:cNvPicPr>
            <a:picLocks noChangeAspect="1"/>
          </p:cNvPicPr>
          <p:nvPr/>
        </p:nvPicPr>
        <p:blipFill>
          <a:blip r:embed="rId17">
            <a:extLst/>
          </a:blip>
          <a:stretch>
            <a:fillRect/>
          </a:stretch>
        </p:blipFill>
        <p:spPr>
          <a:xfrm>
            <a:off x="381000" y="3124200"/>
            <a:ext cx="5562600" cy="3352800"/>
          </a:xfrm>
          <a:prstGeom prst="rect">
            <a:avLst/>
          </a:prstGeom>
          <a:ln w="12700">
            <a:miter lim="400000"/>
          </a:ln>
        </p:spPr>
      </p:pic>
      <p:pic>
        <p:nvPicPr>
          <p:cNvPr id="174" name="Image 18" descr="Image 18"/>
          <p:cNvPicPr>
            <a:picLocks noChangeAspect="1"/>
          </p:cNvPicPr>
          <p:nvPr/>
        </p:nvPicPr>
        <p:blipFill>
          <a:blip r:embed="rId18">
            <a:extLst/>
          </a:blip>
          <a:stretch>
            <a:fillRect/>
          </a:stretch>
        </p:blipFill>
        <p:spPr>
          <a:xfrm>
            <a:off x="609600" y="3390900"/>
            <a:ext cx="190500" cy="190500"/>
          </a:xfrm>
          <a:prstGeom prst="rect">
            <a:avLst/>
          </a:prstGeom>
          <a:ln w="12700">
            <a:miter lim="400000"/>
          </a:ln>
        </p:spPr>
      </p:pic>
      <p:pic>
        <p:nvPicPr>
          <p:cNvPr id="175" name="Image 19" descr="Image 19"/>
          <p:cNvPicPr>
            <a:picLocks noChangeAspect="1"/>
          </p:cNvPicPr>
          <p:nvPr/>
        </p:nvPicPr>
        <p:blipFill>
          <a:blip r:embed="rId19">
            <a:extLst/>
          </a:blip>
          <a:stretch>
            <a:fillRect/>
          </a:stretch>
        </p:blipFill>
        <p:spPr>
          <a:xfrm>
            <a:off x="609600" y="3810000"/>
            <a:ext cx="114300" cy="190500"/>
          </a:xfrm>
          <a:prstGeom prst="rect">
            <a:avLst/>
          </a:prstGeom>
          <a:ln w="12700">
            <a:miter lim="400000"/>
          </a:ln>
        </p:spPr>
      </p:pic>
      <p:pic>
        <p:nvPicPr>
          <p:cNvPr id="176" name="Image 20" descr="Image 20"/>
          <p:cNvPicPr>
            <a:picLocks noChangeAspect="1"/>
          </p:cNvPicPr>
          <p:nvPr/>
        </p:nvPicPr>
        <p:blipFill>
          <a:blip r:embed="rId19">
            <a:extLst/>
          </a:blip>
          <a:stretch>
            <a:fillRect/>
          </a:stretch>
        </p:blipFill>
        <p:spPr>
          <a:xfrm>
            <a:off x="609600" y="4381500"/>
            <a:ext cx="114300" cy="190500"/>
          </a:xfrm>
          <a:prstGeom prst="rect">
            <a:avLst/>
          </a:prstGeom>
          <a:ln w="12700">
            <a:miter lim="400000"/>
          </a:ln>
        </p:spPr>
      </p:pic>
      <p:pic>
        <p:nvPicPr>
          <p:cNvPr id="177" name="Image 21" descr="Image 21"/>
          <p:cNvPicPr>
            <a:picLocks noChangeAspect="1"/>
          </p:cNvPicPr>
          <p:nvPr/>
        </p:nvPicPr>
        <p:blipFill>
          <a:blip r:embed="rId19">
            <a:extLst/>
          </a:blip>
          <a:stretch>
            <a:fillRect/>
          </a:stretch>
        </p:blipFill>
        <p:spPr>
          <a:xfrm>
            <a:off x="609600" y="4953000"/>
            <a:ext cx="114300" cy="190500"/>
          </a:xfrm>
          <a:prstGeom prst="rect">
            <a:avLst/>
          </a:prstGeom>
          <a:ln w="12700">
            <a:miter lim="400000"/>
          </a:ln>
        </p:spPr>
      </p:pic>
      <p:pic>
        <p:nvPicPr>
          <p:cNvPr id="178" name="Image 22" descr="Image 22"/>
          <p:cNvPicPr>
            <a:picLocks noChangeAspect="1"/>
          </p:cNvPicPr>
          <p:nvPr/>
        </p:nvPicPr>
        <p:blipFill>
          <a:blip r:embed="rId20">
            <a:extLst/>
          </a:blip>
          <a:stretch>
            <a:fillRect/>
          </a:stretch>
        </p:blipFill>
        <p:spPr>
          <a:xfrm>
            <a:off x="6248400" y="3124200"/>
            <a:ext cx="5562600" cy="3352800"/>
          </a:xfrm>
          <a:prstGeom prst="rect">
            <a:avLst/>
          </a:prstGeom>
          <a:ln w="12700">
            <a:miter lim="400000"/>
          </a:ln>
        </p:spPr>
      </p:pic>
      <p:pic>
        <p:nvPicPr>
          <p:cNvPr id="179" name="Image 23" descr="Image 23"/>
          <p:cNvPicPr>
            <a:picLocks noChangeAspect="1"/>
          </p:cNvPicPr>
          <p:nvPr/>
        </p:nvPicPr>
        <p:blipFill>
          <a:blip r:embed="rId21">
            <a:extLst/>
          </a:blip>
          <a:stretch>
            <a:fillRect/>
          </a:stretch>
        </p:blipFill>
        <p:spPr>
          <a:xfrm>
            <a:off x="6477000" y="3390900"/>
            <a:ext cx="171450" cy="190500"/>
          </a:xfrm>
          <a:prstGeom prst="rect">
            <a:avLst/>
          </a:prstGeom>
          <a:ln w="12700">
            <a:miter lim="400000"/>
          </a:ln>
        </p:spPr>
      </p:pic>
      <p:pic>
        <p:nvPicPr>
          <p:cNvPr id="180" name="Image 24" descr="Image 24"/>
          <p:cNvPicPr>
            <a:picLocks noChangeAspect="1"/>
          </p:cNvPicPr>
          <p:nvPr/>
        </p:nvPicPr>
        <p:blipFill>
          <a:blip r:embed="rId22">
            <a:extLst/>
          </a:blip>
          <a:stretch>
            <a:fillRect/>
          </a:stretch>
        </p:blipFill>
        <p:spPr>
          <a:xfrm>
            <a:off x="6477000" y="4114800"/>
            <a:ext cx="3381375" cy="838200"/>
          </a:xfrm>
          <a:prstGeom prst="rect">
            <a:avLst/>
          </a:prstGeom>
          <a:ln w="12700">
            <a:miter lim="400000"/>
          </a:ln>
        </p:spPr>
      </p:pic>
      <p:pic>
        <p:nvPicPr>
          <p:cNvPr id="181" name="Image 25" descr="Image 25"/>
          <p:cNvPicPr>
            <a:picLocks noChangeAspect="1"/>
          </p:cNvPicPr>
          <p:nvPr/>
        </p:nvPicPr>
        <p:blipFill>
          <a:blip r:embed="rId22">
            <a:extLst/>
          </a:blip>
          <a:stretch>
            <a:fillRect/>
          </a:stretch>
        </p:blipFill>
        <p:spPr>
          <a:xfrm>
            <a:off x="6477000" y="5067300"/>
            <a:ext cx="3381375" cy="838200"/>
          </a:xfrm>
          <a:prstGeom prst="rect">
            <a:avLst/>
          </a:prstGeom>
          <a:ln w="12700">
            <a:miter lim="400000"/>
          </a:ln>
        </p:spPr>
      </p:pic>
      <p:pic>
        <p:nvPicPr>
          <p:cNvPr id="182" name="Image 26" descr="Image 26"/>
          <p:cNvPicPr>
            <a:picLocks noChangeAspect="1"/>
          </p:cNvPicPr>
          <p:nvPr/>
        </p:nvPicPr>
        <p:blipFill>
          <a:blip r:embed="rId23">
            <a:extLst/>
          </a:blip>
          <a:stretch>
            <a:fillRect/>
          </a:stretch>
        </p:blipFill>
        <p:spPr>
          <a:xfrm>
            <a:off x="10010775" y="3771900"/>
            <a:ext cx="1524000" cy="1524000"/>
          </a:xfrm>
          <a:prstGeom prst="rect">
            <a:avLst/>
          </a:prstGeom>
          <a:ln w="12700">
            <a:miter lim="400000"/>
          </a:ln>
        </p:spPr>
      </p:pic>
      <p:sp>
        <p:nvSpPr>
          <p:cNvPr id="183" name="Text 0"/>
          <p:cNvSpPr txBox="1"/>
          <p:nvPr/>
        </p:nvSpPr>
        <p:spPr>
          <a:xfrm>
            <a:off x="609600" y="379669"/>
            <a:ext cx="14401800" cy="38366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ts val="3000"/>
              </a:lnSpc>
              <a:defRPr b="1" spc="-54" sz="2700">
                <a:solidFill>
                  <a:srgbClr val="006400"/>
                </a:solidFill>
                <a:latin typeface="Inter"/>
                <a:ea typeface="Inter"/>
                <a:cs typeface="Inter"/>
                <a:sym typeface="Inter"/>
              </a:defRPr>
            </a:lvl1pPr>
          </a:lstStyle>
          <a:p>
            <a:pPr/>
            <a:r>
              <a:t>Osservabilità: ELK Stack e Telegram</a:t>
            </a:r>
          </a:p>
        </p:txBody>
      </p:sp>
      <p:sp>
        <p:nvSpPr>
          <p:cNvPr id="184" name="Text 1"/>
          <p:cNvSpPr txBox="1"/>
          <p:nvPr/>
        </p:nvSpPr>
        <p:spPr>
          <a:xfrm>
            <a:off x="609600" y="804864"/>
            <a:ext cx="12344400" cy="25717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ts val="2100"/>
              </a:lnSpc>
              <a:defRPr sz="1500">
                <a:solidFill>
                  <a:srgbClr val="6B7280"/>
                </a:solidFill>
                <a:latin typeface="Inter"/>
                <a:ea typeface="Inter"/>
                <a:cs typeface="Inter"/>
                <a:sym typeface="Inter"/>
              </a:defRPr>
            </a:lvl1pPr>
          </a:lstStyle>
          <a:p>
            <a:pPr/>
            <a:r>
              <a:t>Pipeline di logging centralizzata e alerting proattivo</a:t>
            </a:r>
          </a:p>
        </p:txBody>
      </p:sp>
      <p:sp>
        <p:nvSpPr>
          <p:cNvPr id="185" name="Text 2"/>
          <p:cNvSpPr txBox="1"/>
          <p:nvPr/>
        </p:nvSpPr>
        <p:spPr>
          <a:xfrm>
            <a:off x="533400" y="2024634"/>
            <a:ext cx="2302669" cy="21793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lnSpc>
                <a:spcPts val="1800"/>
              </a:lnSpc>
              <a:defRPr b="1" sz="1200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defRPr>
            </a:lvl1pPr>
          </a:lstStyle>
          <a:p>
            <a:pPr/>
            <a:r>
              <a:t>Nexus Server</a:t>
            </a:r>
          </a:p>
        </p:txBody>
      </p:sp>
      <p:sp>
        <p:nvSpPr>
          <p:cNvPr id="186" name="Text 3"/>
          <p:cNvSpPr txBox="1"/>
          <p:nvPr/>
        </p:nvSpPr>
        <p:spPr>
          <a:xfrm>
            <a:off x="1419225" y="2516695"/>
            <a:ext cx="759471" cy="14820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ts val="1200"/>
              </a:lnSpc>
              <a:defRPr sz="900">
                <a:solidFill>
                  <a:srgbClr val="6B7280"/>
                </a:solidFill>
                <a:latin typeface="Inter"/>
                <a:ea typeface="Inter"/>
                <a:cs typeface="Inter"/>
                <a:sym typeface="Inter"/>
              </a:defRPr>
            </a:lvl1pPr>
          </a:lstStyle>
          <a:p>
            <a:pPr/>
            <a:r>
              <a:t>JSON via TCP</a:t>
            </a:r>
          </a:p>
        </p:txBody>
      </p:sp>
      <p:sp>
        <p:nvSpPr>
          <p:cNvPr id="187" name="Text 4"/>
          <p:cNvSpPr txBox="1"/>
          <p:nvPr/>
        </p:nvSpPr>
        <p:spPr>
          <a:xfrm>
            <a:off x="3398044" y="2024634"/>
            <a:ext cx="2302671" cy="21793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lnSpc>
                <a:spcPts val="1800"/>
              </a:lnSpc>
              <a:defRPr b="1" sz="1200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defRPr>
            </a:lvl1pPr>
          </a:lstStyle>
          <a:p>
            <a:pPr/>
            <a:r>
              <a:t>Logstash</a:t>
            </a:r>
          </a:p>
        </p:txBody>
      </p:sp>
      <p:sp>
        <p:nvSpPr>
          <p:cNvPr id="188" name="Text 5"/>
          <p:cNvSpPr txBox="1"/>
          <p:nvPr/>
        </p:nvSpPr>
        <p:spPr>
          <a:xfrm>
            <a:off x="4026246" y="2516695"/>
            <a:ext cx="1274715" cy="14820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ts val="1200"/>
              </a:lnSpc>
              <a:defRPr sz="900">
                <a:solidFill>
                  <a:srgbClr val="6B7280"/>
                </a:solidFill>
                <a:latin typeface="Inter"/>
                <a:ea typeface="Inter"/>
                <a:cs typeface="Inter"/>
                <a:sym typeface="Inter"/>
              </a:defRPr>
            </a:lvl1pPr>
          </a:lstStyle>
          <a:p>
            <a:pPr/>
            <a:r>
              <a:t>Normalizzazione &amp; Filtri</a:t>
            </a:r>
          </a:p>
        </p:txBody>
      </p:sp>
      <p:sp>
        <p:nvSpPr>
          <p:cNvPr id="189" name="Text 6"/>
          <p:cNvSpPr txBox="1"/>
          <p:nvPr/>
        </p:nvSpPr>
        <p:spPr>
          <a:xfrm>
            <a:off x="6262687" y="2024634"/>
            <a:ext cx="2302671" cy="21793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lnSpc>
                <a:spcPts val="1800"/>
              </a:lnSpc>
              <a:defRPr b="1" sz="1200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defRPr>
            </a:lvl1pPr>
          </a:lstStyle>
          <a:p>
            <a:pPr/>
            <a:r>
              <a:t>Elasticsearch</a:t>
            </a:r>
          </a:p>
        </p:txBody>
      </p:sp>
      <p:sp>
        <p:nvSpPr>
          <p:cNvPr id="190" name="Text 7"/>
          <p:cNvSpPr txBox="1"/>
          <p:nvPr/>
        </p:nvSpPr>
        <p:spPr>
          <a:xfrm>
            <a:off x="6832103" y="2516695"/>
            <a:ext cx="1392289" cy="14820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ts val="1200"/>
              </a:lnSpc>
              <a:defRPr sz="900">
                <a:solidFill>
                  <a:srgbClr val="6B7280"/>
                </a:solidFill>
                <a:latin typeface="Inter"/>
                <a:ea typeface="Inter"/>
                <a:cs typeface="Inter"/>
                <a:sym typeface="Inter"/>
              </a:defRPr>
            </a:lvl1pPr>
          </a:lstStyle>
          <a:p>
            <a:pPr/>
            <a:r>
              <a:t>Indicizzazione Giornaliera</a:t>
            </a:r>
          </a:p>
        </p:txBody>
      </p:sp>
      <p:sp>
        <p:nvSpPr>
          <p:cNvPr id="191" name="Text 8"/>
          <p:cNvSpPr txBox="1"/>
          <p:nvPr/>
        </p:nvSpPr>
        <p:spPr>
          <a:xfrm>
            <a:off x="9127331" y="2177034"/>
            <a:ext cx="2302671" cy="21793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lnSpc>
                <a:spcPts val="1800"/>
              </a:lnSpc>
              <a:defRPr b="1" sz="1200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defRPr>
            </a:lvl1pPr>
          </a:lstStyle>
          <a:p>
            <a:pPr/>
            <a:r>
              <a:t>Kibana</a:t>
            </a:r>
          </a:p>
        </p:txBody>
      </p:sp>
      <p:sp>
        <p:nvSpPr>
          <p:cNvPr id="192" name="Text 9"/>
          <p:cNvSpPr txBox="1"/>
          <p:nvPr/>
        </p:nvSpPr>
        <p:spPr>
          <a:xfrm>
            <a:off x="9852272" y="2592895"/>
            <a:ext cx="2606043" cy="14820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ts val="1200"/>
              </a:lnSpc>
              <a:defRPr sz="900">
                <a:solidFill>
                  <a:srgbClr val="6B7280"/>
                </a:solidFill>
                <a:latin typeface="Inter"/>
                <a:ea typeface="Inter"/>
                <a:cs typeface="Inter"/>
                <a:sym typeface="Inter"/>
              </a:defRPr>
            </a:lvl1pPr>
          </a:lstStyle>
          <a:p>
            <a:pPr/>
            <a:r>
              <a:t>Dashboard &amp; Analisi</a:t>
            </a:r>
          </a:p>
        </p:txBody>
      </p:sp>
      <p:sp>
        <p:nvSpPr>
          <p:cNvPr id="193" name="Text 10"/>
          <p:cNvSpPr txBox="1"/>
          <p:nvPr/>
        </p:nvSpPr>
        <p:spPr>
          <a:xfrm>
            <a:off x="914400" y="3357564"/>
            <a:ext cx="5105400" cy="25717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ts val="2100"/>
              </a:lnSpc>
              <a:defRPr b="1" sz="1500">
                <a:solidFill>
                  <a:srgbClr val="006400"/>
                </a:solidFill>
                <a:latin typeface="Inter"/>
                <a:ea typeface="Inter"/>
                <a:cs typeface="Inter"/>
                <a:sym typeface="Inter"/>
              </a:defRPr>
            </a:lvl1pPr>
          </a:lstStyle>
          <a:p>
            <a:pPr/>
            <a:r>
              <a:t>Centralized Logging</a:t>
            </a:r>
          </a:p>
        </p:txBody>
      </p:sp>
      <p:sp>
        <p:nvSpPr>
          <p:cNvPr id="194" name="Text 11"/>
          <p:cNvSpPr txBox="1"/>
          <p:nvPr/>
        </p:nvSpPr>
        <p:spPr>
          <a:xfrm>
            <a:off x="800100" y="3777234"/>
            <a:ext cx="4914900" cy="44653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lnSpc>
                <a:spcPts val="1800"/>
              </a:lnSpc>
              <a:defRPr b="1" sz="1200">
                <a:solidFill>
                  <a:srgbClr val="374151"/>
                </a:solidFill>
                <a:latin typeface="Inter"/>
                <a:ea typeface="Inter"/>
                <a:cs typeface="Inter"/>
                <a:sym typeface="Inter"/>
              </a:defRPr>
            </a:pPr>
            <a:r>
              <a:t>Structured Logging:</a:t>
            </a:r>
            <a:r>
              <a:rPr b="0"/>
              <a:t> Invio di log INFO+ in formato JSON strutturato (timestamp, contesto, livello).</a:t>
            </a:r>
          </a:p>
        </p:txBody>
      </p:sp>
      <p:sp>
        <p:nvSpPr>
          <p:cNvPr id="195" name="Text 12"/>
          <p:cNvSpPr txBox="1"/>
          <p:nvPr/>
        </p:nvSpPr>
        <p:spPr>
          <a:xfrm>
            <a:off x="800100" y="4348734"/>
            <a:ext cx="4914900" cy="44653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lnSpc>
                <a:spcPts val="1800"/>
              </a:lnSpc>
              <a:defRPr b="1" sz="1200">
                <a:solidFill>
                  <a:srgbClr val="374151"/>
                </a:solidFill>
                <a:latin typeface="Inter"/>
                <a:ea typeface="Inter"/>
                <a:cs typeface="Inter"/>
                <a:sym typeface="Inter"/>
              </a:defRPr>
            </a:pPr>
            <a:r>
              <a:t>Filtri Logstash:</a:t>
            </a:r>
            <a:r>
              <a:rPr b="0"/>
              <a:t> Conversione dei campi per eventi di anomalia e normalizzazione dei dati temporali.</a:t>
            </a:r>
          </a:p>
        </p:txBody>
      </p:sp>
      <p:sp>
        <p:nvSpPr>
          <p:cNvPr id="196" name="Text 13"/>
          <p:cNvSpPr txBox="1"/>
          <p:nvPr/>
        </p:nvSpPr>
        <p:spPr>
          <a:xfrm>
            <a:off x="800100" y="4920234"/>
            <a:ext cx="4914900" cy="44653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lnSpc>
                <a:spcPts val="1800"/>
              </a:lnSpc>
              <a:defRPr b="1" sz="1200">
                <a:solidFill>
                  <a:srgbClr val="374151"/>
                </a:solidFill>
                <a:latin typeface="Inter"/>
                <a:ea typeface="Inter"/>
                <a:cs typeface="Inter"/>
                <a:sym typeface="Inter"/>
              </a:defRPr>
            </a:pPr>
            <a:r>
              <a:t>Storage:</a:t>
            </a:r>
            <a:r>
              <a:rPr b="0"/>
              <a:t> Indici Elasticsearch ottimizzati per la ricerca rapida di pattern di errore.</a:t>
            </a:r>
          </a:p>
        </p:txBody>
      </p:sp>
      <p:sp>
        <p:nvSpPr>
          <p:cNvPr id="197" name="Text 14"/>
          <p:cNvSpPr txBox="1"/>
          <p:nvPr/>
        </p:nvSpPr>
        <p:spPr>
          <a:xfrm>
            <a:off x="6762750" y="3357564"/>
            <a:ext cx="5105400" cy="25717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ts val="2100"/>
              </a:lnSpc>
              <a:defRPr b="1" sz="1500">
                <a:solidFill>
                  <a:srgbClr val="006400"/>
                </a:solidFill>
                <a:latin typeface="Inter"/>
                <a:ea typeface="Inter"/>
                <a:cs typeface="Inter"/>
                <a:sym typeface="Inter"/>
              </a:defRPr>
            </a:lvl1pPr>
          </a:lstStyle>
          <a:p>
            <a:pPr/>
            <a:r>
              <a:t>Alerting su Telegram</a:t>
            </a:r>
          </a:p>
        </p:txBody>
      </p:sp>
      <p:sp>
        <p:nvSpPr>
          <p:cNvPr id="198" name="Text 15"/>
          <p:cNvSpPr txBox="1"/>
          <p:nvPr/>
        </p:nvSpPr>
        <p:spPr>
          <a:xfrm>
            <a:off x="6477000" y="3776345"/>
            <a:ext cx="8161019" cy="18160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ts val="1500"/>
              </a:lnSpc>
              <a:defRPr sz="1000">
                <a:solidFill>
                  <a:srgbClr val="4B5563"/>
                </a:solidFill>
                <a:latin typeface="Inter"/>
                <a:ea typeface="Inter"/>
                <a:cs typeface="Inter"/>
                <a:sym typeface="Inter"/>
              </a:defRPr>
            </a:lvl1pPr>
          </a:lstStyle>
          <a:p>
            <a:pPr/>
            <a:r>
              <a:t>Integrazione condizionale Logstash -&gt; Telegram API:</a:t>
            </a:r>
          </a:p>
        </p:txBody>
      </p:sp>
      <p:sp>
        <p:nvSpPr>
          <p:cNvPr id="199" name="Text 16"/>
          <p:cNvSpPr txBox="1"/>
          <p:nvPr/>
        </p:nvSpPr>
        <p:spPr>
          <a:xfrm>
            <a:off x="6591300" y="4283583"/>
            <a:ext cx="2057400" cy="14820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ts val="1200"/>
              </a:lnSpc>
              <a:defRPr b="1" sz="900">
                <a:solidFill>
                  <a:srgbClr val="EA580C"/>
                </a:solidFill>
                <a:latin typeface="Inter"/>
                <a:ea typeface="Inter"/>
                <a:cs typeface="Inter"/>
                <a:sym typeface="Inter"/>
              </a:defRPr>
            </a:lvl1pPr>
          </a:lstStyle>
          <a:p>
            <a:pPr/>
            <a:r>
              <a:t>DATABASE STRESS</a:t>
            </a:r>
          </a:p>
        </p:txBody>
      </p:sp>
      <p:sp>
        <p:nvSpPr>
          <p:cNvPr id="200" name="Text 17"/>
          <p:cNvSpPr txBox="1"/>
          <p:nvPr/>
        </p:nvSpPr>
        <p:spPr>
          <a:xfrm>
            <a:off x="6591300" y="4462145"/>
            <a:ext cx="3133725" cy="37210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ts val="1500"/>
              </a:lnSpc>
              <a:defRPr sz="1000">
                <a:solidFill>
                  <a:srgbClr val="1F2937"/>
                </a:solidFill>
                <a:latin typeface="Inter"/>
                <a:ea typeface="Inter"/>
                <a:cs typeface="Inter"/>
                <a:sym typeface="Inter"/>
              </a:defRPr>
            </a:lvl1pPr>
          </a:lstStyle>
          <a:p>
            <a:pPr/>
            <a:r>
              <a:t>Alert immediato se viene attivato il fallback Circuit Breaker.</a:t>
            </a:r>
          </a:p>
        </p:txBody>
      </p:sp>
      <p:sp>
        <p:nvSpPr>
          <p:cNvPr id="201" name="Text 18"/>
          <p:cNvSpPr txBox="1"/>
          <p:nvPr/>
        </p:nvSpPr>
        <p:spPr>
          <a:xfrm>
            <a:off x="6591299" y="5236083"/>
            <a:ext cx="1508763" cy="14820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ts val="1200"/>
              </a:lnSpc>
              <a:defRPr b="1" sz="900">
                <a:solidFill>
                  <a:srgbClr val="EA580C"/>
                </a:solidFill>
                <a:latin typeface="Inter"/>
                <a:ea typeface="Inter"/>
                <a:cs typeface="Inter"/>
                <a:sym typeface="Inter"/>
              </a:defRPr>
            </a:lvl1pPr>
          </a:lstStyle>
          <a:p>
            <a:pPr/>
            <a:r>
              <a:t>ANOMALIA AI</a:t>
            </a:r>
          </a:p>
        </p:txBody>
      </p:sp>
      <p:sp>
        <p:nvSpPr>
          <p:cNvPr id="202" name="Text 19"/>
          <p:cNvSpPr txBox="1"/>
          <p:nvPr/>
        </p:nvSpPr>
        <p:spPr>
          <a:xfrm>
            <a:off x="6591300" y="5414645"/>
            <a:ext cx="3133725" cy="37210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ts val="1500"/>
              </a:lnSpc>
              <a:defRPr sz="1000">
                <a:solidFill>
                  <a:srgbClr val="1F2937"/>
                </a:solidFill>
                <a:latin typeface="Inter"/>
                <a:ea typeface="Inter"/>
                <a:cs typeface="Inter"/>
                <a:sym typeface="Inter"/>
              </a:defRPr>
            </a:lvl1pPr>
          </a:lstStyle>
          <a:p>
            <a:pPr/>
            <a:r>
              <a:t>Notifica se la deviazione predetta supera la soglia critica.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blipFill rotWithShape="1">
          <a:blip r:embed="rId2"/>
          <a:srcRect l="0" t="0" r="0" b="0"/>
          <a:stretch>
            <a:fillRect/>
          </a:stretch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Image 0" descr="Image 0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0" y="0"/>
            <a:ext cx="12191928" cy="6858000"/>
          </a:xfrm>
          <a:prstGeom prst="rect">
            <a:avLst/>
          </a:prstGeom>
          <a:ln w="12700">
            <a:miter lim="400000"/>
          </a:ln>
        </p:spPr>
      </p:pic>
      <p:pic>
        <p:nvPicPr>
          <p:cNvPr id="205" name="Image 1" descr="Image 1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337831" y="337831"/>
            <a:ext cx="11516264" cy="608100"/>
          </a:xfrm>
          <a:prstGeom prst="rect">
            <a:avLst/>
          </a:prstGeom>
          <a:ln w="12700">
            <a:miter lim="400000"/>
          </a:ln>
        </p:spPr>
      </p:pic>
      <p:pic>
        <p:nvPicPr>
          <p:cNvPr id="206" name="Image 2" descr="Image 2"/>
          <p:cNvPicPr>
            <a:picLocks noChangeAspect="1"/>
          </p:cNvPicPr>
          <p:nvPr/>
        </p:nvPicPr>
        <p:blipFill>
          <a:blip r:embed="rId4">
            <a:extLst/>
          </a:blip>
          <a:stretch>
            <a:fillRect/>
          </a:stretch>
        </p:blipFill>
        <p:spPr>
          <a:xfrm>
            <a:off x="337831" y="1587811"/>
            <a:ext cx="3703623" cy="1452682"/>
          </a:xfrm>
          <a:prstGeom prst="rect">
            <a:avLst/>
          </a:prstGeom>
          <a:ln w="12700">
            <a:miter lim="400000"/>
          </a:ln>
        </p:spPr>
      </p:pic>
      <p:pic>
        <p:nvPicPr>
          <p:cNvPr id="207" name="Image 3" descr="Image 3"/>
          <p:cNvPicPr>
            <a:picLocks noChangeAspect="1"/>
          </p:cNvPicPr>
          <p:nvPr/>
        </p:nvPicPr>
        <p:blipFill>
          <a:blip r:embed="rId5">
            <a:extLst/>
          </a:blip>
          <a:stretch>
            <a:fillRect/>
          </a:stretch>
        </p:blipFill>
        <p:spPr>
          <a:xfrm>
            <a:off x="540531" y="1790512"/>
            <a:ext cx="253375" cy="270268"/>
          </a:xfrm>
          <a:prstGeom prst="rect">
            <a:avLst/>
          </a:prstGeom>
          <a:ln w="12700">
            <a:miter lim="400000"/>
          </a:ln>
        </p:spPr>
      </p:pic>
      <p:pic>
        <p:nvPicPr>
          <p:cNvPr id="208" name="Image 4" descr="Image 4"/>
          <p:cNvPicPr>
            <a:picLocks noChangeAspect="1"/>
          </p:cNvPicPr>
          <p:nvPr/>
        </p:nvPicPr>
        <p:blipFill>
          <a:blip r:embed="rId6">
            <a:extLst/>
          </a:blip>
          <a:stretch>
            <a:fillRect/>
          </a:stretch>
        </p:blipFill>
        <p:spPr>
          <a:xfrm>
            <a:off x="4244152" y="1587811"/>
            <a:ext cx="3703623" cy="1452682"/>
          </a:xfrm>
          <a:prstGeom prst="rect">
            <a:avLst/>
          </a:prstGeom>
          <a:ln w="12700">
            <a:miter lim="400000"/>
          </a:ln>
        </p:spPr>
      </p:pic>
      <p:pic>
        <p:nvPicPr>
          <p:cNvPr id="209" name="Image 5" descr="Image 5"/>
          <p:cNvPicPr>
            <a:picLocks noChangeAspect="1"/>
          </p:cNvPicPr>
          <p:nvPr/>
        </p:nvPicPr>
        <p:blipFill>
          <a:blip r:embed="rId7">
            <a:extLst/>
          </a:blip>
          <a:stretch>
            <a:fillRect/>
          </a:stretch>
        </p:blipFill>
        <p:spPr>
          <a:xfrm>
            <a:off x="4446851" y="1790512"/>
            <a:ext cx="253376" cy="270268"/>
          </a:xfrm>
          <a:prstGeom prst="rect">
            <a:avLst/>
          </a:prstGeom>
          <a:ln w="12700">
            <a:miter lim="400000"/>
          </a:ln>
        </p:spPr>
      </p:pic>
      <p:pic>
        <p:nvPicPr>
          <p:cNvPr id="210" name="Image 6" descr="Image 6"/>
          <p:cNvPicPr>
            <a:picLocks noChangeAspect="1"/>
          </p:cNvPicPr>
          <p:nvPr/>
        </p:nvPicPr>
        <p:blipFill>
          <a:blip r:embed="rId8">
            <a:extLst/>
          </a:blip>
          <a:stretch>
            <a:fillRect/>
          </a:stretch>
        </p:blipFill>
        <p:spPr>
          <a:xfrm>
            <a:off x="8150473" y="1587811"/>
            <a:ext cx="3703621" cy="1452682"/>
          </a:xfrm>
          <a:prstGeom prst="rect">
            <a:avLst/>
          </a:prstGeom>
          <a:ln w="12700">
            <a:miter lim="400000"/>
          </a:ln>
        </p:spPr>
      </p:pic>
      <p:pic>
        <p:nvPicPr>
          <p:cNvPr id="211" name="Image 7" descr="Image 7"/>
          <p:cNvPicPr>
            <a:picLocks noChangeAspect="1"/>
          </p:cNvPicPr>
          <p:nvPr/>
        </p:nvPicPr>
        <p:blipFill>
          <a:blip r:embed="rId9">
            <a:extLst/>
          </a:blip>
          <a:stretch>
            <a:fillRect/>
          </a:stretch>
        </p:blipFill>
        <p:spPr>
          <a:xfrm>
            <a:off x="8353173" y="1790512"/>
            <a:ext cx="253377" cy="270268"/>
          </a:xfrm>
          <a:prstGeom prst="rect">
            <a:avLst/>
          </a:prstGeom>
          <a:ln w="12700">
            <a:miter lim="400000"/>
          </a:ln>
        </p:spPr>
      </p:pic>
      <p:pic>
        <p:nvPicPr>
          <p:cNvPr id="212" name="Image 8" descr="Image 8"/>
          <p:cNvPicPr>
            <a:picLocks noChangeAspect="1"/>
          </p:cNvPicPr>
          <p:nvPr/>
        </p:nvPicPr>
        <p:blipFill>
          <a:blip r:embed="rId10">
            <a:extLst/>
          </a:blip>
          <a:stretch>
            <a:fillRect/>
          </a:stretch>
        </p:blipFill>
        <p:spPr>
          <a:xfrm>
            <a:off x="337831" y="3682374"/>
            <a:ext cx="3748625" cy="472968"/>
          </a:xfrm>
          <a:prstGeom prst="rect">
            <a:avLst/>
          </a:prstGeom>
          <a:ln w="12700">
            <a:miter lim="400000"/>
          </a:ln>
        </p:spPr>
      </p:pic>
      <p:pic>
        <p:nvPicPr>
          <p:cNvPr id="213" name="Image 9" descr="Image 9"/>
          <p:cNvPicPr>
            <a:picLocks noChangeAspect="1"/>
          </p:cNvPicPr>
          <p:nvPr/>
        </p:nvPicPr>
        <p:blipFill>
          <a:blip r:embed="rId11">
            <a:extLst/>
          </a:blip>
          <a:stretch>
            <a:fillRect/>
          </a:stretch>
        </p:blipFill>
        <p:spPr>
          <a:xfrm>
            <a:off x="439182" y="3783724"/>
            <a:ext cx="337833" cy="270268"/>
          </a:xfrm>
          <a:prstGeom prst="rect">
            <a:avLst/>
          </a:prstGeom>
          <a:ln w="12700">
            <a:miter lim="400000"/>
          </a:ln>
        </p:spPr>
      </p:pic>
      <p:pic>
        <p:nvPicPr>
          <p:cNvPr id="214" name="Image 10" descr="Image 10"/>
          <p:cNvPicPr>
            <a:picLocks noChangeAspect="1"/>
          </p:cNvPicPr>
          <p:nvPr/>
        </p:nvPicPr>
        <p:blipFill>
          <a:blip r:embed="rId12">
            <a:extLst/>
          </a:blip>
          <a:stretch>
            <a:fillRect/>
          </a:stretch>
        </p:blipFill>
        <p:spPr>
          <a:xfrm>
            <a:off x="337831" y="4256690"/>
            <a:ext cx="3748625" cy="472968"/>
          </a:xfrm>
          <a:prstGeom prst="rect">
            <a:avLst/>
          </a:prstGeom>
          <a:ln w="12700">
            <a:miter lim="400000"/>
          </a:ln>
        </p:spPr>
      </p:pic>
      <p:pic>
        <p:nvPicPr>
          <p:cNvPr id="215" name="Image 11" descr="Image 11"/>
          <p:cNvPicPr>
            <a:picLocks noChangeAspect="1"/>
          </p:cNvPicPr>
          <p:nvPr/>
        </p:nvPicPr>
        <p:blipFill>
          <a:blip r:embed="rId13">
            <a:extLst/>
          </a:blip>
          <a:stretch>
            <a:fillRect/>
          </a:stretch>
        </p:blipFill>
        <p:spPr>
          <a:xfrm>
            <a:off x="439182" y="4358039"/>
            <a:ext cx="337833" cy="270268"/>
          </a:xfrm>
          <a:prstGeom prst="rect">
            <a:avLst/>
          </a:prstGeom>
          <a:ln w="12700">
            <a:miter lim="400000"/>
          </a:ln>
        </p:spPr>
      </p:pic>
      <p:pic>
        <p:nvPicPr>
          <p:cNvPr id="216" name="Image 12" descr="Image 12"/>
          <p:cNvPicPr>
            <a:picLocks noChangeAspect="1"/>
          </p:cNvPicPr>
          <p:nvPr/>
        </p:nvPicPr>
        <p:blipFill>
          <a:blip r:embed="rId14">
            <a:extLst/>
          </a:blip>
          <a:stretch>
            <a:fillRect/>
          </a:stretch>
        </p:blipFill>
        <p:spPr>
          <a:xfrm>
            <a:off x="337831" y="4831005"/>
            <a:ext cx="3748625" cy="472968"/>
          </a:xfrm>
          <a:prstGeom prst="rect">
            <a:avLst/>
          </a:prstGeom>
          <a:ln w="12700">
            <a:miter lim="400000"/>
          </a:ln>
        </p:spPr>
      </p:pic>
      <p:pic>
        <p:nvPicPr>
          <p:cNvPr id="217" name="Image 13" descr="Image 13"/>
          <p:cNvPicPr>
            <a:picLocks noChangeAspect="1"/>
          </p:cNvPicPr>
          <p:nvPr/>
        </p:nvPicPr>
        <p:blipFill>
          <a:blip r:embed="rId15">
            <a:extLst/>
          </a:blip>
          <a:stretch>
            <a:fillRect/>
          </a:stretch>
        </p:blipFill>
        <p:spPr>
          <a:xfrm>
            <a:off x="439182" y="4932355"/>
            <a:ext cx="337833" cy="270268"/>
          </a:xfrm>
          <a:prstGeom prst="rect">
            <a:avLst/>
          </a:prstGeom>
          <a:ln w="12700">
            <a:miter lim="400000"/>
          </a:ln>
        </p:spPr>
      </p:pic>
      <p:pic>
        <p:nvPicPr>
          <p:cNvPr id="218" name="Image 14" descr="Image 14"/>
          <p:cNvPicPr>
            <a:picLocks noChangeAspect="1"/>
          </p:cNvPicPr>
          <p:nvPr/>
        </p:nvPicPr>
        <p:blipFill>
          <a:blip r:embed="rId16">
            <a:extLst/>
          </a:blip>
          <a:stretch>
            <a:fillRect/>
          </a:stretch>
        </p:blipFill>
        <p:spPr>
          <a:xfrm>
            <a:off x="4356720" y="3682374"/>
            <a:ext cx="3647273" cy="1207753"/>
          </a:xfrm>
          <a:prstGeom prst="rect">
            <a:avLst/>
          </a:prstGeom>
          <a:ln w="12700">
            <a:miter lim="400000"/>
          </a:ln>
        </p:spPr>
      </p:pic>
      <p:pic>
        <p:nvPicPr>
          <p:cNvPr id="219" name="Image 15" descr="Image 15"/>
          <p:cNvPicPr>
            <a:picLocks noChangeAspect="1"/>
          </p:cNvPicPr>
          <p:nvPr/>
        </p:nvPicPr>
        <p:blipFill>
          <a:blip r:embed="rId17">
            <a:extLst/>
          </a:blip>
          <a:stretch>
            <a:fillRect/>
          </a:stretch>
        </p:blipFill>
        <p:spPr>
          <a:xfrm>
            <a:off x="4525636" y="3889033"/>
            <a:ext cx="194256" cy="152422"/>
          </a:xfrm>
          <a:prstGeom prst="rect">
            <a:avLst/>
          </a:prstGeom>
          <a:ln w="12700">
            <a:miter lim="400000"/>
          </a:ln>
        </p:spPr>
      </p:pic>
      <p:pic>
        <p:nvPicPr>
          <p:cNvPr id="220" name="Image 16" descr="Image 16"/>
          <p:cNvPicPr>
            <a:picLocks noChangeAspect="1"/>
          </p:cNvPicPr>
          <p:nvPr/>
        </p:nvPicPr>
        <p:blipFill>
          <a:blip r:embed="rId18">
            <a:extLst/>
          </a:blip>
          <a:stretch>
            <a:fillRect/>
          </a:stretch>
        </p:blipFill>
        <p:spPr>
          <a:xfrm>
            <a:off x="8206691" y="3682374"/>
            <a:ext cx="3647405" cy="1207753"/>
          </a:xfrm>
          <a:prstGeom prst="rect">
            <a:avLst/>
          </a:prstGeom>
          <a:ln w="12700">
            <a:miter lim="400000"/>
          </a:ln>
        </p:spPr>
      </p:pic>
      <p:pic>
        <p:nvPicPr>
          <p:cNvPr id="221" name="Image 17" descr="Image 17"/>
          <p:cNvPicPr>
            <a:picLocks noChangeAspect="1"/>
          </p:cNvPicPr>
          <p:nvPr/>
        </p:nvPicPr>
        <p:blipFill>
          <a:blip r:embed="rId19">
            <a:extLst/>
          </a:blip>
          <a:stretch>
            <a:fillRect/>
          </a:stretch>
        </p:blipFill>
        <p:spPr>
          <a:xfrm>
            <a:off x="8375607" y="3889033"/>
            <a:ext cx="135135" cy="152422"/>
          </a:xfrm>
          <a:prstGeom prst="rect">
            <a:avLst/>
          </a:prstGeom>
          <a:ln w="12700">
            <a:miter lim="400000"/>
          </a:ln>
        </p:spPr>
      </p:pic>
      <p:pic>
        <p:nvPicPr>
          <p:cNvPr id="222" name="Image 18" descr="Image 18"/>
          <p:cNvPicPr>
            <a:picLocks noChangeAspect="1"/>
          </p:cNvPicPr>
          <p:nvPr/>
        </p:nvPicPr>
        <p:blipFill>
          <a:blip r:embed="rId20">
            <a:extLst/>
          </a:blip>
          <a:stretch>
            <a:fillRect/>
          </a:stretch>
        </p:blipFill>
        <p:spPr>
          <a:xfrm>
            <a:off x="4356720" y="5092825"/>
            <a:ext cx="7497376" cy="667749"/>
          </a:xfrm>
          <a:prstGeom prst="rect">
            <a:avLst/>
          </a:prstGeom>
          <a:ln w="12700">
            <a:miter lim="400000"/>
          </a:ln>
        </p:spPr>
      </p:pic>
      <p:pic>
        <p:nvPicPr>
          <p:cNvPr id="223" name="Image 19" descr="Image 19"/>
          <p:cNvPicPr>
            <a:picLocks noChangeAspect="1"/>
          </p:cNvPicPr>
          <p:nvPr/>
        </p:nvPicPr>
        <p:blipFill>
          <a:blip r:embed="rId21">
            <a:extLst/>
          </a:blip>
          <a:stretch>
            <a:fillRect/>
          </a:stretch>
        </p:blipFill>
        <p:spPr>
          <a:xfrm>
            <a:off x="11398021" y="5274674"/>
            <a:ext cx="320943" cy="304051"/>
          </a:xfrm>
          <a:prstGeom prst="rect">
            <a:avLst/>
          </a:prstGeom>
          <a:ln w="12700">
            <a:miter lim="400000"/>
          </a:ln>
        </p:spPr>
      </p:pic>
      <p:sp>
        <p:nvSpPr>
          <p:cNvPr id="224" name="Text 0"/>
          <p:cNvSpPr txBox="1"/>
          <p:nvPr/>
        </p:nvSpPr>
        <p:spPr>
          <a:xfrm>
            <a:off x="540531" y="335239"/>
            <a:ext cx="15313915" cy="3430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ts val="2600"/>
              </a:lnSpc>
              <a:defRPr b="1" spc="-61" sz="2700">
                <a:solidFill>
                  <a:srgbClr val="006400"/>
                </a:solidFill>
                <a:latin typeface="Inter"/>
                <a:ea typeface="Inter"/>
                <a:cs typeface="Inter"/>
                <a:sym typeface="Inter"/>
              </a:defRPr>
            </a:lvl1pPr>
          </a:lstStyle>
          <a:p>
            <a:pPr/>
            <a:r>
              <a:t>PATTERN ARCHITETTURALI E FRONTEND</a:t>
            </a:r>
          </a:p>
        </p:txBody>
      </p:sp>
      <p:sp>
        <p:nvSpPr>
          <p:cNvPr id="225" name="Text 1"/>
          <p:cNvSpPr txBox="1"/>
          <p:nvPr/>
        </p:nvSpPr>
        <p:spPr>
          <a:xfrm>
            <a:off x="540530" y="714342"/>
            <a:ext cx="16499877" cy="22669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ts val="1800"/>
              </a:lnSpc>
              <a:defRPr sz="1500">
                <a:solidFill>
                  <a:srgbClr val="4B5563"/>
                </a:solidFill>
                <a:latin typeface="Inter"/>
                <a:ea typeface="Inter"/>
                <a:cs typeface="Inter"/>
                <a:sym typeface="Inter"/>
              </a:defRPr>
            </a:lvl1pPr>
          </a:lstStyle>
          <a:p>
            <a:pPr/>
            <a:r>
              <a:t>Efficienza nella comunicazione e interfacce utente specializzate</a:t>
            </a:r>
          </a:p>
        </p:txBody>
      </p:sp>
      <p:sp>
        <p:nvSpPr>
          <p:cNvPr id="226" name="Text 2"/>
          <p:cNvSpPr txBox="1"/>
          <p:nvPr/>
        </p:nvSpPr>
        <p:spPr>
          <a:xfrm>
            <a:off x="337833" y="1221092"/>
            <a:ext cx="11516261" cy="22669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ts val="1800"/>
              </a:lnSpc>
              <a:defRPr b="1" spc="135" sz="1500">
                <a:solidFill>
                  <a:srgbClr val="9CA3AF"/>
                </a:solidFill>
                <a:latin typeface="Inter"/>
                <a:ea typeface="Inter"/>
                <a:cs typeface="Inter"/>
                <a:sym typeface="Inter"/>
              </a:defRPr>
            </a:lvl1pPr>
          </a:lstStyle>
          <a:p>
            <a:pPr/>
            <a:r>
              <a:t>CORE DESIGN PATTERNS</a:t>
            </a:r>
          </a:p>
        </p:txBody>
      </p:sp>
      <p:sp>
        <p:nvSpPr>
          <p:cNvPr id="227" name="Text 3"/>
          <p:cNvSpPr txBox="1"/>
          <p:nvPr/>
        </p:nvSpPr>
        <p:spPr>
          <a:xfrm>
            <a:off x="895256" y="1812299"/>
            <a:ext cx="1484526" cy="22669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ts val="1800"/>
              </a:lnSpc>
              <a:defRPr b="1" sz="1500">
                <a:solidFill>
                  <a:srgbClr val="006400"/>
                </a:solidFill>
                <a:latin typeface="Inter"/>
                <a:ea typeface="Inter"/>
                <a:cs typeface="Inter"/>
                <a:sym typeface="Inter"/>
              </a:defRPr>
            </a:lvl1pPr>
          </a:lstStyle>
          <a:p>
            <a:pPr/>
            <a:r>
              <a:t>Remote Facade</a:t>
            </a:r>
          </a:p>
        </p:txBody>
      </p:sp>
      <p:sp>
        <p:nvSpPr>
          <p:cNvPr id="228" name="Text 4"/>
          <p:cNvSpPr txBox="1"/>
          <p:nvPr/>
        </p:nvSpPr>
        <p:spPr>
          <a:xfrm>
            <a:off x="540532" y="2170097"/>
            <a:ext cx="3281330" cy="63372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ts val="1700"/>
              </a:lnSpc>
              <a:defRPr sz="1000">
                <a:solidFill>
                  <a:srgbClr val="4B5563"/>
                </a:solidFill>
                <a:latin typeface="Inter"/>
                <a:ea typeface="Inter"/>
                <a:cs typeface="Inter"/>
                <a:sym typeface="Inter"/>
              </a:defRPr>
            </a:lvl1pPr>
          </a:lstStyle>
          <a:p>
            <a:pPr/>
            <a:r>
              <a:t>Espone operazioni aggregate che il controller mappa su pochi endpoint, riducendo le chiamate HTTP e ottimizzando le performance del client.</a:t>
            </a:r>
          </a:p>
        </p:txBody>
      </p:sp>
      <p:sp>
        <p:nvSpPr>
          <p:cNvPr id="229" name="Text 5"/>
          <p:cNvSpPr txBox="1"/>
          <p:nvPr/>
        </p:nvSpPr>
        <p:spPr>
          <a:xfrm>
            <a:off x="4801575" y="1812299"/>
            <a:ext cx="1804675" cy="22669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ts val="1800"/>
              </a:lnSpc>
              <a:defRPr b="1" sz="1500">
                <a:solidFill>
                  <a:srgbClr val="006400"/>
                </a:solidFill>
                <a:latin typeface="Inter"/>
                <a:ea typeface="Inter"/>
                <a:cs typeface="Inter"/>
                <a:sym typeface="Inter"/>
              </a:defRPr>
            </a:lvl1pPr>
          </a:lstStyle>
          <a:p>
            <a:pPr/>
            <a:r>
              <a:t>Command</a:t>
            </a:r>
          </a:p>
        </p:txBody>
      </p:sp>
      <p:sp>
        <p:nvSpPr>
          <p:cNvPr id="230" name="Text 6"/>
          <p:cNvSpPr txBox="1"/>
          <p:nvPr/>
        </p:nvSpPr>
        <p:spPr>
          <a:xfrm>
            <a:off x="4446850" y="2170097"/>
            <a:ext cx="3281333" cy="63372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ts val="1700"/>
              </a:lnSpc>
              <a:defRPr sz="1000">
                <a:solidFill>
                  <a:srgbClr val="4B5563"/>
                </a:solidFill>
                <a:latin typeface="Inter"/>
                <a:ea typeface="Inter"/>
                <a:cs typeface="Inter"/>
                <a:sym typeface="Inter"/>
              </a:defRPr>
            </a:lvl1pPr>
          </a:lstStyle>
          <a:p>
            <a:pPr/>
            <a:r>
              <a:t>Incapsula le azioni di controllo (start/stop simulazione) in oggetti eseguibili, permettendo una gestione robusta delle operazioni utente.</a:t>
            </a:r>
          </a:p>
        </p:txBody>
      </p:sp>
      <p:sp>
        <p:nvSpPr>
          <p:cNvPr id="231" name="Text 7"/>
          <p:cNvSpPr txBox="1"/>
          <p:nvPr/>
        </p:nvSpPr>
        <p:spPr>
          <a:xfrm>
            <a:off x="8707897" y="1812299"/>
            <a:ext cx="2062486" cy="22669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ts val="1800"/>
              </a:lnSpc>
              <a:defRPr b="1" sz="1500">
                <a:solidFill>
                  <a:srgbClr val="006400"/>
                </a:solidFill>
                <a:latin typeface="Inter"/>
                <a:ea typeface="Inter"/>
                <a:cs typeface="Inter"/>
                <a:sym typeface="Inter"/>
              </a:defRPr>
            </a:lvl1pPr>
          </a:lstStyle>
          <a:p>
            <a:pPr/>
            <a:r>
              <a:t>Observer</a:t>
            </a:r>
          </a:p>
        </p:txBody>
      </p:sp>
      <p:sp>
        <p:nvSpPr>
          <p:cNvPr id="232" name="Text 8"/>
          <p:cNvSpPr txBox="1"/>
          <p:nvPr/>
        </p:nvSpPr>
        <p:spPr>
          <a:xfrm>
            <a:off x="8353173" y="2170097"/>
            <a:ext cx="3281332" cy="63372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ts val="1700"/>
              </a:lnSpc>
              <a:defRPr sz="1000">
                <a:solidFill>
                  <a:srgbClr val="4B5563"/>
                </a:solidFill>
                <a:latin typeface="Inter"/>
                <a:ea typeface="Inter"/>
                <a:cs typeface="Inter"/>
                <a:sym typeface="Inter"/>
              </a:defRPr>
            </a:lvl1pPr>
          </a:lstStyle>
          <a:p>
            <a:pPr/>
            <a:r>
              <a:t>Gestisce lo stream SSE (Server-Sent Events). Il server notifica i client in tempo reale senza necessità di polling continuo.</a:t>
            </a:r>
          </a:p>
        </p:txBody>
      </p:sp>
      <p:sp>
        <p:nvSpPr>
          <p:cNvPr id="233" name="Text 9"/>
          <p:cNvSpPr txBox="1"/>
          <p:nvPr/>
        </p:nvSpPr>
        <p:spPr>
          <a:xfrm>
            <a:off x="337832" y="3315654"/>
            <a:ext cx="3748623" cy="22669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ts val="1800"/>
              </a:lnSpc>
              <a:defRPr b="1" spc="135" sz="1500">
                <a:solidFill>
                  <a:srgbClr val="9CA3AF"/>
                </a:solidFill>
                <a:latin typeface="Inter"/>
                <a:ea typeface="Inter"/>
                <a:cs typeface="Inter"/>
                <a:sym typeface="Inter"/>
              </a:defRPr>
            </a:lvl1pPr>
          </a:lstStyle>
          <a:p>
            <a:pPr/>
            <a:r>
              <a:t>TECH STACK FE</a:t>
            </a:r>
          </a:p>
        </p:txBody>
      </p:sp>
      <p:sp>
        <p:nvSpPr>
          <p:cNvPr id="234" name="Text 10"/>
          <p:cNvSpPr txBox="1"/>
          <p:nvPr/>
        </p:nvSpPr>
        <p:spPr>
          <a:xfrm>
            <a:off x="777013" y="3809893"/>
            <a:ext cx="4537449" cy="21793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ts val="1800"/>
              </a:lnSpc>
              <a:defRPr b="1" sz="1200">
                <a:solidFill>
                  <a:srgbClr val="374151"/>
                </a:solidFill>
                <a:latin typeface="Inter"/>
                <a:ea typeface="Inter"/>
                <a:cs typeface="Inter"/>
                <a:sym typeface="Inter"/>
              </a:defRPr>
            </a:lvl1pPr>
          </a:lstStyle>
          <a:p>
            <a:pPr/>
            <a:r>
              <a:t>React SPA (TypeScript)</a:t>
            </a:r>
          </a:p>
        </p:txBody>
      </p:sp>
      <p:sp>
        <p:nvSpPr>
          <p:cNvPr id="235" name="Text 11"/>
          <p:cNvSpPr txBox="1"/>
          <p:nvPr/>
        </p:nvSpPr>
        <p:spPr>
          <a:xfrm>
            <a:off x="777013" y="4384207"/>
            <a:ext cx="4537449" cy="21793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ts val="1800"/>
              </a:lnSpc>
              <a:defRPr b="1" sz="1200">
                <a:solidFill>
                  <a:srgbClr val="374151"/>
                </a:solidFill>
                <a:latin typeface="Inter"/>
                <a:ea typeface="Inter"/>
                <a:cs typeface="Inter"/>
                <a:sym typeface="Inter"/>
              </a:defRPr>
            </a:lvl1pPr>
          </a:lstStyle>
          <a:p>
            <a:pPr/>
            <a:r>
              <a:t>Tailwind CSS (Styling)</a:t>
            </a:r>
          </a:p>
        </p:txBody>
      </p:sp>
      <p:sp>
        <p:nvSpPr>
          <p:cNvPr id="236" name="Text 12"/>
          <p:cNvSpPr txBox="1"/>
          <p:nvPr/>
        </p:nvSpPr>
        <p:spPr>
          <a:xfrm>
            <a:off x="777015" y="4958522"/>
            <a:ext cx="3506207" cy="21793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ts val="1800"/>
              </a:lnSpc>
              <a:defRPr b="1" sz="1200">
                <a:solidFill>
                  <a:srgbClr val="374151"/>
                </a:solidFill>
                <a:latin typeface="Inter"/>
                <a:ea typeface="Inter"/>
                <a:cs typeface="Inter"/>
                <a:sym typeface="Inter"/>
              </a:defRPr>
            </a:lvl1pPr>
          </a:lstStyle>
          <a:p>
            <a:pPr/>
            <a:r>
              <a:t>Vite (Build Tool)</a:t>
            </a:r>
          </a:p>
        </p:txBody>
      </p:sp>
      <p:sp>
        <p:nvSpPr>
          <p:cNvPr id="237" name="Text 13"/>
          <p:cNvSpPr txBox="1"/>
          <p:nvPr/>
        </p:nvSpPr>
        <p:spPr>
          <a:xfrm>
            <a:off x="4356720" y="3315654"/>
            <a:ext cx="7497376" cy="22669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ts val="1800"/>
              </a:lnSpc>
              <a:defRPr b="1" spc="135" sz="1500">
                <a:solidFill>
                  <a:srgbClr val="9CA3AF"/>
                </a:solidFill>
                <a:latin typeface="Inter"/>
                <a:ea typeface="Inter"/>
                <a:cs typeface="Inter"/>
                <a:sym typeface="Inter"/>
              </a:defRPr>
            </a:lvl1pPr>
          </a:lstStyle>
          <a:p>
            <a:pPr/>
            <a:r>
              <a:t>DASHBOARD DIFFERENZIATE</a:t>
            </a:r>
          </a:p>
        </p:txBody>
      </p:sp>
      <p:sp>
        <p:nvSpPr>
          <p:cNvPr id="238" name="Text 14"/>
          <p:cNvSpPr txBox="1"/>
          <p:nvPr/>
        </p:nvSpPr>
        <p:spPr>
          <a:xfrm>
            <a:off x="4787455" y="3856344"/>
            <a:ext cx="2268724" cy="21793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ts val="1800"/>
              </a:lnSpc>
              <a:defRPr b="1" sz="1200">
                <a:solidFill>
                  <a:srgbClr val="1F2937"/>
                </a:solidFill>
                <a:latin typeface="Inter"/>
                <a:ea typeface="Inter"/>
                <a:cs typeface="Inter"/>
                <a:sym typeface="Inter"/>
              </a:defRPr>
            </a:lvl1pPr>
          </a:lstStyle>
          <a:p>
            <a:pPr/>
            <a:r>
              <a:t>Ruolo ADMIN</a:t>
            </a:r>
          </a:p>
        </p:txBody>
      </p:sp>
      <p:sp>
        <p:nvSpPr>
          <p:cNvPr id="239" name="Text 15"/>
          <p:cNvSpPr txBox="1"/>
          <p:nvPr/>
        </p:nvSpPr>
        <p:spPr>
          <a:xfrm>
            <a:off x="4660768" y="4150707"/>
            <a:ext cx="6135885" cy="16128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ts val="1300"/>
              </a:lnSpc>
              <a:defRPr sz="1000">
                <a:solidFill>
                  <a:srgbClr val="4B5563"/>
                </a:solidFill>
                <a:latin typeface="Inter"/>
                <a:ea typeface="Inter"/>
                <a:cs typeface="Inter"/>
                <a:sym typeface="Inter"/>
              </a:defRPr>
            </a:lvl1pPr>
          </a:lstStyle>
          <a:p>
            <a:pPr/>
            <a:r>
              <a:t>Controllo simulazione (Avvio/Stop)</a:t>
            </a:r>
          </a:p>
        </p:txBody>
      </p:sp>
      <p:sp>
        <p:nvSpPr>
          <p:cNvPr id="240" name="Text 16"/>
          <p:cNvSpPr txBox="1"/>
          <p:nvPr/>
        </p:nvSpPr>
        <p:spPr>
          <a:xfrm>
            <a:off x="4660769" y="4353407"/>
            <a:ext cx="5053080" cy="16128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ts val="1300"/>
              </a:lnSpc>
              <a:defRPr sz="1000">
                <a:solidFill>
                  <a:srgbClr val="4B5563"/>
                </a:solidFill>
                <a:latin typeface="Inter"/>
                <a:ea typeface="Inter"/>
                <a:cs typeface="Inter"/>
                <a:sym typeface="Inter"/>
              </a:defRPr>
            </a:lvl1pPr>
          </a:lstStyle>
          <a:p>
            <a:pPr/>
            <a:r>
              <a:t>Ingestione dati (Upload CSV)</a:t>
            </a:r>
          </a:p>
        </p:txBody>
      </p:sp>
      <p:sp>
        <p:nvSpPr>
          <p:cNvPr id="241" name="Text 17"/>
          <p:cNvSpPr txBox="1"/>
          <p:nvPr/>
        </p:nvSpPr>
        <p:spPr>
          <a:xfrm>
            <a:off x="4660769" y="4556107"/>
            <a:ext cx="4692145" cy="16128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ts val="1300"/>
              </a:lnSpc>
              <a:defRPr sz="1000">
                <a:solidFill>
                  <a:srgbClr val="4B5563"/>
                </a:solidFill>
                <a:latin typeface="Inter"/>
                <a:ea typeface="Inter"/>
                <a:cs typeface="Inter"/>
                <a:sym typeface="Inter"/>
              </a:defRPr>
            </a:lvl1pPr>
          </a:lstStyle>
          <a:p>
            <a:pPr/>
            <a:r>
              <a:t>Gestione utenti e permessi</a:t>
            </a:r>
          </a:p>
        </p:txBody>
      </p:sp>
      <p:sp>
        <p:nvSpPr>
          <p:cNvPr id="242" name="Text 18"/>
          <p:cNvSpPr txBox="1"/>
          <p:nvPr/>
        </p:nvSpPr>
        <p:spPr>
          <a:xfrm>
            <a:off x="8578305" y="3856344"/>
            <a:ext cx="2062477" cy="21793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ts val="1800"/>
              </a:lnSpc>
              <a:defRPr b="1" sz="1200">
                <a:solidFill>
                  <a:srgbClr val="1F2937"/>
                </a:solidFill>
                <a:latin typeface="Inter"/>
                <a:ea typeface="Inter"/>
                <a:cs typeface="Inter"/>
                <a:sym typeface="Inter"/>
              </a:defRPr>
            </a:lvl1pPr>
          </a:lstStyle>
          <a:p>
            <a:pPr/>
            <a:r>
              <a:t>Ruolo USER</a:t>
            </a:r>
          </a:p>
        </p:txBody>
      </p:sp>
      <p:sp>
        <p:nvSpPr>
          <p:cNvPr id="243" name="Text 19"/>
          <p:cNvSpPr txBox="1"/>
          <p:nvPr/>
        </p:nvSpPr>
        <p:spPr>
          <a:xfrm>
            <a:off x="8510740" y="4150707"/>
            <a:ext cx="4872614" cy="16128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ts val="1300"/>
              </a:lnSpc>
              <a:defRPr sz="1000">
                <a:solidFill>
                  <a:srgbClr val="4B5563"/>
                </a:solidFill>
                <a:latin typeface="Inter"/>
                <a:ea typeface="Inter"/>
                <a:cs typeface="Inter"/>
                <a:sym typeface="Inter"/>
              </a:defRPr>
            </a:lvl1pPr>
          </a:lstStyle>
          <a:p>
            <a:pPr/>
            <a:r>
              <a:t>Monitoraggio in tempo reale</a:t>
            </a:r>
          </a:p>
        </p:txBody>
      </p:sp>
      <p:sp>
        <p:nvSpPr>
          <p:cNvPr id="244" name="Text 20"/>
          <p:cNvSpPr txBox="1"/>
          <p:nvPr/>
        </p:nvSpPr>
        <p:spPr>
          <a:xfrm>
            <a:off x="8510740" y="4353407"/>
            <a:ext cx="5233547" cy="16128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ts val="1300"/>
              </a:lnSpc>
              <a:defRPr sz="1000">
                <a:solidFill>
                  <a:srgbClr val="4B5563"/>
                </a:solidFill>
                <a:latin typeface="Inter"/>
                <a:ea typeface="Inter"/>
                <a:cs typeface="Inter"/>
                <a:sym typeface="Inter"/>
              </a:defRPr>
            </a:lvl1pPr>
          </a:lstStyle>
          <a:p>
            <a:pPr/>
            <a:r>
              <a:t>Visualizzazione trend storici</a:t>
            </a:r>
          </a:p>
        </p:txBody>
      </p:sp>
      <p:sp>
        <p:nvSpPr>
          <p:cNvPr id="245" name="Text 21"/>
          <p:cNvSpPr txBox="1"/>
          <p:nvPr/>
        </p:nvSpPr>
        <p:spPr>
          <a:xfrm>
            <a:off x="8510740" y="4556107"/>
            <a:ext cx="4331213" cy="16128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ts val="1300"/>
              </a:lnSpc>
              <a:defRPr sz="1000">
                <a:solidFill>
                  <a:srgbClr val="4B5563"/>
                </a:solidFill>
                <a:latin typeface="Inter"/>
                <a:ea typeface="Inter"/>
                <a:cs typeface="Inter"/>
                <a:sym typeface="Inter"/>
              </a:defRPr>
            </a:lvl1pPr>
          </a:lstStyle>
          <a:p>
            <a:pPr/>
            <a:r>
              <a:t>Sola lettura (Read-only)</a:t>
            </a:r>
          </a:p>
        </p:txBody>
      </p:sp>
      <p:sp>
        <p:nvSpPr>
          <p:cNvPr id="246" name="Text 22"/>
          <p:cNvSpPr txBox="1"/>
          <p:nvPr/>
        </p:nvSpPr>
        <p:spPr>
          <a:xfrm>
            <a:off x="4491852" y="5290701"/>
            <a:ext cx="2474973" cy="12788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ts val="1000"/>
              </a:lnSpc>
              <a:defRPr b="1" spc="81" sz="900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defRPr>
            </a:lvl1pPr>
          </a:lstStyle>
          <a:p>
            <a:pPr/>
            <a:r>
              <a:t>REAL-TIME ENGINE</a:t>
            </a:r>
          </a:p>
        </p:txBody>
      </p:sp>
      <p:sp>
        <p:nvSpPr>
          <p:cNvPr id="247" name="Text 23"/>
          <p:cNvSpPr txBox="1"/>
          <p:nvPr/>
        </p:nvSpPr>
        <p:spPr>
          <a:xfrm>
            <a:off x="4491851" y="5460336"/>
            <a:ext cx="12452236" cy="16128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lnSpc>
                <a:spcPts val="1300"/>
              </a:lnSpc>
              <a:defRPr sz="1000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defRPr>
            </a:pPr>
            <a:r>
              <a:t>Streaming dati tramite </a:t>
            </a:r>
            <a:r>
              <a:rPr b="1"/>
              <a:t>Server-Sent Events (SSE)</a:t>
            </a:r>
            <a:r>
              <a:t> per grafici dinamici.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blipFill rotWithShape="1">
          <a:blip r:embed="rId2"/>
          <a:srcRect l="0" t="0" r="0" b="0"/>
          <a:stretch>
            <a:fillRect/>
          </a:stretch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9" name="Image 0" descr="Image 0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ln w="12700">
            <a:miter lim="400000"/>
          </a:ln>
        </p:spPr>
      </p:pic>
      <p:pic>
        <p:nvPicPr>
          <p:cNvPr id="250" name="Image 1" descr="Image 1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381000" y="381000"/>
            <a:ext cx="11430000" cy="685800"/>
          </a:xfrm>
          <a:prstGeom prst="rect">
            <a:avLst/>
          </a:prstGeom>
          <a:ln w="12700">
            <a:miter lim="400000"/>
          </a:ln>
        </p:spPr>
      </p:pic>
      <p:pic>
        <p:nvPicPr>
          <p:cNvPr id="251" name="Image 2" descr="Image 2"/>
          <p:cNvPicPr>
            <a:picLocks noChangeAspect="1"/>
          </p:cNvPicPr>
          <p:nvPr/>
        </p:nvPicPr>
        <p:blipFill>
          <a:blip r:embed="rId4">
            <a:extLst/>
          </a:blip>
          <a:stretch>
            <a:fillRect/>
          </a:stretch>
        </p:blipFill>
        <p:spPr>
          <a:xfrm>
            <a:off x="381000" y="1371600"/>
            <a:ext cx="5562600" cy="3295650"/>
          </a:xfrm>
          <a:prstGeom prst="rect">
            <a:avLst/>
          </a:prstGeom>
          <a:ln w="12700">
            <a:miter lim="400000"/>
          </a:ln>
        </p:spPr>
      </p:pic>
      <p:pic>
        <p:nvPicPr>
          <p:cNvPr id="252" name="Image 3" descr="Image 3"/>
          <p:cNvPicPr>
            <a:picLocks noChangeAspect="1"/>
          </p:cNvPicPr>
          <p:nvPr/>
        </p:nvPicPr>
        <p:blipFill>
          <a:blip r:embed="rId5">
            <a:extLst/>
          </a:blip>
          <a:stretch>
            <a:fillRect/>
          </a:stretch>
        </p:blipFill>
        <p:spPr>
          <a:xfrm>
            <a:off x="609600" y="1638300"/>
            <a:ext cx="228600" cy="228600"/>
          </a:xfrm>
          <a:prstGeom prst="rect">
            <a:avLst/>
          </a:prstGeom>
          <a:ln w="12700">
            <a:miter lim="400000"/>
          </a:ln>
        </p:spPr>
      </p:pic>
      <p:pic>
        <p:nvPicPr>
          <p:cNvPr id="253" name="Image 4" descr="Image 4"/>
          <p:cNvPicPr>
            <a:picLocks noChangeAspect="1"/>
          </p:cNvPicPr>
          <p:nvPr/>
        </p:nvPicPr>
        <p:blipFill>
          <a:blip r:embed="rId6">
            <a:extLst/>
          </a:blip>
          <a:stretch>
            <a:fillRect/>
          </a:stretch>
        </p:blipFill>
        <p:spPr>
          <a:xfrm>
            <a:off x="609600" y="2095500"/>
            <a:ext cx="152400" cy="152400"/>
          </a:xfrm>
          <a:prstGeom prst="rect">
            <a:avLst/>
          </a:prstGeom>
          <a:ln w="12700">
            <a:miter lim="400000"/>
          </a:ln>
        </p:spPr>
      </p:pic>
      <p:pic>
        <p:nvPicPr>
          <p:cNvPr id="254" name="Image 5" descr="Image 5"/>
          <p:cNvPicPr>
            <a:picLocks noChangeAspect="1"/>
          </p:cNvPicPr>
          <p:nvPr/>
        </p:nvPicPr>
        <p:blipFill>
          <a:blip r:embed="rId7">
            <a:extLst/>
          </a:blip>
          <a:stretch>
            <a:fillRect/>
          </a:stretch>
        </p:blipFill>
        <p:spPr>
          <a:xfrm>
            <a:off x="609600" y="2933700"/>
            <a:ext cx="152400" cy="152400"/>
          </a:xfrm>
          <a:prstGeom prst="rect">
            <a:avLst/>
          </a:prstGeom>
          <a:ln w="12700">
            <a:miter lim="400000"/>
          </a:ln>
        </p:spPr>
      </p:pic>
      <p:pic>
        <p:nvPicPr>
          <p:cNvPr id="255" name="Image 6" descr="Image 6"/>
          <p:cNvPicPr>
            <a:picLocks noChangeAspect="1"/>
          </p:cNvPicPr>
          <p:nvPr/>
        </p:nvPicPr>
        <p:blipFill>
          <a:blip r:embed="rId8">
            <a:extLst/>
          </a:blip>
          <a:stretch>
            <a:fillRect/>
          </a:stretch>
        </p:blipFill>
        <p:spPr>
          <a:xfrm>
            <a:off x="609600" y="3771900"/>
            <a:ext cx="152400" cy="152400"/>
          </a:xfrm>
          <a:prstGeom prst="rect">
            <a:avLst/>
          </a:prstGeom>
          <a:ln w="12700">
            <a:miter lim="400000"/>
          </a:ln>
        </p:spPr>
      </p:pic>
      <p:pic>
        <p:nvPicPr>
          <p:cNvPr id="256" name="Image 7" descr="Image 7"/>
          <p:cNvPicPr>
            <a:picLocks noChangeAspect="1"/>
          </p:cNvPicPr>
          <p:nvPr/>
        </p:nvPicPr>
        <p:blipFill>
          <a:blip r:embed="rId4">
            <a:extLst/>
          </a:blip>
          <a:stretch>
            <a:fillRect/>
          </a:stretch>
        </p:blipFill>
        <p:spPr>
          <a:xfrm>
            <a:off x="6248400" y="1371600"/>
            <a:ext cx="5562600" cy="3295650"/>
          </a:xfrm>
          <a:prstGeom prst="rect">
            <a:avLst/>
          </a:prstGeom>
          <a:ln w="12700">
            <a:miter lim="400000"/>
          </a:ln>
        </p:spPr>
      </p:pic>
      <p:pic>
        <p:nvPicPr>
          <p:cNvPr id="257" name="Image 8" descr="Image 8"/>
          <p:cNvPicPr>
            <a:picLocks noChangeAspect="1"/>
          </p:cNvPicPr>
          <p:nvPr/>
        </p:nvPicPr>
        <p:blipFill>
          <a:blip r:embed="rId9">
            <a:extLst/>
          </a:blip>
          <a:stretch>
            <a:fillRect/>
          </a:stretch>
        </p:blipFill>
        <p:spPr>
          <a:xfrm>
            <a:off x="6477000" y="1638300"/>
            <a:ext cx="200025" cy="228600"/>
          </a:xfrm>
          <a:prstGeom prst="rect">
            <a:avLst/>
          </a:prstGeom>
          <a:ln w="12700">
            <a:miter lim="400000"/>
          </a:ln>
        </p:spPr>
      </p:pic>
      <p:pic>
        <p:nvPicPr>
          <p:cNvPr id="258" name="Image 9" descr="Image 9"/>
          <p:cNvPicPr>
            <a:picLocks noChangeAspect="1"/>
          </p:cNvPicPr>
          <p:nvPr/>
        </p:nvPicPr>
        <p:blipFill>
          <a:blip r:embed="rId10">
            <a:extLst/>
          </a:blip>
          <a:stretch>
            <a:fillRect/>
          </a:stretch>
        </p:blipFill>
        <p:spPr>
          <a:xfrm>
            <a:off x="6477000" y="2095500"/>
            <a:ext cx="152400" cy="152400"/>
          </a:xfrm>
          <a:prstGeom prst="rect">
            <a:avLst/>
          </a:prstGeom>
          <a:ln w="12700">
            <a:miter lim="400000"/>
          </a:ln>
        </p:spPr>
      </p:pic>
      <p:pic>
        <p:nvPicPr>
          <p:cNvPr id="259" name="Image 10" descr="Image 10"/>
          <p:cNvPicPr>
            <a:picLocks noChangeAspect="1"/>
          </p:cNvPicPr>
          <p:nvPr/>
        </p:nvPicPr>
        <p:blipFill>
          <a:blip r:embed="rId11">
            <a:extLst/>
          </a:blip>
          <a:stretch>
            <a:fillRect/>
          </a:stretch>
        </p:blipFill>
        <p:spPr>
          <a:xfrm>
            <a:off x="6477000" y="2933700"/>
            <a:ext cx="114300" cy="152400"/>
          </a:xfrm>
          <a:prstGeom prst="rect">
            <a:avLst/>
          </a:prstGeom>
          <a:ln w="12700">
            <a:miter lim="400000"/>
          </a:ln>
        </p:spPr>
      </p:pic>
      <p:pic>
        <p:nvPicPr>
          <p:cNvPr id="260" name="Image 11" descr="Image 11"/>
          <p:cNvPicPr>
            <a:picLocks noChangeAspect="1"/>
          </p:cNvPicPr>
          <p:nvPr/>
        </p:nvPicPr>
        <p:blipFill>
          <a:blip r:embed="rId12">
            <a:extLst/>
          </a:blip>
          <a:stretch>
            <a:fillRect/>
          </a:stretch>
        </p:blipFill>
        <p:spPr>
          <a:xfrm>
            <a:off x="6477000" y="3771900"/>
            <a:ext cx="152400" cy="152400"/>
          </a:xfrm>
          <a:prstGeom prst="rect">
            <a:avLst/>
          </a:prstGeom>
          <a:ln w="12700">
            <a:miter lim="400000"/>
          </a:ln>
        </p:spPr>
      </p:pic>
      <p:sp>
        <p:nvSpPr>
          <p:cNvPr id="261" name="Text 0"/>
          <p:cNvSpPr txBox="1"/>
          <p:nvPr/>
        </p:nvSpPr>
        <p:spPr>
          <a:xfrm>
            <a:off x="609599" y="379669"/>
            <a:ext cx="12755882" cy="38366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ts val="3000"/>
              </a:lnSpc>
              <a:defRPr b="1" spc="-54" sz="2700">
                <a:solidFill>
                  <a:srgbClr val="006400"/>
                </a:solidFill>
                <a:latin typeface="Inter"/>
                <a:ea typeface="Inter"/>
                <a:cs typeface="Inter"/>
                <a:sym typeface="Inter"/>
              </a:defRPr>
            </a:lvl1pPr>
          </a:lstStyle>
          <a:p>
            <a:pPr/>
            <a:r>
              <a:t>AI, DIGITAL TWIN E ANALISI DATI</a:t>
            </a:r>
          </a:p>
        </p:txBody>
      </p:sp>
      <p:sp>
        <p:nvSpPr>
          <p:cNvPr id="262" name="Text 1"/>
          <p:cNvSpPr txBox="1"/>
          <p:nvPr/>
        </p:nvSpPr>
        <p:spPr>
          <a:xfrm>
            <a:off x="609600" y="804864"/>
            <a:ext cx="14401800" cy="25717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ts val="2100"/>
              </a:lnSpc>
              <a:defRPr sz="1500">
                <a:solidFill>
                  <a:srgbClr val="6B7280"/>
                </a:solidFill>
                <a:latin typeface="Inter"/>
                <a:ea typeface="Inter"/>
                <a:cs typeface="Inter"/>
                <a:sym typeface="Inter"/>
              </a:defRPr>
            </a:lvl1pPr>
          </a:lstStyle>
          <a:p>
            <a:pPr/>
            <a:r>
              <a:t>Dall'analisi esplorativa alla predizione neurale in tempo reale</a:t>
            </a:r>
          </a:p>
        </p:txBody>
      </p:sp>
      <p:sp>
        <p:nvSpPr>
          <p:cNvPr id="263" name="Text 2"/>
          <p:cNvSpPr txBox="1"/>
          <p:nvPr/>
        </p:nvSpPr>
        <p:spPr>
          <a:xfrm>
            <a:off x="952500" y="1604392"/>
            <a:ext cx="5105400" cy="29641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ts val="2400"/>
              </a:lnSpc>
              <a:defRPr b="1">
                <a:solidFill>
                  <a:srgbClr val="006400"/>
                </a:solidFill>
                <a:latin typeface="Inter"/>
                <a:ea typeface="Inter"/>
                <a:cs typeface="Inter"/>
                <a:sym typeface="Inter"/>
              </a:defRPr>
            </a:lvl1pPr>
          </a:lstStyle>
          <a:p>
            <a:pPr/>
            <a:r>
              <a:t>Architettura LSTM</a:t>
            </a:r>
          </a:p>
        </p:txBody>
      </p:sp>
      <p:sp>
        <p:nvSpPr>
          <p:cNvPr id="264" name="Text 3"/>
          <p:cNvSpPr txBox="1"/>
          <p:nvPr/>
        </p:nvSpPr>
        <p:spPr>
          <a:xfrm>
            <a:off x="876299" y="2062734"/>
            <a:ext cx="3474723" cy="21793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ts val="1800"/>
              </a:lnSpc>
              <a:defRPr b="1" sz="1200">
                <a:latin typeface="Inter"/>
                <a:ea typeface="Inter"/>
                <a:cs typeface="Inter"/>
                <a:sym typeface="Inter"/>
              </a:defRPr>
            </a:lvl1pPr>
          </a:lstStyle>
          <a:p>
            <a:pPr/>
            <a:r>
              <a:t>Finestra Temporale:</a:t>
            </a:r>
          </a:p>
        </p:txBody>
      </p:sp>
      <p:sp>
        <p:nvSpPr>
          <p:cNvPr id="265" name="Text 4"/>
          <p:cNvSpPr txBox="1"/>
          <p:nvPr/>
        </p:nvSpPr>
        <p:spPr>
          <a:xfrm>
            <a:off x="876300" y="2291334"/>
            <a:ext cx="4819650" cy="44653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ts val="1800"/>
              </a:lnSpc>
              <a:defRPr sz="1200">
                <a:solidFill>
                  <a:srgbClr val="4B5563"/>
                </a:solidFill>
                <a:latin typeface="Inter"/>
                <a:ea typeface="Inter"/>
                <a:cs typeface="Inter"/>
                <a:sym typeface="Inter"/>
              </a:defRPr>
            </a:lvl1pPr>
          </a:lstStyle>
          <a:p>
            <a:pPr/>
            <a:r>
              <a:t>Utilizzo di 12 timestep (ore) passati per predire il consumo dell'ora successiva.</a:t>
            </a:r>
          </a:p>
        </p:txBody>
      </p:sp>
      <p:sp>
        <p:nvSpPr>
          <p:cNvPr id="266" name="Text 5"/>
          <p:cNvSpPr txBox="1"/>
          <p:nvPr/>
        </p:nvSpPr>
        <p:spPr>
          <a:xfrm>
            <a:off x="876299" y="2900934"/>
            <a:ext cx="2560323" cy="21793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ts val="1800"/>
              </a:lnSpc>
              <a:defRPr b="1" sz="1200">
                <a:latin typeface="Inter"/>
                <a:ea typeface="Inter"/>
                <a:cs typeface="Inter"/>
                <a:sym typeface="Inter"/>
              </a:defRPr>
            </a:lvl1pPr>
          </a:lstStyle>
          <a:p>
            <a:pPr/>
            <a:r>
              <a:t>Input Feature:</a:t>
            </a:r>
          </a:p>
        </p:txBody>
      </p:sp>
      <p:sp>
        <p:nvSpPr>
          <p:cNvPr id="267" name="Text 6"/>
          <p:cNvSpPr txBox="1"/>
          <p:nvPr/>
        </p:nvSpPr>
        <p:spPr>
          <a:xfrm>
            <a:off x="876300" y="3243834"/>
            <a:ext cx="4695974" cy="21793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ts val="1800"/>
              </a:lnSpc>
              <a:defRPr sz="1200">
                <a:solidFill>
                  <a:srgbClr val="4B5563"/>
                </a:solidFill>
                <a:latin typeface="Inter"/>
                <a:ea typeface="Inter"/>
                <a:cs typeface="Inter"/>
                <a:sym typeface="Inter"/>
              </a:defRPr>
            </a:lvl1pPr>
          </a:lstStyle>
          <a:p>
            <a:pPr/>
            <a:r>
              <a:t>Temperatura, umidità, occupanza e storico consumi normalizzati.</a:t>
            </a:r>
          </a:p>
        </p:txBody>
      </p:sp>
      <p:sp>
        <p:nvSpPr>
          <p:cNvPr id="268" name="Text 7"/>
          <p:cNvSpPr txBox="1"/>
          <p:nvPr/>
        </p:nvSpPr>
        <p:spPr>
          <a:xfrm>
            <a:off x="876299" y="3739134"/>
            <a:ext cx="2926083" cy="21793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ts val="1800"/>
              </a:lnSpc>
              <a:defRPr b="1" sz="1200">
                <a:latin typeface="Inter"/>
                <a:ea typeface="Inter"/>
                <a:cs typeface="Inter"/>
                <a:sym typeface="Inter"/>
              </a:defRPr>
            </a:lvl1pPr>
          </a:lstStyle>
          <a:p>
            <a:pPr/>
            <a:r>
              <a:t>Soglia Anomalia:</a:t>
            </a:r>
          </a:p>
        </p:txBody>
      </p:sp>
      <p:sp>
        <p:nvSpPr>
          <p:cNvPr id="269" name="Text 8"/>
          <p:cNvSpPr txBox="1"/>
          <p:nvPr/>
        </p:nvSpPr>
        <p:spPr>
          <a:xfrm>
            <a:off x="876300" y="3967734"/>
            <a:ext cx="4819650" cy="44653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ts val="1800"/>
              </a:lnSpc>
              <a:defRPr sz="1200">
                <a:solidFill>
                  <a:srgbClr val="4B5563"/>
                </a:solidFill>
                <a:latin typeface="Inter"/>
                <a:ea typeface="Inter"/>
                <a:cs typeface="Inter"/>
                <a:sym typeface="Inter"/>
              </a:defRPr>
            </a:lvl1pPr>
          </a:lstStyle>
          <a:p>
            <a:pPr/>
            <a:r>
              <a:t>Deviazione &gt; 2.5 MAE tra valore reale e predetto attiva un alert immediato.</a:t>
            </a:r>
          </a:p>
        </p:txBody>
      </p:sp>
      <p:sp>
        <p:nvSpPr>
          <p:cNvPr id="270" name="Text 9"/>
          <p:cNvSpPr txBox="1"/>
          <p:nvPr/>
        </p:nvSpPr>
        <p:spPr>
          <a:xfrm>
            <a:off x="6791325" y="1604392"/>
            <a:ext cx="6858000" cy="29641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ts val="2400"/>
              </a:lnSpc>
              <a:defRPr b="1">
                <a:solidFill>
                  <a:srgbClr val="006400"/>
                </a:solidFill>
                <a:latin typeface="Inter"/>
                <a:ea typeface="Inter"/>
                <a:cs typeface="Inter"/>
                <a:sym typeface="Inter"/>
              </a:defRPr>
            </a:lvl1pPr>
          </a:lstStyle>
          <a:p>
            <a:pPr/>
            <a:r>
              <a:t>Analisi Esplorativa (EDA)</a:t>
            </a:r>
          </a:p>
        </p:txBody>
      </p:sp>
      <p:sp>
        <p:nvSpPr>
          <p:cNvPr id="271" name="Text 10"/>
          <p:cNvSpPr txBox="1"/>
          <p:nvPr/>
        </p:nvSpPr>
        <p:spPr>
          <a:xfrm>
            <a:off x="6743699" y="2062734"/>
            <a:ext cx="3108963" cy="21793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ts val="1800"/>
              </a:lnSpc>
              <a:defRPr b="1" sz="1200">
                <a:latin typeface="Inter"/>
                <a:ea typeface="Inter"/>
                <a:cs typeface="Inter"/>
                <a:sym typeface="Inter"/>
              </a:defRPr>
            </a:lvl1pPr>
          </a:lstStyle>
          <a:p>
            <a:pPr/>
            <a:r>
              <a:t>Encoding Ciclico:</a:t>
            </a:r>
          </a:p>
        </p:txBody>
      </p:sp>
      <p:sp>
        <p:nvSpPr>
          <p:cNvPr id="272" name="Text 11"/>
          <p:cNvSpPr txBox="1"/>
          <p:nvPr/>
        </p:nvSpPr>
        <p:spPr>
          <a:xfrm>
            <a:off x="6743700" y="2291334"/>
            <a:ext cx="4819650" cy="44653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ts val="1800"/>
              </a:lnSpc>
              <a:defRPr sz="1200">
                <a:solidFill>
                  <a:srgbClr val="4B5563"/>
                </a:solidFill>
                <a:latin typeface="Inter"/>
                <a:ea typeface="Inter"/>
                <a:cs typeface="Inter"/>
                <a:sym typeface="Inter"/>
              </a:defRPr>
            </a:lvl1pPr>
          </a:lstStyle>
          <a:p>
            <a:pPr/>
            <a:r>
              <a:t>Trasformazione Sin/Cos per catturare la stagionalità di ore, giorni e mesi.</a:t>
            </a:r>
          </a:p>
        </p:txBody>
      </p:sp>
      <p:sp>
        <p:nvSpPr>
          <p:cNvPr id="273" name="Text 12"/>
          <p:cNvSpPr txBox="1"/>
          <p:nvPr/>
        </p:nvSpPr>
        <p:spPr>
          <a:xfrm>
            <a:off x="6705599" y="2900934"/>
            <a:ext cx="5120643" cy="21793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ts val="1800"/>
              </a:lnSpc>
              <a:defRPr b="1" sz="1200">
                <a:latin typeface="Inter"/>
                <a:ea typeface="Inter"/>
                <a:cs typeface="Inter"/>
                <a:sym typeface="Inter"/>
              </a:defRPr>
            </a:lvl1pPr>
          </a:lstStyle>
          <a:p>
            <a:pPr/>
            <a:r>
              <a:t>Coerenza Ricerca-Produzione:</a:t>
            </a:r>
          </a:p>
        </p:txBody>
      </p:sp>
      <p:sp>
        <p:nvSpPr>
          <p:cNvPr id="274" name="Text 13"/>
          <p:cNvSpPr txBox="1"/>
          <p:nvPr/>
        </p:nvSpPr>
        <p:spPr>
          <a:xfrm>
            <a:off x="6705600" y="3129534"/>
            <a:ext cx="4857750" cy="44653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ts val="1800"/>
              </a:lnSpc>
              <a:defRPr sz="1200">
                <a:solidFill>
                  <a:srgbClr val="4B5563"/>
                </a:solidFill>
                <a:latin typeface="Inter"/>
                <a:ea typeface="Inter"/>
                <a:cs typeface="Inter"/>
                <a:sym typeface="Inter"/>
              </a:defRPr>
            </a:lvl1pPr>
          </a:lstStyle>
          <a:p>
            <a:pPr/>
            <a:r>
              <a:t>Pre-processing identico tra notebook Python e backend Java/AI service.</a:t>
            </a:r>
          </a:p>
        </p:txBody>
      </p:sp>
      <p:sp>
        <p:nvSpPr>
          <p:cNvPr id="275" name="Text 14"/>
          <p:cNvSpPr txBox="1"/>
          <p:nvPr/>
        </p:nvSpPr>
        <p:spPr>
          <a:xfrm>
            <a:off x="6743700" y="3739134"/>
            <a:ext cx="2377440" cy="21793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ts val="1800"/>
              </a:lnSpc>
              <a:defRPr b="1" sz="1200">
                <a:latin typeface="Inter"/>
                <a:ea typeface="Inter"/>
                <a:cs typeface="Inter"/>
                <a:sym typeface="Inter"/>
              </a:defRPr>
            </a:lvl1pPr>
          </a:lstStyle>
          <a:p>
            <a:pPr/>
            <a:r>
              <a:t>Baseline MAE:</a:t>
            </a:r>
          </a:p>
        </p:txBody>
      </p:sp>
      <p:sp>
        <p:nvSpPr>
          <p:cNvPr id="276" name="Text 15"/>
          <p:cNvSpPr txBox="1"/>
          <p:nvPr/>
        </p:nvSpPr>
        <p:spPr>
          <a:xfrm>
            <a:off x="6743700" y="3967734"/>
            <a:ext cx="4819650" cy="44653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ts val="1800"/>
              </a:lnSpc>
              <a:defRPr sz="1200">
                <a:solidFill>
                  <a:srgbClr val="4B5563"/>
                </a:solidFill>
                <a:latin typeface="Inter"/>
                <a:ea typeface="Inter"/>
                <a:cs typeface="Inter"/>
                <a:sym typeface="Inter"/>
              </a:defRPr>
            </a:lvl1pPr>
          </a:lstStyle>
          <a:p>
            <a:pPr/>
            <a:r>
              <a:t>Validazione offline tramite PyTorch per definire i parametri del Digital Twin.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8" name="Text 16"/>
          <p:cNvSpPr txBox="1"/>
          <p:nvPr/>
        </p:nvSpPr>
        <p:spPr>
          <a:xfrm>
            <a:off x="4157805" y="561279"/>
            <a:ext cx="3876391" cy="25133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ts val="2100"/>
              </a:lnSpc>
              <a:defRPr b="1" spc="108" sz="1300">
                <a:solidFill>
                  <a:srgbClr val="9CA3AF"/>
                </a:solidFill>
                <a:latin typeface="Inter"/>
                <a:ea typeface="Inter"/>
                <a:cs typeface="Inter"/>
                <a:sym typeface="Inter"/>
              </a:defRPr>
            </a:lvl1pPr>
          </a:lstStyle>
          <a:p>
            <a:pPr/>
            <a:r>
              <a:t>SIMULAZIONE PREDIZIONE VS ANOMALIA</a:t>
            </a:r>
          </a:p>
        </p:txBody>
      </p:sp>
      <p:pic>
        <p:nvPicPr>
          <p:cNvPr id="279" name="Screenshot 2026-02-15 alle 20.09.04.png" descr="Screenshot 2026-02-15 alle 20.09.04.png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1631950" y="1182066"/>
            <a:ext cx="8928101" cy="5130802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xmlns:p14="http://schemas.microsoft.com/office/powerpoint/2010/main" spd="med" advClick="1"/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blipFill rotWithShape="1">
          <a:blip r:embed="rId2"/>
          <a:srcRect l="0" t="0" r="0" b="0"/>
          <a:stretch>
            <a:fillRect/>
          </a:stretch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1" name="Image 1" descr="Image 1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285750" y="285750"/>
            <a:ext cx="11620500" cy="723900"/>
          </a:xfrm>
          <a:prstGeom prst="rect">
            <a:avLst/>
          </a:prstGeom>
          <a:ln w="12700">
            <a:miter lim="400000"/>
          </a:ln>
        </p:spPr>
      </p:pic>
      <p:pic>
        <p:nvPicPr>
          <p:cNvPr id="282" name="Image 2" descr="Image 2"/>
          <p:cNvPicPr>
            <a:picLocks noChangeAspect="1"/>
          </p:cNvPicPr>
          <p:nvPr/>
        </p:nvPicPr>
        <p:blipFill>
          <a:blip r:embed="rId4">
            <a:extLst/>
          </a:blip>
          <a:stretch>
            <a:fillRect/>
          </a:stretch>
        </p:blipFill>
        <p:spPr>
          <a:xfrm>
            <a:off x="285750" y="1247775"/>
            <a:ext cx="5657850" cy="4857750"/>
          </a:xfrm>
          <a:prstGeom prst="rect">
            <a:avLst/>
          </a:prstGeom>
          <a:ln w="12700">
            <a:miter lim="400000"/>
          </a:ln>
        </p:spPr>
      </p:pic>
      <p:pic>
        <p:nvPicPr>
          <p:cNvPr id="283" name="Image 3" descr="Image 3"/>
          <p:cNvPicPr>
            <a:picLocks noChangeAspect="1"/>
          </p:cNvPicPr>
          <p:nvPr/>
        </p:nvPicPr>
        <p:blipFill>
          <a:blip r:embed="rId5">
            <a:extLst/>
          </a:blip>
          <a:stretch>
            <a:fillRect/>
          </a:stretch>
        </p:blipFill>
        <p:spPr>
          <a:xfrm>
            <a:off x="438150" y="1438275"/>
            <a:ext cx="190500" cy="190500"/>
          </a:xfrm>
          <a:prstGeom prst="rect">
            <a:avLst/>
          </a:prstGeom>
          <a:ln w="12700">
            <a:miter lim="400000"/>
          </a:ln>
        </p:spPr>
      </p:pic>
      <p:pic>
        <p:nvPicPr>
          <p:cNvPr id="284" name="Image 4" descr="Image 4"/>
          <p:cNvPicPr>
            <a:picLocks noChangeAspect="1"/>
          </p:cNvPicPr>
          <p:nvPr/>
        </p:nvPicPr>
        <p:blipFill>
          <a:blip r:embed="rId6">
            <a:extLst/>
          </a:blip>
          <a:stretch>
            <a:fillRect/>
          </a:stretch>
        </p:blipFill>
        <p:spPr>
          <a:xfrm>
            <a:off x="438150" y="2352675"/>
            <a:ext cx="1733550" cy="342900"/>
          </a:xfrm>
          <a:prstGeom prst="rect">
            <a:avLst/>
          </a:prstGeom>
          <a:ln w="12700">
            <a:miter lim="400000"/>
          </a:ln>
        </p:spPr>
      </p:pic>
      <p:pic>
        <p:nvPicPr>
          <p:cNvPr id="285" name="Image 5" descr="Image 5"/>
          <p:cNvPicPr>
            <a:picLocks noChangeAspect="1"/>
          </p:cNvPicPr>
          <p:nvPr/>
        </p:nvPicPr>
        <p:blipFill>
          <a:blip r:embed="rId7">
            <a:extLst/>
          </a:blip>
          <a:stretch>
            <a:fillRect/>
          </a:stretch>
        </p:blipFill>
        <p:spPr>
          <a:xfrm>
            <a:off x="2247900" y="2352675"/>
            <a:ext cx="1733550" cy="342900"/>
          </a:xfrm>
          <a:prstGeom prst="rect">
            <a:avLst/>
          </a:prstGeom>
          <a:ln w="12700">
            <a:miter lim="400000"/>
          </a:ln>
        </p:spPr>
      </p:pic>
      <p:pic>
        <p:nvPicPr>
          <p:cNvPr id="286" name="Image 6" descr="Image 6"/>
          <p:cNvPicPr>
            <a:picLocks noChangeAspect="1"/>
          </p:cNvPicPr>
          <p:nvPr/>
        </p:nvPicPr>
        <p:blipFill>
          <a:blip r:embed="rId8">
            <a:extLst/>
          </a:blip>
          <a:stretch>
            <a:fillRect/>
          </a:stretch>
        </p:blipFill>
        <p:spPr>
          <a:xfrm>
            <a:off x="4057650" y="2352675"/>
            <a:ext cx="1733550" cy="342900"/>
          </a:xfrm>
          <a:prstGeom prst="rect">
            <a:avLst/>
          </a:prstGeom>
          <a:ln w="12700">
            <a:miter lim="400000"/>
          </a:ln>
        </p:spPr>
      </p:pic>
      <p:pic>
        <p:nvPicPr>
          <p:cNvPr id="287" name="Image 9" descr="Image 9"/>
          <p:cNvPicPr>
            <a:picLocks noChangeAspect="1"/>
          </p:cNvPicPr>
          <p:nvPr/>
        </p:nvPicPr>
        <p:blipFill>
          <a:blip r:embed="rId4">
            <a:extLst/>
          </a:blip>
          <a:stretch>
            <a:fillRect/>
          </a:stretch>
        </p:blipFill>
        <p:spPr>
          <a:xfrm>
            <a:off x="6248400" y="1247775"/>
            <a:ext cx="5657850" cy="4857750"/>
          </a:xfrm>
          <a:prstGeom prst="rect">
            <a:avLst/>
          </a:prstGeom>
          <a:ln w="12700">
            <a:miter lim="400000"/>
          </a:ln>
        </p:spPr>
      </p:pic>
      <p:pic>
        <p:nvPicPr>
          <p:cNvPr id="288" name="Image 10" descr="Image 10"/>
          <p:cNvPicPr>
            <a:picLocks noChangeAspect="1"/>
          </p:cNvPicPr>
          <p:nvPr/>
        </p:nvPicPr>
        <p:blipFill>
          <a:blip r:embed="rId9">
            <a:extLst/>
          </a:blip>
          <a:stretch>
            <a:fillRect/>
          </a:stretch>
        </p:blipFill>
        <p:spPr>
          <a:xfrm>
            <a:off x="6400800" y="1438275"/>
            <a:ext cx="238125" cy="190500"/>
          </a:xfrm>
          <a:prstGeom prst="rect">
            <a:avLst/>
          </a:prstGeom>
          <a:ln w="12700">
            <a:miter lim="400000"/>
          </a:ln>
        </p:spPr>
      </p:pic>
      <p:pic>
        <p:nvPicPr>
          <p:cNvPr id="289" name="Image 11" descr="Image 11"/>
          <p:cNvPicPr>
            <a:picLocks noChangeAspect="1"/>
          </p:cNvPicPr>
          <p:nvPr/>
        </p:nvPicPr>
        <p:blipFill>
          <a:blip r:embed="rId10">
            <a:extLst/>
          </a:blip>
          <a:stretch>
            <a:fillRect/>
          </a:stretch>
        </p:blipFill>
        <p:spPr>
          <a:xfrm>
            <a:off x="6400800" y="1819275"/>
            <a:ext cx="5353050" cy="457200"/>
          </a:xfrm>
          <a:prstGeom prst="rect">
            <a:avLst/>
          </a:prstGeom>
          <a:ln w="12700">
            <a:miter lim="400000"/>
          </a:ln>
        </p:spPr>
      </p:pic>
      <p:pic>
        <p:nvPicPr>
          <p:cNvPr id="290" name="Image 12" descr="Image 12"/>
          <p:cNvPicPr>
            <a:picLocks noChangeAspect="1"/>
          </p:cNvPicPr>
          <p:nvPr/>
        </p:nvPicPr>
        <p:blipFill>
          <a:blip r:embed="rId11">
            <a:extLst/>
          </a:blip>
          <a:stretch>
            <a:fillRect/>
          </a:stretch>
        </p:blipFill>
        <p:spPr>
          <a:xfrm>
            <a:off x="6515100" y="1933575"/>
            <a:ext cx="542925" cy="228600"/>
          </a:xfrm>
          <a:prstGeom prst="rect">
            <a:avLst/>
          </a:prstGeom>
          <a:ln w="12700">
            <a:miter lim="400000"/>
          </a:ln>
        </p:spPr>
      </p:pic>
      <p:pic>
        <p:nvPicPr>
          <p:cNvPr id="291" name="Image 13" descr="Image 13"/>
          <p:cNvPicPr>
            <a:picLocks noChangeAspect="1"/>
          </p:cNvPicPr>
          <p:nvPr/>
        </p:nvPicPr>
        <p:blipFill>
          <a:blip r:embed="rId12">
            <a:extLst/>
          </a:blip>
          <a:stretch>
            <a:fillRect/>
          </a:stretch>
        </p:blipFill>
        <p:spPr>
          <a:xfrm>
            <a:off x="6400800" y="2390775"/>
            <a:ext cx="5353050" cy="457200"/>
          </a:xfrm>
          <a:prstGeom prst="rect">
            <a:avLst/>
          </a:prstGeom>
          <a:ln w="12700">
            <a:miter lim="400000"/>
          </a:ln>
        </p:spPr>
      </p:pic>
      <p:pic>
        <p:nvPicPr>
          <p:cNvPr id="292" name="Image 14" descr="Image 14"/>
          <p:cNvPicPr>
            <a:picLocks noChangeAspect="1"/>
          </p:cNvPicPr>
          <p:nvPr/>
        </p:nvPicPr>
        <p:blipFill>
          <a:blip r:embed="rId13">
            <a:extLst/>
          </a:blip>
          <a:stretch>
            <a:fillRect/>
          </a:stretch>
        </p:blipFill>
        <p:spPr>
          <a:xfrm>
            <a:off x="6515100" y="2505075"/>
            <a:ext cx="457200" cy="228600"/>
          </a:xfrm>
          <a:prstGeom prst="rect">
            <a:avLst/>
          </a:prstGeom>
          <a:ln w="12700">
            <a:miter lim="400000"/>
          </a:ln>
        </p:spPr>
      </p:pic>
      <p:pic>
        <p:nvPicPr>
          <p:cNvPr id="293" name="Image 16" descr="Image 16"/>
          <p:cNvPicPr>
            <a:picLocks noChangeAspect="1"/>
          </p:cNvPicPr>
          <p:nvPr/>
        </p:nvPicPr>
        <p:blipFill>
          <a:blip r:embed="rId14">
            <a:extLst/>
          </a:blip>
          <a:stretch>
            <a:fillRect/>
          </a:stretch>
        </p:blipFill>
        <p:spPr>
          <a:xfrm>
            <a:off x="6400800" y="3124199"/>
            <a:ext cx="238125" cy="190502"/>
          </a:xfrm>
          <a:prstGeom prst="rect">
            <a:avLst/>
          </a:prstGeom>
          <a:ln w="12700">
            <a:miter lim="400000"/>
          </a:ln>
        </p:spPr>
      </p:pic>
      <p:pic>
        <p:nvPicPr>
          <p:cNvPr id="294" name="Image 17" descr="Image 17"/>
          <p:cNvPicPr>
            <a:picLocks noChangeAspect="1"/>
          </p:cNvPicPr>
          <p:nvPr/>
        </p:nvPicPr>
        <p:blipFill>
          <a:blip r:embed="rId15">
            <a:extLst/>
          </a:blip>
          <a:stretch>
            <a:fillRect/>
          </a:stretch>
        </p:blipFill>
        <p:spPr>
          <a:xfrm>
            <a:off x="285750" y="6257925"/>
            <a:ext cx="11620500" cy="457200"/>
          </a:xfrm>
          <a:prstGeom prst="rect">
            <a:avLst/>
          </a:prstGeom>
          <a:ln w="12700">
            <a:miter lim="400000"/>
          </a:ln>
        </p:spPr>
      </p:pic>
      <p:pic>
        <p:nvPicPr>
          <p:cNvPr id="295" name="Image 19" descr="Image 19"/>
          <p:cNvPicPr>
            <a:picLocks noChangeAspect="1"/>
          </p:cNvPicPr>
          <p:nvPr/>
        </p:nvPicPr>
        <p:blipFill>
          <a:blip r:embed="rId16">
            <a:extLst/>
          </a:blip>
          <a:stretch>
            <a:fillRect/>
          </a:stretch>
        </p:blipFill>
        <p:spPr>
          <a:xfrm>
            <a:off x="470593" y="3045619"/>
            <a:ext cx="125614" cy="114302"/>
          </a:xfrm>
          <a:prstGeom prst="rect">
            <a:avLst/>
          </a:prstGeom>
          <a:ln w="12700">
            <a:miter lim="400000"/>
          </a:ln>
        </p:spPr>
      </p:pic>
      <p:sp>
        <p:nvSpPr>
          <p:cNvPr id="296" name="Text 0"/>
          <p:cNvSpPr txBox="1"/>
          <p:nvPr/>
        </p:nvSpPr>
        <p:spPr>
          <a:xfrm>
            <a:off x="476248" y="284419"/>
            <a:ext cx="11521444" cy="38366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ts val="3000"/>
              </a:lnSpc>
              <a:defRPr b="1" spc="-54" sz="2700">
                <a:solidFill>
                  <a:srgbClr val="006400"/>
                </a:solidFill>
                <a:latin typeface="Inter"/>
                <a:ea typeface="Inter"/>
                <a:cs typeface="Inter"/>
                <a:sym typeface="Inter"/>
              </a:defRPr>
            </a:lvl1pPr>
          </a:lstStyle>
          <a:p>
            <a:pPr/>
            <a:r>
              <a:t>SICUREZZA E GESTIONE ACCESSI</a:t>
            </a:r>
          </a:p>
        </p:txBody>
      </p:sp>
      <p:sp>
        <p:nvSpPr>
          <p:cNvPr id="297" name="Text 1"/>
          <p:cNvSpPr txBox="1"/>
          <p:nvPr/>
        </p:nvSpPr>
        <p:spPr>
          <a:xfrm>
            <a:off x="476250" y="747714"/>
            <a:ext cx="16230600" cy="25717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ts val="2100"/>
              </a:lnSpc>
              <a:defRPr sz="1500">
                <a:solidFill>
                  <a:srgbClr val="4B5563"/>
                </a:solidFill>
                <a:latin typeface="Inter"/>
                <a:ea typeface="Inter"/>
                <a:cs typeface="Inter"/>
                <a:sym typeface="Inter"/>
              </a:defRPr>
            </a:lvl1pPr>
          </a:lstStyle>
          <a:p>
            <a:pPr/>
            <a:r>
              <a:t>Protezione del sistema e integrità dei dati tramite protocolli standard</a:t>
            </a:r>
          </a:p>
        </p:txBody>
      </p:sp>
      <p:sp>
        <p:nvSpPr>
          <p:cNvPr id="298" name="Text 2"/>
          <p:cNvSpPr txBox="1"/>
          <p:nvPr/>
        </p:nvSpPr>
        <p:spPr>
          <a:xfrm>
            <a:off x="742950" y="1404938"/>
            <a:ext cx="6400800" cy="25717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ts val="2100"/>
              </a:lnSpc>
              <a:defRPr b="1" sz="1500">
                <a:solidFill>
                  <a:srgbClr val="006400"/>
                </a:solidFill>
                <a:latin typeface="Inter"/>
                <a:ea typeface="Inter"/>
                <a:cs typeface="Inter"/>
                <a:sym typeface="Inter"/>
              </a:defRPr>
            </a:lvl1pPr>
          </a:lstStyle>
          <a:p>
            <a:pPr/>
            <a:r>
              <a:t>Autenticazione JWT Stateless</a:t>
            </a:r>
          </a:p>
        </p:txBody>
      </p:sp>
      <p:sp>
        <p:nvSpPr>
          <p:cNvPr id="299" name="Text 3"/>
          <p:cNvSpPr txBox="1"/>
          <p:nvPr/>
        </p:nvSpPr>
        <p:spPr>
          <a:xfrm>
            <a:off x="438150" y="1822260"/>
            <a:ext cx="5353050" cy="37502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ts val="1500"/>
              </a:lnSpc>
              <a:defRPr sz="1100">
                <a:solidFill>
                  <a:srgbClr val="374151"/>
                </a:solidFill>
                <a:latin typeface="Inter"/>
                <a:ea typeface="Inter"/>
                <a:cs typeface="Inter"/>
                <a:sym typeface="Inter"/>
              </a:defRPr>
            </a:lvl1pPr>
          </a:lstStyle>
          <a:p>
            <a:pPr/>
            <a:r>
              <a:t>Token firmato crittograficamente emesso al login. Consente una scalabilità orizzontale non richiedendo sessioni lato server.</a:t>
            </a:r>
          </a:p>
        </p:txBody>
      </p:sp>
      <p:sp>
        <p:nvSpPr>
          <p:cNvPr id="300" name="Text 4"/>
          <p:cNvSpPr txBox="1"/>
          <p:nvPr/>
        </p:nvSpPr>
        <p:spPr>
          <a:xfrm>
            <a:off x="438150" y="2434468"/>
            <a:ext cx="1504950" cy="17931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lnSpc>
                <a:spcPts val="1500"/>
              </a:lnSpc>
              <a:defRPr sz="1000">
                <a:solidFill>
                  <a:srgbClr val="991B1B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Header</a:t>
            </a:r>
          </a:p>
        </p:txBody>
      </p:sp>
      <p:sp>
        <p:nvSpPr>
          <p:cNvPr id="301" name="Text 5"/>
          <p:cNvSpPr txBox="1"/>
          <p:nvPr/>
        </p:nvSpPr>
        <p:spPr>
          <a:xfrm>
            <a:off x="2247900" y="2434468"/>
            <a:ext cx="1504950" cy="17931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lnSpc>
                <a:spcPts val="1500"/>
              </a:lnSpc>
              <a:defRPr sz="1000">
                <a:solidFill>
                  <a:srgbClr val="1E40AF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Payload</a:t>
            </a:r>
          </a:p>
        </p:txBody>
      </p:sp>
      <p:sp>
        <p:nvSpPr>
          <p:cNvPr id="302" name="Text 6"/>
          <p:cNvSpPr txBox="1"/>
          <p:nvPr/>
        </p:nvSpPr>
        <p:spPr>
          <a:xfrm>
            <a:off x="4057650" y="2434468"/>
            <a:ext cx="1504950" cy="17931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lnSpc>
                <a:spcPts val="1500"/>
              </a:lnSpc>
              <a:defRPr sz="1000">
                <a:solidFill>
                  <a:srgbClr val="166534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Signature</a:t>
            </a:r>
          </a:p>
        </p:txBody>
      </p:sp>
      <p:sp>
        <p:nvSpPr>
          <p:cNvPr id="303" name="Text 7"/>
          <p:cNvSpPr txBox="1"/>
          <p:nvPr/>
        </p:nvSpPr>
        <p:spPr>
          <a:xfrm>
            <a:off x="855779" y="2974183"/>
            <a:ext cx="5353053" cy="25717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ts val="2100"/>
              </a:lnSpc>
              <a:defRPr b="1" sz="1500">
                <a:solidFill>
                  <a:srgbClr val="006400"/>
                </a:solidFill>
                <a:latin typeface="Inter"/>
                <a:ea typeface="Inter"/>
                <a:cs typeface="Inter"/>
                <a:sym typeface="Inter"/>
              </a:defRPr>
            </a:lvl1pPr>
          </a:lstStyle>
          <a:p>
            <a:pPr/>
            <a:r>
              <a:t>Hashing con BCrypt</a:t>
            </a:r>
          </a:p>
        </p:txBody>
      </p:sp>
      <p:sp>
        <p:nvSpPr>
          <p:cNvPr id="304" name="Text 8"/>
          <p:cNvSpPr txBox="1"/>
          <p:nvPr/>
        </p:nvSpPr>
        <p:spPr>
          <a:xfrm>
            <a:off x="438150" y="6910071"/>
            <a:ext cx="5353050" cy="37210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ts val="1500"/>
              </a:lnSpc>
              <a:defRPr sz="1000">
                <a:solidFill>
                  <a:srgbClr val="374151"/>
                </a:solidFill>
                <a:latin typeface="Inter"/>
                <a:ea typeface="Inter"/>
                <a:cs typeface="Inter"/>
                <a:sym typeface="Inter"/>
              </a:defRPr>
            </a:lvl1pPr>
          </a:lstStyle>
          <a:p>
            <a:pPr/>
            <a:r>
              <a:t>Le password non sono mai salvate in chiaro. BCrypt utilizza un meccanismo di salting e un fattore di costo adattivo per resistere ad attacchi brute-force.</a:t>
            </a:r>
          </a:p>
        </p:txBody>
      </p:sp>
      <p:sp>
        <p:nvSpPr>
          <p:cNvPr id="305" name="Text 9"/>
          <p:cNvSpPr txBox="1"/>
          <p:nvPr/>
        </p:nvSpPr>
        <p:spPr>
          <a:xfrm>
            <a:off x="6753225" y="1404938"/>
            <a:ext cx="5486400" cy="25717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ts val="2100"/>
              </a:lnSpc>
              <a:defRPr b="1" sz="1500">
                <a:solidFill>
                  <a:srgbClr val="006400"/>
                </a:solidFill>
                <a:latin typeface="Inter"/>
                <a:ea typeface="Inter"/>
                <a:cs typeface="Inter"/>
                <a:sym typeface="Inter"/>
              </a:defRPr>
            </a:lvl1pPr>
          </a:lstStyle>
          <a:p>
            <a:pPr/>
            <a:r>
              <a:t>Controllo Accessi (RBAC)</a:t>
            </a:r>
          </a:p>
        </p:txBody>
      </p:sp>
      <p:sp>
        <p:nvSpPr>
          <p:cNvPr id="306" name="Text 10"/>
          <p:cNvSpPr txBox="1"/>
          <p:nvPr/>
        </p:nvSpPr>
        <p:spPr>
          <a:xfrm>
            <a:off x="6591300" y="1973770"/>
            <a:ext cx="493295" cy="14820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ts val="1200"/>
              </a:lnSpc>
              <a:defRPr b="1" sz="900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defRPr>
            </a:lvl1pPr>
          </a:lstStyle>
          <a:p>
            <a:pPr/>
            <a:r>
              <a:t>ADMIN</a:t>
            </a:r>
          </a:p>
        </p:txBody>
      </p:sp>
      <p:sp>
        <p:nvSpPr>
          <p:cNvPr id="307" name="Text 11"/>
          <p:cNvSpPr txBox="1"/>
          <p:nvPr/>
        </p:nvSpPr>
        <p:spPr>
          <a:xfrm>
            <a:off x="7210425" y="1957071"/>
            <a:ext cx="7200900" cy="18160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ts val="1500"/>
              </a:lnSpc>
              <a:defRPr sz="1000">
                <a:solidFill>
                  <a:srgbClr val="374151"/>
                </a:solidFill>
                <a:latin typeface="Inter"/>
                <a:ea typeface="Inter"/>
                <a:cs typeface="Inter"/>
                <a:sym typeface="Inter"/>
              </a:defRPr>
            </a:lvl1pPr>
          </a:lstStyle>
          <a:p>
            <a:pPr/>
            <a:r>
              <a:t>Simulazione, Gestione Utenti, Caricamento CSV</a:t>
            </a:r>
          </a:p>
        </p:txBody>
      </p:sp>
      <p:sp>
        <p:nvSpPr>
          <p:cNvPr id="308" name="Text 12"/>
          <p:cNvSpPr txBox="1"/>
          <p:nvPr/>
        </p:nvSpPr>
        <p:spPr>
          <a:xfrm>
            <a:off x="6591299" y="2545270"/>
            <a:ext cx="365763" cy="14820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ts val="1200"/>
              </a:lnSpc>
              <a:defRPr b="1" sz="900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defRPr>
            </a:lvl1pPr>
          </a:lstStyle>
          <a:p>
            <a:pPr/>
            <a:r>
              <a:t>USER</a:t>
            </a:r>
          </a:p>
        </p:txBody>
      </p:sp>
      <p:sp>
        <p:nvSpPr>
          <p:cNvPr id="309" name="Text 13"/>
          <p:cNvSpPr txBox="1"/>
          <p:nvPr/>
        </p:nvSpPr>
        <p:spPr>
          <a:xfrm>
            <a:off x="7124700" y="2528571"/>
            <a:ext cx="6560819" cy="18160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ts val="1500"/>
              </a:lnSpc>
              <a:defRPr sz="1000">
                <a:solidFill>
                  <a:srgbClr val="374151"/>
                </a:solidFill>
                <a:latin typeface="Inter"/>
                <a:ea typeface="Inter"/>
                <a:cs typeface="Inter"/>
                <a:sym typeface="Inter"/>
              </a:defRPr>
            </a:lvl1pPr>
          </a:lstStyle>
          <a:p>
            <a:pPr/>
            <a:r>
              <a:t>Dashboard Lettura, Visualizzazione Report</a:t>
            </a:r>
          </a:p>
        </p:txBody>
      </p:sp>
      <p:sp>
        <p:nvSpPr>
          <p:cNvPr id="310" name="Text 14"/>
          <p:cNvSpPr txBox="1"/>
          <p:nvPr/>
        </p:nvSpPr>
        <p:spPr>
          <a:xfrm>
            <a:off x="6819899" y="3090864"/>
            <a:ext cx="5353053" cy="25717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ts val="2100"/>
              </a:lnSpc>
              <a:defRPr b="1" sz="1500">
                <a:solidFill>
                  <a:srgbClr val="006400"/>
                </a:solidFill>
                <a:latin typeface="Inter"/>
                <a:ea typeface="Inter"/>
                <a:cs typeface="Inter"/>
                <a:sym typeface="Inter"/>
              </a:defRPr>
            </a:lvl1pPr>
          </a:lstStyle>
          <a:p>
            <a:pPr/>
            <a:r>
              <a:t>Logout &amp; Blacklist</a:t>
            </a:r>
          </a:p>
        </p:txBody>
      </p:sp>
      <p:sp>
        <p:nvSpPr>
          <p:cNvPr id="311" name="Text 15"/>
          <p:cNvSpPr txBox="1"/>
          <p:nvPr/>
        </p:nvSpPr>
        <p:spPr>
          <a:xfrm>
            <a:off x="6400800" y="6910071"/>
            <a:ext cx="5353050" cy="37210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ts val="1500"/>
              </a:lnSpc>
              <a:defRPr sz="1000">
                <a:solidFill>
                  <a:srgbClr val="374151"/>
                </a:solidFill>
                <a:latin typeface="Inter"/>
                <a:ea typeface="Inter"/>
                <a:cs typeface="Inter"/>
                <a:sym typeface="Inter"/>
              </a:defRPr>
            </a:lvl1pPr>
          </a:lstStyle>
          <a:p>
            <a:pPr/>
            <a:r>
              <a:t>Gestione della sicurezza post-disconnessione: i token invalidati vengono inseriti in una blacklist volatile per impedirne il riuso fino alla loro scadenza naturale.</a:t>
            </a:r>
          </a:p>
        </p:txBody>
      </p:sp>
      <p:sp>
        <p:nvSpPr>
          <p:cNvPr id="312" name="Text 19"/>
          <p:cNvSpPr txBox="1"/>
          <p:nvPr/>
        </p:nvSpPr>
        <p:spPr>
          <a:xfrm>
            <a:off x="10098584" y="6488620"/>
            <a:ext cx="1807668" cy="14820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ts val="1200"/>
              </a:lnSpc>
              <a:defRPr i="1" sz="900">
                <a:solidFill>
                  <a:srgbClr val="6B7280"/>
                </a:solidFill>
                <a:latin typeface="Inter"/>
                <a:ea typeface="Inter"/>
                <a:cs typeface="Inter"/>
                <a:sym typeface="Inter"/>
              </a:defRPr>
            </a:lvl1pPr>
          </a:lstStyle>
          <a:p>
            <a:pPr/>
            <a:r>
              <a:t>Nexus Energy Security Layer v1.0</a:t>
            </a:r>
          </a:p>
        </p:txBody>
      </p:sp>
      <p:pic>
        <p:nvPicPr>
          <p:cNvPr id="313" name="Screenshot 2026-02-15 alle 19.54.20.png" descr="Screenshot 2026-02-15 alle 19.54.20.png"/>
          <p:cNvPicPr>
            <a:picLocks noChangeAspect="1"/>
          </p:cNvPicPr>
          <p:nvPr/>
        </p:nvPicPr>
        <p:blipFill>
          <a:blip r:embed="rId17">
            <a:extLst/>
          </a:blip>
          <a:stretch>
            <a:fillRect/>
          </a:stretch>
        </p:blipFill>
        <p:spPr>
          <a:xfrm>
            <a:off x="331934" y="3348035"/>
            <a:ext cx="5565482" cy="2667990"/>
          </a:xfrm>
          <a:prstGeom prst="rect">
            <a:avLst/>
          </a:prstGeom>
          <a:ln w="12700">
            <a:miter lim="400000"/>
          </a:ln>
        </p:spPr>
      </p:pic>
      <p:pic>
        <p:nvPicPr>
          <p:cNvPr id="314" name="Screenshot 2026-02-15 alle 19.57.05.png" descr="Screenshot 2026-02-15 alle 19.57.05.png"/>
          <p:cNvPicPr>
            <a:picLocks noChangeAspect="1"/>
          </p:cNvPicPr>
          <p:nvPr/>
        </p:nvPicPr>
        <p:blipFill>
          <a:blip r:embed="rId18">
            <a:extLst/>
          </a:blip>
          <a:stretch>
            <a:fillRect/>
          </a:stretch>
        </p:blipFill>
        <p:spPr>
          <a:xfrm>
            <a:off x="6632323" y="3749135"/>
            <a:ext cx="4890004" cy="1865790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xmlns:p14="http://schemas.microsoft.com/office/powerpoint/2010/main" spd="med" advClick="1"/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blipFill rotWithShape="1">
          <a:blip r:embed="rId2"/>
          <a:srcRect l="0" t="0" r="0" b="0"/>
          <a:stretch>
            <a:fillRect/>
          </a:stretch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6" name="Image 0" descr="Image 0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0" y="0"/>
            <a:ext cx="12191987" cy="6858000"/>
          </a:xfrm>
          <a:prstGeom prst="rect">
            <a:avLst/>
          </a:prstGeom>
          <a:ln w="12700">
            <a:miter lim="400000"/>
          </a:ln>
        </p:spPr>
      </p:pic>
      <p:pic>
        <p:nvPicPr>
          <p:cNvPr id="317" name="Image 1" descr="Image 1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479022" y="479022"/>
            <a:ext cx="11233943" cy="744607"/>
          </a:xfrm>
          <a:prstGeom prst="rect">
            <a:avLst/>
          </a:prstGeom>
          <a:ln w="12700">
            <a:miter lim="400000"/>
          </a:ln>
        </p:spPr>
      </p:pic>
      <p:pic>
        <p:nvPicPr>
          <p:cNvPr id="318" name="Image 2" descr="Image 2"/>
          <p:cNvPicPr>
            <a:picLocks noChangeAspect="1"/>
          </p:cNvPicPr>
          <p:nvPr/>
        </p:nvPicPr>
        <p:blipFill>
          <a:blip r:embed="rId4">
            <a:extLst/>
          </a:blip>
          <a:stretch>
            <a:fillRect/>
          </a:stretch>
        </p:blipFill>
        <p:spPr>
          <a:xfrm>
            <a:off x="479022" y="1620316"/>
            <a:ext cx="231529" cy="228536"/>
          </a:xfrm>
          <a:prstGeom prst="rect">
            <a:avLst/>
          </a:prstGeom>
          <a:ln w="12700">
            <a:miter lim="400000"/>
          </a:ln>
        </p:spPr>
      </p:pic>
      <p:pic>
        <p:nvPicPr>
          <p:cNvPr id="319" name="Image 3" descr="Image 3"/>
          <p:cNvPicPr>
            <a:picLocks noChangeAspect="1"/>
          </p:cNvPicPr>
          <p:nvPr/>
        </p:nvPicPr>
        <p:blipFill>
          <a:blip r:embed="rId5">
            <a:extLst/>
          </a:blip>
          <a:stretch>
            <a:fillRect/>
          </a:stretch>
        </p:blipFill>
        <p:spPr>
          <a:xfrm>
            <a:off x="479022" y="2692628"/>
            <a:ext cx="11233943" cy="31937"/>
          </a:xfrm>
          <a:prstGeom prst="rect">
            <a:avLst/>
          </a:prstGeom>
          <a:ln w="12700">
            <a:miter lim="400000"/>
          </a:ln>
        </p:spPr>
      </p:pic>
      <p:pic>
        <p:nvPicPr>
          <p:cNvPr id="320" name="Image 4" descr="Image 4"/>
          <p:cNvPicPr>
            <a:picLocks noChangeAspect="1"/>
          </p:cNvPicPr>
          <p:nvPr/>
        </p:nvPicPr>
        <p:blipFill>
          <a:blip r:embed="rId6">
            <a:extLst/>
          </a:blip>
          <a:stretch>
            <a:fillRect/>
          </a:stretch>
        </p:blipFill>
        <p:spPr>
          <a:xfrm>
            <a:off x="479022" y="2596824"/>
            <a:ext cx="191611" cy="191611"/>
          </a:xfrm>
          <a:prstGeom prst="rect">
            <a:avLst/>
          </a:prstGeom>
          <a:ln w="12700">
            <a:miter lim="400000"/>
          </a:ln>
        </p:spPr>
      </p:pic>
      <p:pic>
        <p:nvPicPr>
          <p:cNvPr id="321" name="Image 5" descr="Image 5"/>
          <p:cNvPicPr>
            <a:picLocks noChangeAspect="1"/>
          </p:cNvPicPr>
          <p:nvPr/>
        </p:nvPicPr>
        <p:blipFill>
          <a:blip r:embed="rId7">
            <a:extLst/>
          </a:blip>
          <a:stretch>
            <a:fillRect/>
          </a:stretch>
        </p:blipFill>
        <p:spPr>
          <a:xfrm>
            <a:off x="4159758" y="2596824"/>
            <a:ext cx="191611" cy="191611"/>
          </a:xfrm>
          <a:prstGeom prst="rect">
            <a:avLst/>
          </a:prstGeom>
          <a:ln w="12700">
            <a:miter lim="400000"/>
          </a:ln>
        </p:spPr>
      </p:pic>
      <p:pic>
        <p:nvPicPr>
          <p:cNvPr id="322" name="Image 6" descr="Image 6"/>
          <p:cNvPicPr>
            <a:picLocks noChangeAspect="1"/>
          </p:cNvPicPr>
          <p:nvPr/>
        </p:nvPicPr>
        <p:blipFill>
          <a:blip r:embed="rId8">
            <a:extLst/>
          </a:blip>
          <a:stretch>
            <a:fillRect/>
          </a:stretch>
        </p:blipFill>
        <p:spPr>
          <a:xfrm>
            <a:off x="7840494" y="2596824"/>
            <a:ext cx="191611" cy="191611"/>
          </a:xfrm>
          <a:prstGeom prst="rect">
            <a:avLst/>
          </a:prstGeom>
          <a:ln w="12700">
            <a:miter lim="400000"/>
          </a:ln>
        </p:spPr>
      </p:pic>
      <p:pic>
        <p:nvPicPr>
          <p:cNvPr id="323" name="Image 7" descr="Image 7"/>
          <p:cNvPicPr>
            <a:picLocks noChangeAspect="1"/>
          </p:cNvPicPr>
          <p:nvPr/>
        </p:nvPicPr>
        <p:blipFill>
          <a:blip r:embed="rId9">
            <a:extLst/>
          </a:blip>
          <a:stretch>
            <a:fillRect/>
          </a:stretch>
        </p:blipFill>
        <p:spPr>
          <a:xfrm>
            <a:off x="11521230" y="2596824"/>
            <a:ext cx="191611" cy="191611"/>
          </a:xfrm>
          <a:prstGeom prst="rect">
            <a:avLst/>
          </a:prstGeom>
          <a:ln w="12700">
            <a:miter lim="400000"/>
          </a:ln>
        </p:spPr>
      </p:pic>
      <p:pic>
        <p:nvPicPr>
          <p:cNvPr id="324" name="Image 8" descr="Image 8"/>
          <p:cNvPicPr>
            <a:picLocks noChangeAspect="1"/>
          </p:cNvPicPr>
          <p:nvPr/>
        </p:nvPicPr>
        <p:blipFill>
          <a:blip r:embed="rId10">
            <a:extLst/>
          </a:blip>
          <a:stretch>
            <a:fillRect/>
          </a:stretch>
        </p:blipFill>
        <p:spPr>
          <a:xfrm>
            <a:off x="479022" y="3235518"/>
            <a:ext cx="3616867" cy="1844238"/>
          </a:xfrm>
          <a:prstGeom prst="rect">
            <a:avLst/>
          </a:prstGeom>
          <a:ln w="12700">
            <a:miter lim="400000"/>
          </a:ln>
        </p:spPr>
      </p:pic>
      <p:pic>
        <p:nvPicPr>
          <p:cNvPr id="325" name="Image 9" descr="Image 9"/>
          <p:cNvPicPr>
            <a:picLocks noChangeAspect="1"/>
          </p:cNvPicPr>
          <p:nvPr/>
        </p:nvPicPr>
        <p:blipFill>
          <a:blip r:embed="rId11">
            <a:extLst/>
          </a:blip>
          <a:stretch>
            <a:fillRect/>
          </a:stretch>
        </p:blipFill>
        <p:spPr>
          <a:xfrm>
            <a:off x="670631" y="3427129"/>
            <a:ext cx="383220" cy="383220"/>
          </a:xfrm>
          <a:prstGeom prst="rect">
            <a:avLst/>
          </a:prstGeom>
          <a:ln w="12700">
            <a:miter lim="400000"/>
          </a:ln>
        </p:spPr>
      </p:pic>
      <p:pic>
        <p:nvPicPr>
          <p:cNvPr id="326" name="Image 10" descr="Image 10"/>
          <p:cNvPicPr>
            <a:picLocks noChangeAspect="1"/>
          </p:cNvPicPr>
          <p:nvPr/>
        </p:nvPicPr>
        <p:blipFill>
          <a:blip r:embed="rId12">
            <a:extLst/>
          </a:blip>
          <a:stretch>
            <a:fillRect/>
          </a:stretch>
        </p:blipFill>
        <p:spPr>
          <a:xfrm>
            <a:off x="766435" y="3506966"/>
            <a:ext cx="191610" cy="223546"/>
          </a:xfrm>
          <a:prstGeom prst="rect">
            <a:avLst/>
          </a:prstGeom>
          <a:ln w="12700">
            <a:miter lim="400000"/>
          </a:ln>
        </p:spPr>
      </p:pic>
      <p:pic>
        <p:nvPicPr>
          <p:cNvPr id="327" name="Image 11" descr="Image 11"/>
          <p:cNvPicPr>
            <a:picLocks noChangeAspect="1"/>
          </p:cNvPicPr>
          <p:nvPr/>
        </p:nvPicPr>
        <p:blipFill>
          <a:blip r:embed="rId13">
            <a:extLst/>
          </a:blip>
          <a:stretch>
            <a:fillRect/>
          </a:stretch>
        </p:blipFill>
        <p:spPr>
          <a:xfrm>
            <a:off x="4287496" y="3235518"/>
            <a:ext cx="3616869" cy="1844238"/>
          </a:xfrm>
          <a:prstGeom prst="rect">
            <a:avLst/>
          </a:prstGeom>
          <a:ln w="12700">
            <a:miter lim="400000"/>
          </a:ln>
        </p:spPr>
      </p:pic>
      <p:pic>
        <p:nvPicPr>
          <p:cNvPr id="328" name="Image 12" descr="Image 12"/>
          <p:cNvPicPr>
            <a:picLocks noChangeAspect="1"/>
          </p:cNvPicPr>
          <p:nvPr/>
        </p:nvPicPr>
        <p:blipFill>
          <a:blip r:embed="rId14">
            <a:extLst/>
          </a:blip>
          <a:stretch>
            <a:fillRect/>
          </a:stretch>
        </p:blipFill>
        <p:spPr>
          <a:xfrm>
            <a:off x="4479106" y="3427129"/>
            <a:ext cx="383220" cy="383220"/>
          </a:xfrm>
          <a:prstGeom prst="rect">
            <a:avLst/>
          </a:prstGeom>
          <a:ln w="12700">
            <a:miter lim="400000"/>
          </a:ln>
        </p:spPr>
      </p:pic>
      <p:pic>
        <p:nvPicPr>
          <p:cNvPr id="329" name="Image 13" descr="Image 13"/>
          <p:cNvPicPr>
            <a:picLocks noChangeAspect="1"/>
          </p:cNvPicPr>
          <p:nvPr/>
        </p:nvPicPr>
        <p:blipFill>
          <a:blip r:embed="rId15">
            <a:extLst/>
          </a:blip>
          <a:stretch>
            <a:fillRect/>
          </a:stretch>
        </p:blipFill>
        <p:spPr>
          <a:xfrm>
            <a:off x="4562935" y="3506966"/>
            <a:ext cx="215562" cy="223546"/>
          </a:xfrm>
          <a:prstGeom prst="rect">
            <a:avLst/>
          </a:prstGeom>
          <a:ln w="12700">
            <a:miter lim="400000"/>
          </a:ln>
        </p:spPr>
      </p:pic>
      <p:pic>
        <p:nvPicPr>
          <p:cNvPr id="330" name="Image 14" descr="Image 14"/>
          <p:cNvPicPr>
            <a:picLocks noChangeAspect="1"/>
          </p:cNvPicPr>
          <p:nvPr/>
        </p:nvPicPr>
        <p:blipFill>
          <a:blip r:embed="rId16">
            <a:extLst/>
          </a:blip>
          <a:stretch>
            <a:fillRect/>
          </a:stretch>
        </p:blipFill>
        <p:spPr>
          <a:xfrm>
            <a:off x="8095973" y="3235518"/>
            <a:ext cx="3616993" cy="1844238"/>
          </a:xfrm>
          <a:prstGeom prst="rect">
            <a:avLst/>
          </a:prstGeom>
          <a:ln w="12700">
            <a:miter lim="400000"/>
          </a:ln>
        </p:spPr>
      </p:pic>
      <p:pic>
        <p:nvPicPr>
          <p:cNvPr id="331" name="Image 15" descr="Image 15"/>
          <p:cNvPicPr>
            <a:picLocks noChangeAspect="1"/>
          </p:cNvPicPr>
          <p:nvPr/>
        </p:nvPicPr>
        <p:blipFill>
          <a:blip r:embed="rId17">
            <a:extLst/>
          </a:blip>
          <a:stretch>
            <a:fillRect/>
          </a:stretch>
        </p:blipFill>
        <p:spPr>
          <a:xfrm>
            <a:off x="8287580" y="3427129"/>
            <a:ext cx="383219" cy="383220"/>
          </a:xfrm>
          <a:prstGeom prst="rect">
            <a:avLst/>
          </a:prstGeom>
          <a:ln w="12700">
            <a:miter lim="400000"/>
          </a:ln>
        </p:spPr>
      </p:pic>
      <p:pic>
        <p:nvPicPr>
          <p:cNvPr id="332" name="Image 16" descr="Image 16"/>
          <p:cNvPicPr>
            <a:picLocks noChangeAspect="1"/>
          </p:cNvPicPr>
          <p:nvPr/>
        </p:nvPicPr>
        <p:blipFill>
          <a:blip r:embed="rId18">
            <a:extLst/>
          </a:blip>
          <a:stretch>
            <a:fillRect/>
          </a:stretch>
        </p:blipFill>
        <p:spPr>
          <a:xfrm>
            <a:off x="8387377" y="3506966"/>
            <a:ext cx="183627" cy="223546"/>
          </a:xfrm>
          <a:prstGeom prst="rect">
            <a:avLst/>
          </a:prstGeom>
          <a:ln w="12700">
            <a:miter lim="400000"/>
          </a:ln>
        </p:spPr>
      </p:pic>
      <p:pic>
        <p:nvPicPr>
          <p:cNvPr id="333" name="Image 17" descr="Image 17"/>
          <p:cNvPicPr>
            <a:picLocks noChangeAspect="1"/>
          </p:cNvPicPr>
          <p:nvPr/>
        </p:nvPicPr>
        <p:blipFill>
          <a:blip r:embed="rId19">
            <a:extLst/>
          </a:blip>
          <a:stretch>
            <a:fillRect/>
          </a:stretch>
        </p:blipFill>
        <p:spPr>
          <a:xfrm>
            <a:off x="479022" y="5836086"/>
            <a:ext cx="11233943" cy="542893"/>
          </a:xfrm>
          <a:prstGeom prst="rect">
            <a:avLst/>
          </a:prstGeom>
          <a:ln w="12700">
            <a:miter lim="400000"/>
          </a:ln>
        </p:spPr>
      </p:pic>
      <p:pic>
        <p:nvPicPr>
          <p:cNvPr id="334" name="Image 18" descr="Image 18"/>
          <p:cNvPicPr>
            <a:picLocks noChangeAspect="1"/>
          </p:cNvPicPr>
          <p:nvPr/>
        </p:nvPicPr>
        <p:blipFill>
          <a:blip r:embed="rId20">
            <a:extLst/>
          </a:blip>
          <a:stretch>
            <a:fillRect/>
          </a:stretch>
        </p:blipFill>
        <p:spPr>
          <a:xfrm>
            <a:off x="479022" y="6168657"/>
            <a:ext cx="119758" cy="133230"/>
          </a:xfrm>
          <a:prstGeom prst="rect">
            <a:avLst/>
          </a:prstGeom>
          <a:ln w="12700">
            <a:miter lim="400000"/>
          </a:ln>
        </p:spPr>
      </p:pic>
      <p:pic>
        <p:nvPicPr>
          <p:cNvPr id="335" name="Image 19" descr="Image 19"/>
          <p:cNvPicPr>
            <a:picLocks noChangeAspect="1"/>
          </p:cNvPicPr>
          <p:nvPr/>
        </p:nvPicPr>
        <p:blipFill>
          <a:blip r:embed="rId21">
            <a:extLst/>
          </a:blip>
          <a:stretch>
            <a:fillRect/>
          </a:stretch>
        </p:blipFill>
        <p:spPr>
          <a:xfrm>
            <a:off x="1843110" y="6168657"/>
            <a:ext cx="135725" cy="133230"/>
          </a:xfrm>
          <a:prstGeom prst="rect">
            <a:avLst/>
          </a:prstGeom>
          <a:ln w="12700">
            <a:miter lim="400000"/>
          </a:ln>
        </p:spPr>
      </p:pic>
      <p:pic>
        <p:nvPicPr>
          <p:cNvPr id="336" name="Image 20" descr="Image 20"/>
          <p:cNvPicPr>
            <a:picLocks noChangeAspect="1"/>
          </p:cNvPicPr>
          <p:nvPr/>
        </p:nvPicPr>
        <p:blipFill>
          <a:blip r:embed="rId22">
            <a:extLst/>
          </a:blip>
          <a:stretch>
            <a:fillRect/>
          </a:stretch>
        </p:blipFill>
        <p:spPr>
          <a:xfrm>
            <a:off x="2917544" y="6168657"/>
            <a:ext cx="135725" cy="133230"/>
          </a:xfrm>
          <a:prstGeom prst="rect">
            <a:avLst/>
          </a:prstGeom>
          <a:ln w="12700">
            <a:miter lim="400000"/>
          </a:ln>
        </p:spPr>
      </p:pic>
      <p:pic>
        <p:nvPicPr>
          <p:cNvPr id="337" name="Image 21" descr="Image 21"/>
          <p:cNvPicPr>
            <a:picLocks noChangeAspect="1"/>
          </p:cNvPicPr>
          <p:nvPr/>
        </p:nvPicPr>
        <p:blipFill>
          <a:blip r:embed="rId23">
            <a:extLst/>
          </a:blip>
          <a:stretch>
            <a:fillRect/>
          </a:stretch>
        </p:blipFill>
        <p:spPr>
          <a:xfrm>
            <a:off x="5013934" y="5735229"/>
            <a:ext cx="6661992" cy="744607"/>
          </a:xfrm>
          <a:prstGeom prst="rect">
            <a:avLst/>
          </a:prstGeom>
          <a:ln w="12700">
            <a:miter lim="400000"/>
          </a:ln>
        </p:spPr>
      </p:pic>
      <p:sp>
        <p:nvSpPr>
          <p:cNvPr id="338" name="Text 0"/>
          <p:cNvSpPr txBox="1"/>
          <p:nvPr/>
        </p:nvSpPr>
        <p:spPr>
          <a:xfrm>
            <a:off x="670631" y="472164"/>
            <a:ext cx="22254986" cy="47090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ts val="3600"/>
              </a:lnSpc>
              <a:defRPr b="1" spc="-86" sz="3600">
                <a:solidFill>
                  <a:srgbClr val="006400"/>
                </a:solidFill>
                <a:latin typeface="Inter"/>
                <a:ea typeface="Inter"/>
                <a:cs typeface="Inter"/>
                <a:sym typeface="Inter"/>
              </a:defRPr>
            </a:lvl1pPr>
          </a:lstStyle>
          <a:p>
            <a:pPr/>
            <a:r>
              <a:t>Avvio del Sistema e Demo Operativa</a:t>
            </a:r>
          </a:p>
        </p:txBody>
      </p:sp>
      <p:sp>
        <p:nvSpPr>
          <p:cNvPr id="339" name="Text 1"/>
          <p:cNvSpPr txBox="1"/>
          <p:nvPr/>
        </p:nvSpPr>
        <p:spPr>
          <a:xfrm>
            <a:off x="670631" y="1003589"/>
            <a:ext cx="19091266" cy="21653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ts val="1700"/>
              </a:lnSpc>
              <a:defRPr sz="1500">
                <a:solidFill>
                  <a:srgbClr val="6B7280"/>
                </a:solidFill>
                <a:latin typeface="Inter"/>
                <a:ea typeface="Inter"/>
                <a:cs typeface="Inter"/>
                <a:sym typeface="Inter"/>
              </a:defRPr>
            </a:lvl1pPr>
          </a:lstStyle>
          <a:p>
            <a:pPr/>
            <a:r>
              <a:t>Dalla configurazione Docker alla validazione dei pattern di resilienza</a:t>
            </a:r>
          </a:p>
        </p:txBody>
      </p:sp>
      <p:sp>
        <p:nvSpPr>
          <p:cNvPr id="340" name="Text 2"/>
          <p:cNvSpPr txBox="1"/>
          <p:nvPr/>
        </p:nvSpPr>
        <p:spPr>
          <a:xfrm>
            <a:off x="806352" y="1606696"/>
            <a:ext cx="11233946" cy="25577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ts val="2000"/>
              </a:lnSpc>
              <a:defRPr b="1">
                <a:solidFill>
                  <a:srgbClr val="1F2937"/>
                </a:solidFill>
                <a:latin typeface="Inter"/>
                <a:ea typeface="Inter"/>
                <a:cs typeface="Inter"/>
                <a:sym typeface="Inter"/>
              </a:defRPr>
            </a:lvl1pPr>
          </a:lstStyle>
          <a:p>
            <a:pPr/>
            <a:r>
              <a:t>Pipeline di Deployment</a:t>
            </a:r>
          </a:p>
        </p:txBody>
      </p:sp>
      <p:sp>
        <p:nvSpPr>
          <p:cNvPr id="341" name="Text 3"/>
          <p:cNvSpPr txBox="1"/>
          <p:nvPr/>
        </p:nvSpPr>
        <p:spPr>
          <a:xfrm>
            <a:off x="260806" y="2124229"/>
            <a:ext cx="3436432" cy="21069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lnSpc>
                <a:spcPts val="1700"/>
              </a:lnSpc>
              <a:defRPr b="1" sz="1300">
                <a:solidFill>
                  <a:srgbClr val="006400"/>
                </a:solidFill>
                <a:latin typeface="Inter"/>
                <a:ea typeface="Inter"/>
                <a:cs typeface="Inter"/>
                <a:sym typeface="Inter"/>
              </a:defRPr>
            </a:lvl1pPr>
          </a:lstStyle>
          <a:p>
            <a:pPr/>
            <a:r>
              <a:t>Configurazione</a:t>
            </a:r>
          </a:p>
        </p:txBody>
      </p:sp>
      <p:sp>
        <p:nvSpPr>
          <p:cNvPr id="342" name="Text 4"/>
          <p:cNvSpPr txBox="1"/>
          <p:nvPr/>
        </p:nvSpPr>
        <p:spPr>
          <a:xfrm>
            <a:off x="-407452" y="2377552"/>
            <a:ext cx="4772825" cy="15112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lnSpc>
                <a:spcPts val="1200"/>
              </a:lnSpc>
              <a:defRPr i="1" sz="1000">
                <a:solidFill>
                  <a:srgbClr val="6B7280"/>
                </a:solidFill>
                <a:latin typeface="Inter"/>
                <a:ea typeface="Inter"/>
                <a:cs typeface="Inter"/>
                <a:sym typeface="Inter"/>
              </a:defRPr>
            </a:lvl1pPr>
          </a:lstStyle>
          <a:p>
            <a:pPr/>
            <a:r>
              <a:t>.env (MySQL, JWT, Rabbit)</a:t>
            </a:r>
          </a:p>
        </p:txBody>
      </p:sp>
      <p:sp>
        <p:nvSpPr>
          <p:cNvPr id="343" name="Text 5"/>
          <p:cNvSpPr txBox="1"/>
          <p:nvPr/>
        </p:nvSpPr>
        <p:spPr>
          <a:xfrm>
            <a:off x="2269077" y="2124229"/>
            <a:ext cx="4909185" cy="21069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lnSpc>
                <a:spcPts val="1700"/>
              </a:lnSpc>
              <a:defRPr b="1" sz="1300">
                <a:solidFill>
                  <a:srgbClr val="006400"/>
                </a:solidFill>
                <a:latin typeface="Inter"/>
                <a:ea typeface="Inter"/>
                <a:cs typeface="Inter"/>
                <a:sym typeface="Inter"/>
              </a:defRPr>
            </a:lvl1pPr>
          </a:lstStyle>
          <a:p>
            <a:pPr/>
            <a:r>
              <a:t>Docker Orchestration</a:t>
            </a:r>
          </a:p>
        </p:txBody>
      </p:sp>
      <p:sp>
        <p:nvSpPr>
          <p:cNvPr id="344" name="Text 6"/>
          <p:cNvSpPr txBox="1"/>
          <p:nvPr/>
        </p:nvSpPr>
        <p:spPr>
          <a:xfrm>
            <a:off x="2814476" y="2377552"/>
            <a:ext cx="3818263" cy="15112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lnSpc>
                <a:spcPts val="1200"/>
              </a:lnSpc>
              <a:defRPr i="1" sz="1000">
                <a:solidFill>
                  <a:srgbClr val="6B7280"/>
                </a:solidFill>
                <a:latin typeface="Inter"/>
                <a:ea typeface="Inter"/>
                <a:cs typeface="Inter"/>
                <a:sym typeface="Inter"/>
              </a:defRPr>
            </a:lvl1pPr>
          </a:lstStyle>
          <a:p>
            <a:pPr/>
            <a:r>
              <a:t>docker-compose up -d</a:t>
            </a:r>
          </a:p>
        </p:txBody>
      </p:sp>
      <p:sp>
        <p:nvSpPr>
          <p:cNvPr id="345" name="Text 7"/>
          <p:cNvSpPr txBox="1"/>
          <p:nvPr/>
        </p:nvSpPr>
        <p:spPr>
          <a:xfrm>
            <a:off x="5995561" y="2124229"/>
            <a:ext cx="2945512" cy="21069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lnSpc>
                <a:spcPts val="1700"/>
              </a:lnSpc>
              <a:defRPr b="1" sz="1300">
                <a:solidFill>
                  <a:srgbClr val="006400"/>
                </a:solidFill>
                <a:latin typeface="Inter"/>
                <a:ea typeface="Inter"/>
                <a:cs typeface="Inter"/>
                <a:sym typeface="Inter"/>
              </a:defRPr>
            </a:lvl1pPr>
          </a:lstStyle>
          <a:p>
            <a:pPr/>
            <a:r>
              <a:t>Health Check</a:t>
            </a:r>
          </a:p>
        </p:txBody>
      </p:sp>
      <p:sp>
        <p:nvSpPr>
          <p:cNvPr id="346" name="Text 8"/>
          <p:cNvSpPr txBox="1"/>
          <p:nvPr/>
        </p:nvSpPr>
        <p:spPr>
          <a:xfrm>
            <a:off x="5145478" y="2377552"/>
            <a:ext cx="4645553" cy="15112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lnSpc>
                <a:spcPts val="1200"/>
              </a:lnSpc>
              <a:defRPr i="1" sz="1000">
                <a:solidFill>
                  <a:srgbClr val="6B7280"/>
                </a:solidFill>
                <a:latin typeface="Inter"/>
                <a:ea typeface="Inter"/>
                <a:cs typeface="Inter"/>
                <a:sym typeface="Inter"/>
              </a:defRPr>
            </a:lvl1pPr>
          </a:lstStyle>
          <a:p>
            <a:pPr/>
            <a:r>
              <a:t>Server Ready (~2-4 min)</a:t>
            </a:r>
          </a:p>
        </p:txBody>
      </p:sp>
      <p:sp>
        <p:nvSpPr>
          <p:cNvPr id="347" name="Text 9"/>
          <p:cNvSpPr txBox="1"/>
          <p:nvPr/>
        </p:nvSpPr>
        <p:spPr>
          <a:xfrm>
            <a:off x="8840703" y="2124229"/>
            <a:ext cx="2744523" cy="21069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lnSpc>
                <a:spcPts val="1700"/>
              </a:lnSpc>
              <a:defRPr b="1" sz="1300">
                <a:solidFill>
                  <a:srgbClr val="006400"/>
                </a:solidFill>
                <a:latin typeface="Inter"/>
                <a:ea typeface="Inter"/>
                <a:cs typeface="Inter"/>
                <a:sym typeface="Inter"/>
              </a:defRPr>
            </a:lvl1pPr>
          </a:lstStyle>
          <a:p>
            <a:pPr/>
            <a:r>
              <a:t>Demo Ready</a:t>
            </a:r>
          </a:p>
        </p:txBody>
      </p:sp>
      <p:sp>
        <p:nvSpPr>
          <p:cNvPr id="348" name="Text 10"/>
          <p:cNvSpPr txBox="1"/>
          <p:nvPr/>
        </p:nvSpPr>
        <p:spPr>
          <a:xfrm>
            <a:off x="7921945" y="2377552"/>
            <a:ext cx="4581915" cy="15112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lnSpc>
                <a:spcPts val="1200"/>
              </a:lnSpc>
              <a:defRPr i="1" sz="1000">
                <a:solidFill>
                  <a:srgbClr val="6B7280"/>
                </a:solidFill>
                <a:latin typeface="Inter"/>
                <a:ea typeface="Inter"/>
                <a:cs typeface="Inter"/>
                <a:sym typeface="Inter"/>
              </a:defRPr>
            </a:lvl1pPr>
          </a:lstStyle>
          <a:p>
            <a:pPr/>
            <a:r>
              <a:t>Login ADMIN &amp; Simulation</a:t>
            </a:r>
          </a:p>
        </p:txBody>
      </p:sp>
      <p:sp>
        <p:nvSpPr>
          <p:cNvPr id="349" name="Text 11"/>
          <p:cNvSpPr txBox="1"/>
          <p:nvPr/>
        </p:nvSpPr>
        <p:spPr>
          <a:xfrm>
            <a:off x="670630" y="3941591"/>
            <a:ext cx="4636453" cy="21653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ts val="1700"/>
              </a:lnSpc>
              <a:defRPr b="1" sz="1500">
                <a:solidFill>
                  <a:srgbClr val="006400"/>
                </a:solidFill>
                <a:latin typeface="Inter"/>
                <a:ea typeface="Inter"/>
                <a:cs typeface="Inter"/>
                <a:sym typeface="Inter"/>
              </a:defRPr>
            </a:lvl1pPr>
          </a:lstStyle>
          <a:p>
            <a:pPr/>
            <a:r>
              <a:t>Digital Twin Live</a:t>
            </a:r>
          </a:p>
        </p:txBody>
      </p:sp>
      <p:sp>
        <p:nvSpPr>
          <p:cNvPr id="350" name="Text 12"/>
          <p:cNvSpPr txBox="1"/>
          <p:nvPr/>
        </p:nvSpPr>
        <p:spPr>
          <a:xfrm>
            <a:off x="670629" y="4233659"/>
            <a:ext cx="3217686" cy="63372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ts val="1700"/>
              </a:lnSpc>
              <a:defRPr sz="1000">
                <a:solidFill>
                  <a:srgbClr val="4B5563"/>
                </a:solidFill>
                <a:latin typeface="Inter"/>
                <a:ea typeface="Inter"/>
                <a:cs typeface="Inter"/>
                <a:sym typeface="Inter"/>
              </a:defRPr>
            </a:lvl1pPr>
          </a:lstStyle>
          <a:p>
            <a:pPr/>
            <a:r>
              <a:t>Streaming SSE di dati reali vs predizioni LSTM. Visualizzazione insight e trend settimanali sulla Dashboard React.</a:t>
            </a:r>
          </a:p>
        </p:txBody>
      </p:sp>
      <p:sp>
        <p:nvSpPr>
          <p:cNvPr id="351" name="Text 13"/>
          <p:cNvSpPr txBox="1"/>
          <p:nvPr/>
        </p:nvSpPr>
        <p:spPr>
          <a:xfrm>
            <a:off x="4479106" y="3941591"/>
            <a:ext cx="4636451" cy="21653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ts val="1700"/>
              </a:lnSpc>
              <a:defRPr b="1" sz="1500">
                <a:solidFill>
                  <a:srgbClr val="006400"/>
                </a:solidFill>
                <a:latin typeface="Inter"/>
                <a:ea typeface="Inter"/>
                <a:cs typeface="Inter"/>
                <a:sym typeface="Inter"/>
              </a:defRPr>
            </a:lvl1pPr>
          </a:lstStyle>
          <a:p>
            <a:pPr/>
            <a:r>
              <a:t>Stress &amp; Fallback</a:t>
            </a:r>
          </a:p>
        </p:txBody>
      </p:sp>
      <p:sp>
        <p:nvSpPr>
          <p:cNvPr id="352" name="Text 14"/>
          <p:cNvSpPr txBox="1"/>
          <p:nvPr/>
        </p:nvSpPr>
        <p:spPr>
          <a:xfrm>
            <a:off x="4479106" y="4233659"/>
            <a:ext cx="3217684" cy="63372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lnSpc>
                <a:spcPts val="1700"/>
              </a:lnSpc>
              <a:defRPr sz="1000">
                <a:solidFill>
                  <a:srgbClr val="4B5563"/>
                </a:solidFill>
                <a:latin typeface="Inter"/>
                <a:ea typeface="Inter"/>
                <a:cs typeface="Inter"/>
                <a:sym typeface="Inter"/>
              </a:defRPr>
            </a:pPr>
            <a:r>
              <a:t>Simulazione </a:t>
            </a:r>
            <a:r>
              <a:rPr b="1"/>
              <a:t>DB Down</a:t>
            </a:r>
            <a:r>
              <a:t>: attivazione automatica del Circuit Breaker e instradamento su RabbitMQ Quorum Queue.</a:t>
            </a:r>
          </a:p>
        </p:txBody>
      </p:sp>
      <p:sp>
        <p:nvSpPr>
          <p:cNvPr id="353" name="Text 15"/>
          <p:cNvSpPr txBox="1"/>
          <p:nvPr/>
        </p:nvSpPr>
        <p:spPr>
          <a:xfrm>
            <a:off x="8287580" y="3941591"/>
            <a:ext cx="4909185" cy="21653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ts val="1700"/>
              </a:lnSpc>
              <a:defRPr b="1" sz="1500">
                <a:solidFill>
                  <a:srgbClr val="006400"/>
                </a:solidFill>
                <a:latin typeface="Inter"/>
                <a:ea typeface="Inter"/>
                <a:cs typeface="Inter"/>
                <a:sym typeface="Inter"/>
              </a:defRPr>
            </a:lvl1pPr>
          </a:lstStyle>
          <a:p>
            <a:pPr/>
            <a:r>
              <a:t>Proactive Alerting</a:t>
            </a:r>
          </a:p>
        </p:txBody>
      </p:sp>
      <p:sp>
        <p:nvSpPr>
          <p:cNvPr id="354" name="Text 16"/>
          <p:cNvSpPr txBox="1"/>
          <p:nvPr/>
        </p:nvSpPr>
        <p:spPr>
          <a:xfrm>
            <a:off x="8287580" y="4233267"/>
            <a:ext cx="3217683" cy="41782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lnSpc>
                <a:spcPts val="1700"/>
              </a:lnSpc>
              <a:defRPr sz="1000">
                <a:solidFill>
                  <a:srgbClr val="4B5563"/>
                </a:solidFill>
                <a:latin typeface="Inter"/>
                <a:ea typeface="Inter"/>
                <a:cs typeface="Inter"/>
                <a:sym typeface="Inter"/>
              </a:defRPr>
            </a:pPr>
            <a:r>
              <a:t>Invio alert su </a:t>
            </a:r>
            <a:r>
              <a:rPr b="1"/>
              <a:t>Telegram</a:t>
            </a:r>
            <a:r>
              <a:t> via Logstash per anomalie energetiche e criticità infrastrutturali.</a:t>
            </a:r>
          </a:p>
        </p:txBody>
      </p:sp>
      <p:sp>
        <p:nvSpPr>
          <p:cNvPr id="355" name="Text 17"/>
          <p:cNvSpPr txBox="1"/>
          <p:nvPr/>
        </p:nvSpPr>
        <p:spPr>
          <a:xfrm>
            <a:off x="662647" y="6159706"/>
            <a:ext cx="1108612" cy="15112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ts val="1200"/>
              </a:lnSpc>
              <a:defRPr sz="1000">
                <a:solidFill>
                  <a:srgbClr val="6B7280"/>
                </a:solidFill>
                <a:latin typeface="Inter"/>
                <a:ea typeface="Inter"/>
                <a:cs typeface="Inter"/>
                <a:sym typeface="Inter"/>
              </a:defRPr>
            </a:lvl1pPr>
          </a:lstStyle>
          <a:p>
            <a:pPr/>
            <a:r>
              <a:t>MySQL / Redis</a:t>
            </a:r>
          </a:p>
        </p:txBody>
      </p:sp>
      <p:sp>
        <p:nvSpPr>
          <p:cNvPr id="356" name="Text 18"/>
          <p:cNvSpPr txBox="1"/>
          <p:nvPr/>
        </p:nvSpPr>
        <p:spPr>
          <a:xfrm>
            <a:off x="2042703" y="6159706"/>
            <a:ext cx="1527307" cy="15112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ts val="1200"/>
              </a:lnSpc>
              <a:defRPr sz="1000">
                <a:solidFill>
                  <a:srgbClr val="6B7280"/>
                </a:solidFill>
                <a:latin typeface="Inter"/>
                <a:ea typeface="Inter"/>
                <a:cs typeface="Inter"/>
                <a:sym typeface="Inter"/>
              </a:defRPr>
            </a:lvl1pPr>
          </a:lstStyle>
          <a:p>
            <a:pPr/>
            <a:r>
              <a:t>RabbitMQ</a:t>
            </a:r>
          </a:p>
        </p:txBody>
      </p:sp>
      <p:sp>
        <p:nvSpPr>
          <p:cNvPr id="357" name="Text 19"/>
          <p:cNvSpPr txBox="1"/>
          <p:nvPr/>
        </p:nvSpPr>
        <p:spPr>
          <a:xfrm>
            <a:off x="3117137" y="6159706"/>
            <a:ext cx="1718219" cy="15112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ts val="1200"/>
              </a:lnSpc>
              <a:defRPr sz="1000">
                <a:solidFill>
                  <a:srgbClr val="6B7280"/>
                </a:solidFill>
                <a:latin typeface="Inter"/>
                <a:ea typeface="Inter"/>
                <a:cs typeface="Inter"/>
                <a:sym typeface="Inter"/>
              </a:defRPr>
            </a:lvl1pPr>
          </a:lstStyle>
          <a:p>
            <a:pPr/>
            <a:r>
              <a:t>ELK Stack</a:t>
            </a:r>
          </a:p>
        </p:txBody>
      </p:sp>
      <p:sp>
        <p:nvSpPr>
          <p:cNvPr id="358" name="Text 20"/>
          <p:cNvSpPr txBox="1"/>
          <p:nvPr/>
        </p:nvSpPr>
        <p:spPr>
          <a:xfrm>
            <a:off x="6024597" y="6077944"/>
            <a:ext cx="4909186" cy="18617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ts val="1200"/>
              </a:lnSpc>
              <a:defRPr b="1" spc="220" sz="2200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defRPr>
            </a:lvl1pPr>
          </a:lstStyle>
          <a:p>
            <a:pPr/>
            <a:r>
              <a:t>FINE PRESENTAZIONE • Q&amp;A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 Theme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000FF"/>
      </a:hlink>
      <a:folHlink>
        <a:srgbClr val="FF00FF"/>
      </a:folHlink>
    </a:clrScheme>
    <a:fontScheme name="Office Theme">
      <a:majorFont>
        <a:latin typeface="Calibri"/>
        <a:ea typeface="Calibri"/>
        <a:cs typeface="Calibri"/>
      </a:majorFont>
      <a:minorFont>
        <a:latin typeface="Helvetica"/>
        <a:ea typeface="Helvetica"/>
        <a:cs typeface="Helvetic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25400" cap="flat">
          <a:solidFill>
            <a:schemeClr val="accent1"/>
          </a:solidFill>
          <a:prstDash val="solid"/>
          <a:round/>
        </a:ln>
        <a:effectLst/>
        <a:sp3d/>
      </a:spPr>
      <a:bodyPr rot="0" spcFirstLastPara="1" vertOverflow="overflow" horzOverflow="overflow" vert="horz" wrap="square" lIns="45718" tIns="45718" rIns="45718" bIns="45718" numCol="1" spcCol="38100" rtlCol="0" anchor="ctr" upright="0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Helvetica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spDef>
    <a:lnDef>
      <a:spPr>
        <a:noFill/>
        <a:ln w="25400" cap="flat">
          <a:solidFill>
            <a:schemeClr val="accent1"/>
          </a:solidFill>
          <a:prstDash val="solid"/>
          <a:round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 upright="0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45718" tIns="45718" rIns="45718" bIns="45718" numCol="1" spcCol="38100" rtlCol="0" anchor="t" upright="0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Helvetica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txDef>
  </a:objectDefaul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 Theme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000FF"/>
      </a:hlink>
      <a:folHlink>
        <a:srgbClr val="FF00FF"/>
      </a:folHlink>
    </a:clrScheme>
    <a:fontScheme name="Office Theme">
      <a:majorFont>
        <a:latin typeface="Calibri"/>
        <a:ea typeface="Calibri"/>
        <a:cs typeface="Calibri"/>
      </a:majorFont>
      <a:minorFont>
        <a:latin typeface="Helvetica"/>
        <a:ea typeface="Helvetica"/>
        <a:cs typeface="Helvetic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25400" cap="flat">
          <a:solidFill>
            <a:schemeClr val="accent1"/>
          </a:solidFill>
          <a:prstDash val="solid"/>
          <a:round/>
        </a:ln>
        <a:effectLst/>
        <a:sp3d/>
      </a:spPr>
      <a:bodyPr rot="0" spcFirstLastPara="1" vertOverflow="overflow" horzOverflow="overflow" vert="horz" wrap="square" lIns="45718" tIns="45718" rIns="45718" bIns="45718" numCol="1" spcCol="38100" rtlCol="0" anchor="ctr" upright="0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Helvetica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spDef>
    <a:lnDef>
      <a:spPr>
        <a:noFill/>
        <a:ln w="25400" cap="flat">
          <a:solidFill>
            <a:schemeClr val="accent1"/>
          </a:solidFill>
          <a:prstDash val="solid"/>
          <a:round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 upright="0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45718" tIns="45718" rIns="45718" bIns="45718" numCol="1" spcCol="38100" rtlCol="0" anchor="t" upright="0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Helvetica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txDef>
  </a:objectDefaults>
</a:theme>
</file>

<file path=docProps/app.xml><?xml version="1.0" encoding="utf-8"?>
<Properties xmlns="http://schemas.openxmlformats.org/officeDocument/2006/extended-properties" xmlns:vt="http://schemas.openxmlformats.org/officeDocument/2006/docPropsVTypes"/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/>
</file>