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image" Target="../media/image-2-18.png"/><Relationship Id="rId19" Type="http://schemas.openxmlformats.org/officeDocument/2006/relationships/slideLayout" Target="../slideLayouts/slideLayout1.xml"/><Relationship Id="rId2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image" Target="../media/image-3-13.png"/><Relationship Id="rId14" Type="http://schemas.openxmlformats.org/officeDocument/2006/relationships/image" Target="../media/image-3-14.png"/><Relationship Id="rId15" Type="http://schemas.openxmlformats.org/officeDocument/2006/relationships/image" Target="../media/image-3-15.png"/><Relationship Id="rId16" Type="http://schemas.openxmlformats.org/officeDocument/2006/relationships/image" Target="../media/image-3-16.png"/><Relationship Id="rId17" Type="http://schemas.openxmlformats.org/officeDocument/2006/relationships/image" Target="../media/image-3-17.png"/><Relationship Id="rId18" Type="http://schemas.openxmlformats.org/officeDocument/2006/relationships/image" Target="../media/image-3-18.png"/><Relationship Id="rId19" Type="http://schemas.openxmlformats.org/officeDocument/2006/relationships/image" Target="../media/image-3-19.png"/><Relationship Id="rId20" Type="http://schemas.openxmlformats.org/officeDocument/2006/relationships/slideLayout" Target="../slideLayouts/slideLayout1.xml"/><Relationship Id="rId2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image" Target="../media/image-4-12.png"/><Relationship Id="rId13" Type="http://schemas.openxmlformats.org/officeDocument/2006/relationships/image" Target="../media/image-4-13.png"/><Relationship Id="rId14" Type="http://schemas.openxmlformats.org/officeDocument/2006/relationships/image" Target="../media/image-4-14.png"/><Relationship Id="rId15" Type="http://schemas.openxmlformats.org/officeDocument/2006/relationships/image" Target="../media/image-4-15.png"/><Relationship Id="rId16" Type="http://schemas.openxmlformats.org/officeDocument/2006/relationships/image" Target="../media/image-4-16.png"/><Relationship Id="rId17" Type="http://schemas.openxmlformats.org/officeDocument/2006/relationships/image" Target="../media/image-4-17.png"/><Relationship Id="rId18" Type="http://schemas.openxmlformats.org/officeDocument/2006/relationships/image" Target="../media/image-4-18.png"/><Relationship Id="rId19" Type="http://schemas.openxmlformats.org/officeDocument/2006/relationships/image" Target="../media/image-4-19.png"/><Relationship Id="rId20" Type="http://schemas.openxmlformats.org/officeDocument/2006/relationships/slideLayout" Target="../slideLayouts/slideLayout1.xml"/><Relationship Id="rId21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image" Target="../media/image-5-12.png"/><Relationship Id="rId13" Type="http://schemas.openxmlformats.org/officeDocument/2006/relationships/image" Target="../media/image-5-13.png"/><Relationship Id="rId14" Type="http://schemas.openxmlformats.org/officeDocument/2006/relationships/image" Target="../media/image-5-14.png"/><Relationship Id="rId15" Type="http://schemas.openxmlformats.org/officeDocument/2006/relationships/image" Target="../media/image-5-15.png"/><Relationship Id="rId16" Type="http://schemas.openxmlformats.org/officeDocument/2006/relationships/image" Target="../media/image-5-16.png"/><Relationship Id="rId17" Type="http://schemas.openxmlformats.org/officeDocument/2006/relationships/image" Target="../media/image-5-17.png"/><Relationship Id="rId18" Type="http://schemas.openxmlformats.org/officeDocument/2006/relationships/image" Target="../media/image-5-18.png"/><Relationship Id="rId19" Type="http://schemas.openxmlformats.org/officeDocument/2006/relationships/image" Target="../media/image-5-19.png"/><Relationship Id="rId20" Type="http://schemas.openxmlformats.org/officeDocument/2006/relationships/image" Target="../media/image-5-20.png"/><Relationship Id="rId21" Type="http://schemas.openxmlformats.org/officeDocument/2006/relationships/image" Target="../media/image-5-21.png"/><Relationship Id="rId22" Type="http://schemas.openxmlformats.org/officeDocument/2006/relationships/image" Target="../media/image-5-22.png"/><Relationship Id="rId23" Type="http://schemas.openxmlformats.org/officeDocument/2006/relationships/image" Target="../media/image-5-23.png"/><Relationship Id="rId24" Type="http://schemas.openxmlformats.org/officeDocument/2006/relationships/image" Target="../media/image-5-24.png"/><Relationship Id="rId25" Type="http://schemas.openxmlformats.org/officeDocument/2006/relationships/image" Target="../media/image-5-25.png"/><Relationship Id="rId26" Type="http://schemas.openxmlformats.org/officeDocument/2006/relationships/image" Target="../media/image-5-26.png"/><Relationship Id="rId27" Type="http://schemas.openxmlformats.org/officeDocument/2006/relationships/image" Target="../media/image-5-27.png"/><Relationship Id="rId28" Type="http://schemas.openxmlformats.org/officeDocument/2006/relationships/image" Target="../media/image-5-28.png"/><Relationship Id="rId29" Type="http://schemas.openxmlformats.org/officeDocument/2006/relationships/slideLayout" Target="../slideLayouts/slideLayout1.xml"/><Relationship Id="rId3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image" Target="../media/image-6-12.png"/><Relationship Id="rId13" Type="http://schemas.openxmlformats.org/officeDocument/2006/relationships/image" Target="../media/image-6-13.png"/><Relationship Id="rId14" Type="http://schemas.openxmlformats.org/officeDocument/2006/relationships/image" Target="../media/image-6-14.png"/><Relationship Id="rId15" Type="http://schemas.openxmlformats.org/officeDocument/2006/relationships/image" Target="../media/image-6-15.png"/><Relationship Id="rId16" Type="http://schemas.openxmlformats.org/officeDocument/2006/relationships/image" Target="../media/image-6-16.png"/><Relationship Id="rId17" Type="http://schemas.openxmlformats.org/officeDocument/2006/relationships/image" Target="../media/image-6-17.png"/><Relationship Id="rId18" Type="http://schemas.openxmlformats.org/officeDocument/2006/relationships/image" Target="../media/image-6-18.png"/><Relationship Id="rId19" Type="http://schemas.openxmlformats.org/officeDocument/2006/relationships/image" Target="../media/image-6-19.png"/><Relationship Id="rId20" Type="http://schemas.openxmlformats.org/officeDocument/2006/relationships/image" Target="../media/image-6-20.png"/><Relationship Id="rId21" Type="http://schemas.openxmlformats.org/officeDocument/2006/relationships/image" Target="../media/image-6-21.png"/><Relationship Id="rId22" Type="http://schemas.openxmlformats.org/officeDocument/2006/relationships/slideLayout" Target="../slideLayouts/slideLayout1.xml"/><Relationship Id="rId2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image" Target="../media/image-7-11.png"/><Relationship Id="rId12" Type="http://schemas.openxmlformats.org/officeDocument/2006/relationships/image" Target="../media/image-7-12.png"/><Relationship Id="rId13" Type="http://schemas.openxmlformats.org/officeDocument/2006/relationships/image" Target="../media/image-7-13.png"/><Relationship Id="rId14" Type="http://schemas.openxmlformats.org/officeDocument/2006/relationships/image" Target="../media/image-7-14.png"/><Relationship Id="rId15" Type="http://schemas.openxmlformats.org/officeDocument/2006/relationships/image" Target="../media/image-7-15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image" Target="../media/image-8-12.png"/><Relationship Id="rId13" Type="http://schemas.openxmlformats.org/officeDocument/2006/relationships/image" Target="../media/image-8-13.png"/><Relationship Id="rId14" Type="http://schemas.openxmlformats.org/officeDocument/2006/relationships/image" Target="../media/image-8-14.png"/><Relationship Id="rId15" Type="http://schemas.openxmlformats.org/officeDocument/2006/relationships/image" Target="../media/image-8-15.png"/><Relationship Id="rId16" Type="http://schemas.openxmlformats.org/officeDocument/2006/relationships/image" Target="../media/image-8-16.png"/><Relationship Id="rId17" Type="http://schemas.openxmlformats.org/officeDocument/2006/relationships/image" Target="../media/image-8-17.png"/><Relationship Id="rId18" Type="http://schemas.openxmlformats.org/officeDocument/2006/relationships/image" Target="../media/image-8-18.png"/><Relationship Id="rId19" Type="http://schemas.openxmlformats.org/officeDocument/2006/relationships/image" Target="../media/image-8-19.png"/><Relationship Id="rId20" Type="http://schemas.openxmlformats.org/officeDocument/2006/relationships/image" Target="../media/image-8-20.png"/><Relationship Id="rId21" Type="http://schemas.openxmlformats.org/officeDocument/2006/relationships/image" Target="../media/image-8-21.png"/><Relationship Id="rId22" Type="http://schemas.openxmlformats.org/officeDocument/2006/relationships/image" Target="../media/image-8-22.png"/><Relationship Id="rId23" Type="http://schemas.openxmlformats.org/officeDocument/2006/relationships/slideLayout" Target="../slideLayouts/slideLayout1.xml"/><Relationship Id="rId2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image" Target="../media/image-9-13.png"/><Relationship Id="rId14" Type="http://schemas.openxmlformats.org/officeDocument/2006/relationships/image" Target="../media/image-9-14.png"/><Relationship Id="rId15" Type="http://schemas.openxmlformats.org/officeDocument/2006/relationships/image" Target="../media/image-9-15.png"/><Relationship Id="rId16" Type="http://schemas.openxmlformats.org/officeDocument/2006/relationships/image" Target="../media/image-9-16.png"/><Relationship Id="rId17" Type="http://schemas.openxmlformats.org/officeDocument/2006/relationships/image" Target="../media/image-9-17.png"/><Relationship Id="rId18" Type="http://schemas.openxmlformats.org/officeDocument/2006/relationships/image" Target="../media/image-9-18.png"/><Relationship Id="rId19" Type="http://schemas.openxmlformats.org/officeDocument/2006/relationships/image" Target="../media/image-9-19.png"/><Relationship Id="rId20" Type="http://schemas.openxmlformats.org/officeDocument/2006/relationships/image" Target="../media/image-9-20.png"/><Relationship Id="rId21" Type="http://schemas.openxmlformats.org/officeDocument/2006/relationships/image" Target="../media/image-9-21.png"/><Relationship Id="rId22" Type="http://schemas.openxmlformats.org/officeDocument/2006/relationships/image" Target="../media/image-9-22.png"/><Relationship Id="rId23" Type="http://schemas.openxmlformats.org/officeDocument/2006/relationships/image" Target="../media/image-9-23.png"/><Relationship Id="rId24" Type="http://schemas.openxmlformats.org/officeDocument/2006/relationships/slideLayout" Target="../slideLayouts/slideLayout1.xml"/><Relationship Id="rId25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3535680" y="1981200"/>
            <a:ext cx="512064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b="1" spc="252" kern="0" dirty="0">
                <a:solidFill>
                  <a:srgbClr val="FFA5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DISTRIBUTED SYSTEMS ARCHITECTURE</a:t>
            </a:r>
            <a:endParaRPr lang="en-US" sz="1050" dirty="0"/>
          </a:p>
        </p:txBody>
      </p:sp>
      <p:sp>
        <p:nvSpPr>
          <p:cNvPr id="5" name="Text 1"/>
          <p:cNvSpPr/>
          <p:nvPr/>
        </p:nvSpPr>
        <p:spPr>
          <a:xfrm>
            <a:off x="-487680" y="2400300"/>
            <a:ext cx="1316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algn="ctr" indent="0" marL="0">
              <a:lnSpc>
                <a:spcPts val="7200"/>
              </a:lnSpc>
              <a:buNone/>
            </a:pPr>
            <a:r>
              <a:rPr lang="en-US" sz="7200" b="1" spc="-288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NEXUS </a:t>
            </a:r>
            <a:pPr algn="ctr" indent="0" marL="0">
              <a:lnSpc>
                <a:spcPts val="7200"/>
              </a:lnSpc>
              <a:buNone/>
            </a:pPr>
            <a:r>
              <a:rPr lang="en-US" sz="7200" b="1" spc="-288" kern="0" dirty="0">
                <a:solidFill>
                  <a:srgbClr val="FFA5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ENERGY</a:t>
            </a:r>
            <a:endParaRPr lang="en-US" sz="7200" dirty="0"/>
          </a:p>
        </p:txBody>
      </p:sp>
      <p:sp>
        <p:nvSpPr>
          <p:cNvPr id="6" name="Text 2"/>
          <p:cNvSpPr/>
          <p:nvPr/>
        </p:nvSpPr>
        <p:spPr>
          <a:xfrm>
            <a:off x="335280" y="3467100"/>
            <a:ext cx="115214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algn="ctr" indent="0" marL="0">
              <a:lnSpc>
                <a:spcPts val="3000"/>
              </a:lnSpc>
              <a:buNone/>
            </a:pPr>
            <a:r>
              <a:rPr lang="en-US" sz="2700" spc="-54" kern="0" dirty="0">
                <a:solidFill>
                  <a:srgbClr val="D3D3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Distributed Service Platform</a:t>
            </a:r>
            <a:endParaRPr lang="en-US" sz="2700" dirty="0"/>
          </a:p>
        </p:txBody>
      </p:sp>
      <p:sp>
        <p:nvSpPr>
          <p:cNvPr id="7" name="Text 3"/>
          <p:cNvSpPr/>
          <p:nvPr/>
        </p:nvSpPr>
        <p:spPr>
          <a:xfrm>
            <a:off x="2438400" y="4305300"/>
            <a:ext cx="73152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algn="ctr" indent="0" marL="0">
              <a:lnSpc>
                <a:spcPts val="2438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Piattaforma full-stack per il monitoraggio e l'analisi predittiva del consumo energetico negli edifici tramite </a:t>
            </a:r>
            <a:pPr algn="ctr" indent="0" marL="0">
              <a:lnSpc>
                <a:spcPts val="2438"/>
              </a:lnSpc>
              <a:buNone/>
            </a:pPr>
            <a:r>
              <a:rPr lang="en-US" sz="1500" b="1" dirty="0">
                <a:solidFill>
                  <a:srgbClr val="FFA5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 Energy Twin</a:t>
            </a:r>
            <a:pPr algn="ctr" indent="0" marL="0">
              <a:lnSpc>
                <a:spcPts val="2438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1500" dirty="0"/>
          </a:p>
        </p:txBody>
      </p:sp>
      <p:sp>
        <p:nvSpPr>
          <p:cNvPr id="8" name="Text 4"/>
          <p:cNvSpPr/>
          <p:nvPr/>
        </p:nvSpPr>
        <p:spPr>
          <a:xfrm>
            <a:off x="762000" y="5791200"/>
            <a:ext cx="295245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spc="84" kern="0" dirty="0">
                <a:solidFill>
                  <a:srgbClr val="D3D3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CORE TECHNOLOGIES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762000" y="5981700"/>
            <a:ext cx="295245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• IoT • Real-time Streaming • ELK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8750647" y="5791200"/>
            <a:ext cx="267935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algn="r" indent="0" marL="0">
              <a:lnSpc>
                <a:spcPts val="1500"/>
              </a:lnSpc>
              <a:buNone/>
            </a:pPr>
            <a:r>
              <a:rPr lang="en-US" sz="1050" spc="84" kern="0" dirty="0">
                <a:solidFill>
                  <a:srgbClr val="D3D3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 AUDIENCE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8750647" y="5981700"/>
            <a:ext cx="2679353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algn="r"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Ingegneria dei Sistemi Distribuiti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457200" y="457200"/>
            <a:ext cx="82296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b="1" spc="-72" kern="0" dirty="0">
                <a:solidFill>
                  <a:srgbClr val="FFA5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N/E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1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1" cy="804851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45807" y="234748"/>
            <a:ext cx="343738" cy="335355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425" y="1240812"/>
            <a:ext cx="226364" cy="201213"/>
          </a:xfrm>
          <a:prstGeom prst="rect">
            <a:avLst/>
          </a:prstGeom>
        </p:spPr>
      </p:pic>
      <p:pic>
        <p:nvPicPr>
          <p:cNvPr id="6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2425" y="2464856"/>
            <a:ext cx="5525883" cy="3672132"/>
          </a:xfrm>
          <a:prstGeom prst="rect">
            <a:avLst/>
          </a:prstGeom>
        </p:spPr>
      </p:pic>
      <p:pic>
        <p:nvPicPr>
          <p:cNvPr id="7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0709" y="3202636"/>
            <a:ext cx="285051" cy="335355"/>
          </a:xfrm>
          <a:prstGeom prst="rect">
            <a:avLst/>
          </a:prstGeom>
        </p:spPr>
      </p:pic>
      <p:pic>
        <p:nvPicPr>
          <p:cNvPr id="8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7780" y="3303242"/>
            <a:ext cx="150910" cy="134142"/>
          </a:xfrm>
          <a:prstGeom prst="rect">
            <a:avLst/>
          </a:prstGeom>
        </p:spPr>
      </p:pic>
      <p:pic>
        <p:nvPicPr>
          <p:cNvPr id="9" name="Image 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0709" y="3806274"/>
            <a:ext cx="268284" cy="335355"/>
          </a:xfrm>
          <a:prstGeom prst="rect">
            <a:avLst/>
          </a:prstGeom>
        </p:spPr>
      </p:pic>
      <p:pic>
        <p:nvPicPr>
          <p:cNvPr id="10" name="Image 8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7780" y="3906880"/>
            <a:ext cx="134142" cy="134142"/>
          </a:xfrm>
          <a:prstGeom prst="rect">
            <a:avLst/>
          </a:prstGeom>
        </p:spPr>
      </p:pic>
      <p:pic>
        <p:nvPicPr>
          <p:cNvPr id="11" name="Image 9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0709" y="4409912"/>
            <a:ext cx="251516" cy="335355"/>
          </a:xfrm>
          <a:prstGeom prst="rect">
            <a:avLst/>
          </a:prstGeom>
        </p:spPr>
      </p:pic>
      <p:pic>
        <p:nvPicPr>
          <p:cNvPr id="12" name="Image 10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37780" y="4510518"/>
            <a:ext cx="117374" cy="134142"/>
          </a:xfrm>
          <a:prstGeom prst="rect">
            <a:avLst/>
          </a:prstGeom>
        </p:spPr>
      </p:pic>
      <p:pic>
        <p:nvPicPr>
          <p:cNvPr id="13" name="Image 11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63663" y="2464856"/>
            <a:ext cx="5525882" cy="3672132"/>
          </a:xfrm>
          <a:prstGeom prst="rect">
            <a:avLst/>
          </a:prstGeom>
        </p:spPr>
      </p:pic>
      <p:pic>
        <p:nvPicPr>
          <p:cNvPr id="14" name="Image 12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31947" y="3751779"/>
            <a:ext cx="4989315" cy="603638"/>
          </a:xfrm>
          <a:prstGeom prst="rect">
            <a:avLst/>
          </a:prstGeom>
        </p:spPr>
      </p:pic>
      <p:pic>
        <p:nvPicPr>
          <p:cNvPr id="15" name="Image 13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31947" y="4489559"/>
            <a:ext cx="4989315" cy="603638"/>
          </a:xfrm>
          <a:prstGeom prst="rect">
            <a:avLst/>
          </a:prstGeom>
        </p:spPr>
      </p:pic>
      <p:pic>
        <p:nvPicPr>
          <p:cNvPr id="16" name="Image 14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531947" y="5227338"/>
            <a:ext cx="4989315" cy="603638"/>
          </a:xfrm>
          <a:prstGeom prst="rect">
            <a:avLst/>
          </a:prstGeom>
        </p:spPr>
      </p:pic>
      <p:pic>
        <p:nvPicPr>
          <p:cNvPr id="17" name="Image 15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051766" y="5399208"/>
            <a:ext cx="1073134" cy="1073134"/>
          </a:xfrm>
          <a:prstGeom prst="rect">
            <a:avLst/>
          </a:prstGeom>
        </p:spPr>
      </p:pic>
      <p:pic>
        <p:nvPicPr>
          <p:cNvPr id="18" name="Image 16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02425" y="6405272"/>
            <a:ext cx="11387120" cy="402425"/>
          </a:xfrm>
          <a:prstGeom prst="rect">
            <a:avLst/>
          </a:prstGeom>
        </p:spPr>
      </p:pic>
      <p:sp>
        <p:nvSpPr>
          <p:cNvPr id="19" name="Text 0"/>
          <p:cNvSpPr/>
          <p:nvPr/>
        </p:nvSpPr>
        <p:spPr>
          <a:xfrm>
            <a:off x="402425" y="167677"/>
            <a:ext cx="15323170" cy="301819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2377"/>
              </a:lnSpc>
              <a:buNone/>
            </a:pPr>
            <a:r>
              <a:rPr lang="en-US" sz="2250" b="1" spc="-51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02. Introduzione e Digital Energy Twin</a:t>
            </a:r>
            <a:endParaRPr lang="en-US" sz="2250" dirty="0"/>
          </a:p>
        </p:txBody>
      </p:sp>
      <p:sp>
        <p:nvSpPr>
          <p:cNvPr id="20" name="Text 1"/>
          <p:cNvSpPr/>
          <p:nvPr/>
        </p:nvSpPr>
        <p:spPr>
          <a:xfrm>
            <a:off x="402425" y="469496"/>
            <a:ext cx="5817632" cy="167677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1320"/>
              </a:lnSpc>
              <a:buNone/>
            </a:pPr>
            <a:r>
              <a:rPr lang="en-US" sz="1050" spc="95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NEXUS ENERGY DISTRIBUTED SERVICE</a:t>
            </a:r>
            <a:endParaRPr lang="en-US" sz="1050" dirty="0"/>
          </a:p>
        </p:txBody>
      </p:sp>
      <p:sp>
        <p:nvSpPr>
          <p:cNvPr id="21" name="Text 2"/>
          <p:cNvSpPr/>
          <p:nvPr/>
        </p:nvSpPr>
        <p:spPr>
          <a:xfrm>
            <a:off x="729396" y="1207276"/>
            <a:ext cx="11387120" cy="268284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2112"/>
              </a:lnSpc>
              <a:buNone/>
            </a:pPr>
            <a:r>
              <a:rPr lang="en-US" sz="1584" b="1" dirty="0">
                <a:solidFill>
                  <a:srgbClr val="0064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Visione del Progetto</a:t>
            </a:r>
            <a:endParaRPr lang="en-US" sz="1584" dirty="0"/>
          </a:p>
        </p:txBody>
      </p:sp>
      <p:sp>
        <p:nvSpPr>
          <p:cNvPr id="22" name="Text 3"/>
          <p:cNvSpPr/>
          <p:nvPr/>
        </p:nvSpPr>
        <p:spPr>
          <a:xfrm>
            <a:off x="402425" y="1710308"/>
            <a:ext cx="8585076" cy="490456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1931"/>
              </a:lnSpc>
              <a:buNone/>
            </a:pPr>
            <a:r>
              <a:rPr lang="en-US" sz="1188" dirty="0">
                <a:solidFill>
                  <a:srgbClr val="3741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Nexus Energy è una piattaforma </a:t>
            </a:r>
            <a:pPr indent="0" marL="0">
              <a:lnSpc>
                <a:spcPts val="1931"/>
              </a:lnSpc>
              <a:buNone/>
            </a:pPr>
            <a:r>
              <a:rPr lang="en-US" sz="1188" b="1" dirty="0">
                <a:solidFill>
                  <a:srgbClr val="3741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full-stack distribuita</a:t>
            </a:r>
            <a:pPr indent="0" marL="0">
              <a:lnSpc>
                <a:spcPts val="1931"/>
              </a:lnSpc>
              <a:buNone/>
            </a:pPr>
            <a:r>
              <a:rPr lang="en-US" sz="1188" dirty="0">
                <a:solidFill>
                  <a:srgbClr val="3741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progettata per il monitoraggio e l’analisi predittiva del consumo energetico negli edifici. Integra tecnologie eterogenee in un'architettura pronta per la produzione, scalabile e resiliente.</a:t>
            </a:r>
            <a:endParaRPr lang="en-US" sz="1188" dirty="0"/>
          </a:p>
        </p:txBody>
      </p:sp>
      <p:sp>
        <p:nvSpPr>
          <p:cNvPr id="23" name="Text 4"/>
          <p:cNvSpPr/>
          <p:nvPr/>
        </p:nvSpPr>
        <p:spPr>
          <a:xfrm>
            <a:off x="670709" y="2733140"/>
            <a:ext cx="4989316" cy="234748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1848"/>
              </a:lnSpc>
              <a:buNone/>
            </a:pPr>
            <a:r>
              <a:rPr lang="en-US" sz="1320" b="1" spc="30" kern="0" dirty="0">
                <a:solidFill>
                  <a:srgbClr val="0064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OBIETTIVI DI SISTEMA</a:t>
            </a:r>
            <a:endParaRPr lang="en-US" sz="1320" dirty="0"/>
          </a:p>
        </p:txBody>
      </p:sp>
      <p:sp>
        <p:nvSpPr>
          <p:cNvPr id="24" name="Text 5"/>
          <p:cNvSpPr/>
          <p:nvPr/>
        </p:nvSpPr>
        <p:spPr>
          <a:xfrm>
            <a:off x="1089902" y="3169100"/>
            <a:ext cx="4389120" cy="201213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algn="l" indent="0" marL="0">
              <a:lnSpc>
                <a:spcPts val="1584"/>
              </a:lnSpc>
              <a:buNone/>
            </a:pPr>
            <a:r>
              <a:rPr lang="en-US" sz="1056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Integrazione Tecnologica</a:t>
            </a:r>
            <a:endParaRPr lang="en-US" sz="1056" dirty="0"/>
          </a:p>
        </p:txBody>
      </p:sp>
      <p:sp>
        <p:nvSpPr>
          <p:cNvPr id="25" name="Text 6"/>
          <p:cNvSpPr/>
          <p:nvPr/>
        </p:nvSpPr>
        <p:spPr>
          <a:xfrm>
            <a:off x="1089902" y="3403848"/>
            <a:ext cx="11521440" cy="142526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924" i="1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Frontend, Backend, AI, Messaging e Osservabilità in un unico ecosistema.</a:t>
            </a:r>
            <a:endParaRPr lang="en-US" sz="924" dirty="0"/>
          </a:p>
        </p:txBody>
      </p:sp>
      <p:sp>
        <p:nvSpPr>
          <p:cNvPr id="26" name="Text 7"/>
          <p:cNvSpPr/>
          <p:nvPr/>
        </p:nvSpPr>
        <p:spPr>
          <a:xfrm>
            <a:off x="1073134" y="3772738"/>
            <a:ext cx="4330921" cy="201213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algn="l" indent="0" marL="0">
              <a:lnSpc>
                <a:spcPts val="1584"/>
              </a:lnSpc>
              <a:buNone/>
            </a:pPr>
            <a:r>
              <a:rPr lang="en-US" sz="1056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Produzione Pronta</a:t>
            </a:r>
            <a:endParaRPr lang="en-US" sz="1056" dirty="0"/>
          </a:p>
        </p:txBody>
      </p:sp>
      <p:sp>
        <p:nvSpPr>
          <p:cNvPr id="27" name="Text 8"/>
          <p:cNvSpPr/>
          <p:nvPr/>
        </p:nvSpPr>
        <p:spPr>
          <a:xfrm>
            <a:off x="1073134" y="4007486"/>
            <a:ext cx="12961620" cy="142526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924" i="1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Gestione di errori, sicurezza JWT, logging centralizzato e pattern di resilienza.</a:t>
            </a:r>
            <a:endParaRPr lang="en-US" sz="924" dirty="0"/>
          </a:p>
        </p:txBody>
      </p:sp>
      <p:sp>
        <p:nvSpPr>
          <p:cNvPr id="28" name="Text 9"/>
          <p:cNvSpPr/>
          <p:nvPr/>
        </p:nvSpPr>
        <p:spPr>
          <a:xfrm>
            <a:off x="1056367" y="4376376"/>
            <a:ext cx="3532488" cy="201213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algn="l" indent="0" marL="0">
              <a:lnSpc>
                <a:spcPts val="1584"/>
              </a:lnSpc>
              <a:buNone/>
            </a:pPr>
            <a:r>
              <a:rPr lang="en-US" sz="1056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Real-time Analytics</a:t>
            </a:r>
            <a:endParaRPr lang="en-US" sz="1056" dirty="0"/>
          </a:p>
        </p:txBody>
      </p:sp>
      <p:sp>
        <p:nvSpPr>
          <p:cNvPr id="29" name="Text 10"/>
          <p:cNvSpPr/>
          <p:nvPr/>
        </p:nvSpPr>
        <p:spPr>
          <a:xfrm>
            <a:off x="1056367" y="4611125"/>
            <a:ext cx="10241280" cy="142526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924" i="1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di dati tramite SSE e notifiche immediate di anomalie.</a:t>
            </a:r>
            <a:endParaRPr lang="en-US" sz="924" dirty="0"/>
          </a:p>
        </p:txBody>
      </p:sp>
      <p:sp>
        <p:nvSpPr>
          <p:cNvPr id="30" name="Text 11"/>
          <p:cNvSpPr/>
          <p:nvPr/>
        </p:nvSpPr>
        <p:spPr>
          <a:xfrm>
            <a:off x="6531947" y="2733140"/>
            <a:ext cx="5029200" cy="234748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1848"/>
              </a:lnSpc>
              <a:buNone/>
            </a:pPr>
            <a:r>
              <a:rPr lang="en-US" sz="1320" b="1" spc="30" kern="0" dirty="0">
                <a:solidFill>
                  <a:srgbClr val="FFA5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 DIGITAL ENERGY TWIN</a:t>
            </a:r>
            <a:endParaRPr lang="en-US" sz="1320" dirty="0"/>
          </a:p>
        </p:txBody>
      </p:sp>
      <p:sp>
        <p:nvSpPr>
          <p:cNvPr id="31" name="Text 12"/>
          <p:cNvSpPr/>
          <p:nvPr/>
        </p:nvSpPr>
        <p:spPr>
          <a:xfrm>
            <a:off x="6531947" y="3169100"/>
            <a:ext cx="4989315" cy="381466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1502"/>
              </a:lnSpc>
              <a:buNone/>
            </a:pPr>
            <a:r>
              <a:rPr lang="en-US" sz="924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 cuore pulsante di Nexus Energy è il </a:t>
            </a:r>
            <a:pPr indent="0" marL="0">
              <a:lnSpc>
                <a:spcPts val="1502"/>
              </a:lnSpc>
              <a:buNone/>
            </a:pPr>
            <a:r>
              <a:rPr lang="en-US" sz="924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 Twin</a:t>
            </a:r>
            <a:pPr indent="0" marL="0">
              <a:lnSpc>
                <a:spcPts val="1502"/>
              </a:lnSpc>
              <a:buNone/>
            </a:pPr>
            <a:r>
              <a:rPr lang="en-US" sz="924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 una rappresentazione virtuale neurale che modella il comportamento energetico dell'edificio.</a:t>
            </a:r>
            <a:endParaRPr lang="en-US" sz="924" dirty="0"/>
          </a:p>
        </p:txBody>
      </p:sp>
      <p:sp>
        <p:nvSpPr>
          <p:cNvPr id="32" name="Text 13"/>
          <p:cNvSpPr/>
          <p:nvPr/>
        </p:nvSpPr>
        <p:spPr>
          <a:xfrm>
            <a:off x="6666088" y="3885921"/>
            <a:ext cx="4704264" cy="134142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1056"/>
              </a:lnSpc>
              <a:buNone/>
            </a:pPr>
            <a:r>
              <a:rPr lang="en-US" sz="792" b="1" dirty="0">
                <a:solidFill>
                  <a:srgbClr val="FFA5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MODELLO NEURALE</a:t>
            </a:r>
            <a:endParaRPr lang="en-US" sz="792" dirty="0"/>
          </a:p>
        </p:txBody>
      </p:sp>
      <p:sp>
        <p:nvSpPr>
          <p:cNvPr id="33" name="Text 14"/>
          <p:cNvSpPr/>
          <p:nvPr/>
        </p:nvSpPr>
        <p:spPr>
          <a:xfrm>
            <a:off x="6666088" y="4053598"/>
            <a:ext cx="10081260" cy="167677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1320"/>
              </a:lnSpc>
              <a:buNone/>
            </a:pPr>
            <a:r>
              <a:rPr lang="en-US" sz="924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Architettura </a:t>
            </a:r>
            <a:pPr indent="0" marL="0">
              <a:lnSpc>
                <a:spcPts val="1320"/>
              </a:lnSpc>
              <a:buNone/>
            </a:pPr>
            <a:r>
              <a:rPr lang="en-US" sz="924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LSTM</a:t>
            </a:r>
            <a:pPr indent="0" marL="0">
              <a:lnSpc>
                <a:spcPts val="1320"/>
              </a:lnSpc>
              <a:buNone/>
            </a:pPr>
            <a:r>
              <a:rPr lang="en-US" sz="924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(Long Short-Term Memory) per serie temporali.</a:t>
            </a:r>
            <a:endParaRPr lang="en-US" sz="924" dirty="0"/>
          </a:p>
        </p:txBody>
      </p:sp>
      <p:sp>
        <p:nvSpPr>
          <p:cNvPr id="34" name="Text 15"/>
          <p:cNvSpPr/>
          <p:nvPr/>
        </p:nvSpPr>
        <p:spPr>
          <a:xfrm>
            <a:off x="6666088" y="4623701"/>
            <a:ext cx="4704264" cy="134142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1056"/>
              </a:lnSpc>
              <a:buNone/>
            </a:pPr>
            <a:r>
              <a:rPr lang="en-US" sz="792" b="1" dirty="0">
                <a:solidFill>
                  <a:srgbClr val="FFA5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INPUT DATASET (KAGGLE)</a:t>
            </a:r>
            <a:endParaRPr lang="en-US" sz="792" dirty="0"/>
          </a:p>
        </p:txBody>
      </p:sp>
      <p:sp>
        <p:nvSpPr>
          <p:cNvPr id="35" name="Text 16"/>
          <p:cNvSpPr/>
          <p:nvPr/>
        </p:nvSpPr>
        <p:spPr>
          <a:xfrm>
            <a:off x="6666088" y="4791378"/>
            <a:ext cx="8961120" cy="167677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1320"/>
              </a:lnSpc>
              <a:buNone/>
            </a:pPr>
            <a:r>
              <a:rPr lang="en-US" sz="924" i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Temperatura, Umidità, Occupazione, HVAC e Illuminazione.</a:t>
            </a:r>
            <a:endParaRPr lang="en-US" sz="924" dirty="0"/>
          </a:p>
        </p:txBody>
      </p:sp>
      <p:sp>
        <p:nvSpPr>
          <p:cNvPr id="36" name="Text 17"/>
          <p:cNvSpPr/>
          <p:nvPr/>
        </p:nvSpPr>
        <p:spPr>
          <a:xfrm>
            <a:off x="6666088" y="5361480"/>
            <a:ext cx="4704264" cy="134142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1056"/>
              </a:lnSpc>
              <a:buNone/>
            </a:pPr>
            <a:r>
              <a:rPr lang="en-US" sz="792" b="1" dirty="0">
                <a:solidFill>
                  <a:srgbClr val="FFA5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RILEVAMENTO ANOMALIE</a:t>
            </a:r>
            <a:endParaRPr lang="en-US" sz="792" dirty="0"/>
          </a:p>
        </p:txBody>
      </p:sp>
      <p:sp>
        <p:nvSpPr>
          <p:cNvPr id="37" name="Text 18"/>
          <p:cNvSpPr/>
          <p:nvPr/>
        </p:nvSpPr>
        <p:spPr>
          <a:xfrm>
            <a:off x="6666088" y="5529158"/>
            <a:ext cx="12321540" cy="167677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1320"/>
              </a:lnSpc>
              <a:buNone/>
            </a:pPr>
            <a:r>
              <a:rPr lang="en-US" sz="924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Confronto continuo tra </a:t>
            </a:r>
            <a:pPr indent="0" marL="0">
              <a:lnSpc>
                <a:spcPts val="1320"/>
              </a:lnSpc>
              <a:buNone/>
            </a:pPr>
            <a:r>
              <a:rPr lang="en-US" sz="924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Predizione vs Dati Reali</a:t>
            </a:r>
            <a:pPr indent="0" marL="0">
              <a:lnSpc>
                <a:spcPts val="1320"/>
              </a:lnSpc>
              <a:buNone/>
            </a:pPr>
            <a:r>
              <a:rPr lang="en-US" sz="924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per individuare inefficienze.</a:t>
            </a:r>
            <a:endParaRPr lang="en-US" sz="924" dirty="0"/>
          </a:p>
        </p:txBody>
      </p:sp>
      <p:sp>
        <p:nvSpPr>
          <p:cNvPr id="38" name="Text 19"/>
          <p:cNvSpPr/>
          <p:nvPr/>
        </p:nvSpPr>
        <p:spPr>
          <a:xfrm>
            <a:off x="402425" y="6539414"/>
            <a:ext cx="3480875" cy="268284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1056"/>
              </a:lnSpc>
              <a:buNone/>
            </a:pPr>
            <a:r>
              <a:rPr lang="en-US" sz="792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Dataset: Energy Consumption Prediction (Synthetic real-world emulation)</a:t>
            </a:r>
            <a:endParaRPr lang="en-US" sz="792" dirty="0"/>
          </a:p>
        </p:txBody>
      </p:sp>
      <p:sp>
        <p:nvSpPr>
          <p:cNvPr id="39" name="Text 20"/>
          <p:cNvSpPr/>
          <p:nvPr/>
        </p:nvSpPr>
        <p:spPr>
          <a:xfrm>
            <a:off x="9869772" y="6606484"/>
            <a:ext cx="5486400" cy="134142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1056"/>
              </a:lnSpc>
              <a:buNone/>
            </a:pPr>
            <a:r>
              <a:rPr lang="en-US" sz="792" b="1" i="1" dirty="0">
                <a:solidFill>
                  <a:srgbClr val="0064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Nexus Energy: Scalability &amp; Intelligence</a:t>
            </a:r>
            <a:endParaRPr lang="en-US" sz="792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81000"/>
            <a:ext cx="11430000" cy="7239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1485900"/>
            <a:ext cx="3606701" cy="2314575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1752600"/>
            <a:ext cx="219075" cy="190500"/>
          </a:xfrm>
          <a:prstGeom prst="rect">
            <a:avLst/>
          </a:prstGeom>
        </p:spPr>
      </p:pic>
      <p:pic>
        <p:nvPicPr>
          <p:cNvPr id="6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92501" y="1485900"/>
            <a:ext cx="7518499" cy="2314575"/>
          </a:xfrm>
          <a:prstGeom prst="rect">
            <a:avLst/>
          </a:prstGeom>
        </p:spPr>
      </p:pic>
      <p:pic>
        <p:nvPicPr>
          <p:cNvPr id="7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83001" y="2105025"/>
            <a:ext cx="1665387" cy="1495425"/>
          </a:xfrm>
          <a:prstGeom prst="rect">
            <a:avLst/>
          </a:prstGeom>
        </p:spPr>
      </p:pic>
      <p:pic>
        <p:nvPicPr>
          <p:cNvPr id="8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01394" y="2333625"/>
            <a:ext cx="228600" cy="304800"/>
          </a:xfrm>
          <a:prstGeom prst="rect">
            <a:avLst/>
          </a:prstGeom>
        </p:spPr>
      </p:pic>
      <p:pic>
        <p:nvPicPr>
          <p:cNvPr id="9" name="Image 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0788" y="2105025"/>
            <a:ext cx="1665387" cy="1495425"/>
          </a:xfrm>
          <a:prstGeom prst="rect">
            <a:avLst/>
          </a:prstGeom>
        </p:spPr>
      </p:pic>
      <p:pic>
        <p:nvPicPr>
          <p:cNvPr id="10" name="Image 8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19181" y="2333625"/>
            <a:ext cx="228600" cy="304800"/>
          </a:xfrm>
          <a:prstGeom prst="rect">
            <a:avLst/>
          </a:prstGeom>
        </p:spPr>
      </p:pic>
      <p:pic>
        <p:nvPicPr>
          <p:cNvPr id="11" name="Image 9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18574" y="2105025"/>
            <a:ext cx="1665387" cy="1495425"/>
          </a:xfrm>
          <a:prstGeom prst="rect">
            <a:avLst/>
          </a:prstGeom>
        </p:spPr>
      </p:pic>
      <p:pic>
        <p:nvPicPr>
          <p:cNvPr id="12" name="Image 10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836968" y="2333625"/>
            <a:ext cx="228600" cy="304800"/>
          </a:xfrm>
          <a:prstGeom prst="rect">
            <a:avLst/>
          </a:prstGeom>
        </p:spPr>
      </p:pic>
      <p:pic>
        <p:nvPicPr>
          <p:cNvPr id="13" name="Image 11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936361" y="2105025"/>
            <a:ext cx="1665387" cy="1495425"/>
          </a:xfrm>
          <a:prstGeom prst="rect">
            <a:avLst/>
          </a:prstGeom>
        </p:spPr>
      </p:pic>
      <p:pic>
        <p:nvPicPr>
          <p:cNvPr id="14" name="Image 12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640467" y="2333625"/>
            <a:ext cx="257175" cy="304800"/>
          </a:xfrm>
          <a:prstGeom prst="rect">
            <a:avLst/>
          </a:prstGeom>
        </p:spPr>
      </p:pic>
      <p:pic>
        <p:nvPicPr>
          <p:cNvPr id="15" name="Image 13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81000" y="4181475"/>
            <a:ext cx="533400" cy="609600"/>
          </a:xfrm>
          <a:prstGeom prst="rect">
            <a:avLst/>
          </a:prstGeom>
        </p:spPr>
      </p:pic>
      <p:pic>
        <p:nvPicPr>
          <p:cNvPr id="16" name="Image 14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33400" y="4333875"/>
            <a:ext cx="228600" cy="304800"/>
          </a:xfrm>
          <a:prstGeom prst="rect">
            <a:avLst/>
          </a:prstGeom>
        </p:spPr>
      </p:pic>
      <p:pic>
        <p:nvPicPr>
          <p:cNvPr id="17" name="Image 15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17505" y="4181475"/>
            <a:ext cx="504825" cy="609600"/>
          </a:xfrm>
          <a:prstGeom prst="rect">
            <a:avLst/>
          </a:prstGeom>
        </p:spPr>
      </p:pic>
      <p:pic>
        <p:nvPicPr>
          <p:cNvPr id="18" name="Image 16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669905" y="4333875"/>
            <a:ext cx="200025" cy="304800"/>
          </a:xfrm>
          <a:prstGeom prst="rect">
            <a:avLst/>
          </a:prstGeom>
        </p:spPr>
      </p:pic>
      <p:pic>
        <p:nvPicPr>
          <p:cNvPr id="19" name="Image 17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81000" y="6019800"/>
            <a:ext cx="11430000" cy="457200"/>
          </a:xfrm>
          <a:prstGeom prst="rect">
            <a:avLst/>
          </a:prstGeom>
        </p:spPr>
      </p:pic>
      <p:sp>
        <p:nvSpPr>
          <p:cNvPr id="20" name="Text 0"/>
          <p:cNvSpPr/>
          <p:nvPr/>
        </p:nvSpPr>
        <p:spPr>
          <a:xfrm>
            <a:off x="609600" y="381000"/>
            <a:ext cx="160477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3000"/>
              </a:lnSpc>
              <a:buNone/>
            </a:pPr>
            <a:r>
              <a:rPr lang="en-US" sz="2700" b="1" spc="-54" kern="0" dirty="0">
                <a:solidFill>
                  <a:srgbClr val="0064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ARCHITETTURA DEL SERVER (ENERGY-SERVER)</a:t>
            </a:r>
            <a:endParaRPr lang="en-US" sz="2700" dirty="0"/>
          </a:p>
        </p:txBody>
      </p:sp>
      <p:sp>
        <p:nvSpPr>
          <p:cNvPr id="21" name="Text 1"/>
          <p:cNvSpPr/>
          <p:nvPr/>
        </p:nvSpPr>
        <p:spPr>
          <a:xfrm>
            <a:off x="609600" y="838200"/>
            <a:ext cx="12801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Logica centralizzata e gestione reattiva dei flussi dati</a:t>
            </a:r>
            <a:endParaRPr lang="en-US" sz="1500" dirty="0"/>
          </a:p>
        </p:txBody>
      </p:sp>
      <p:sp>
        <p:nvSpPr>
          <p:cNvPr id="22" name="Text 2"/>
          <p:cNvSpPr/>
          <p:nvPr/>
        </p:nvSpPr>
        <p:spPr>
          <a:xfrm>
            <a:off x="942975" y="1714500"/>
            <a:ext cx="314950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Remote Facade</a:t>
            </a:r>
            <a:endParaRPr lang="en-US" sz="1500" dirty="0"/>
          </a:p>
        </p:txBody>
      </p:sp>
      <p:sp>
        <p:nvSpPr>
          <p:cNvPr id="23" name="Text 3"/>
          <p:cNvSpPr/>
          <p:nvPr/>
        </p:nvSpPr>
        <p:spPr>
          <a:xfrm>
            <a:off x="609600" y="2095500"/>
            <a:ext cx="3149501" cy="866775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1706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Centralizza la logica di business esponendo operazioni aggregate. Riduce il "chattiness" tra client e server, mappando chiamate complesse su endpoint ottimizzati.</a:t>
            </a:r>
            <a:endParaRPr lang="en-US" sz="1050" dirty="0"/>
          </a:p>
        </p:txBody>
      </p:sp>
      <p:sp>
        <p:nvSpPr>
          <p:cNvPr id="24" name="Text 4"/>
          <p:cNvSpPr/>
          <p:nvPr/>
        </p:nvSpPr>
        <p:spPr>
          <a:xfrm>
            <a:off x="4483001" y="1685925"/>
            <a:ext cx="711844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0064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di Elaborazione Dati</a:t>
            </a:r>
            <a:endParaRPr lang="en-US" sz="1350" dirty="0"/>
          </a:p>
        </p:txBody>
      </p:sp>
      <p:sp>
        <p:nvSpPr>
          <p:cNvPr id="25" name="Text 5"/>
          <p:cNvSpPr/>
          <p:nvPr/>
        </p:nvSpPr>
        <p:spPr>
          <a:xfrm>
            <a:off x="4515594" y="2752725"/>
            <a:ext cx="1600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Ingestione</a:t>
            </a:r>
            <a:endParaRPr lang="en-US" sz="1050" dirty="0"/>
          </a:p>
        </p:txBody>
      </p:sp>
      <p:sp>
        <p:nvSpPr>
          <p:cNvPr id="26" name="Text 6"/>
          <p:cNvSpPr/>
          <p:nvPr/>
        </p:nvSpPr>
        <p:spPr>
          <a:xfrm>
            <a:off x="4711601" y="3019425"/>
            <a:ext cx="118913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Parsing CSV e accodamento record</a:t>
            </a:r>
            <a:endParaRPr lang="en-US" sz="900" dirty="0"/>
          </a:p>
        </p:txBody>
      </p:sp>
      <p:sp>
        <p:nvSpPr>
          <p:cNvPr id="27" name="Text 7"/>
          <p:cNvSpPr/>
          <p:nvPr/>
        </p:nvSpPr>
        <p:spPr>
          <a:xfrm>
            <a:off x="6253371" y="2752725"/>
            <a:ext cx="176022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Simulazione</a:t>
            </a:r>
            <a:endParaRPr lang="en-US" sz="1050" dirty="0"/>
          </a:p>
        </p:txBody>
      </p:sp>
      <p:sp>
        <p:nvSpPr>
          <p:cNvPr id="28" name="Text 8"/>
          <p:cNvSpPr/>
          <p:nvPr/>
        </p:nvSpPr>
        <p:spPr>
          <a:xfrm>
            <a:off x="6529388" y="3019425"/>
            <a:ext cx="118913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Estrazione a intervalli fissi</a:t>
            </a:r>
            <a:endParaRPr lang="en-US" sz="900" dirty="0"/>
          </a:p>
        </p:txBody>
      </p:sp>
      <p:sp>
        <p:nvSpPr>
          <p:cNvPr id="29" name="Text 9"/>
          <p:cNvSpPr/>
          <p:nvPr/>
        </p:nvSpPr>
        <p:spPr>
          <a:xfrm>
            <a:off x="7911138" y="2752725"/>
            <a:ext cx="208026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Prediction</a:t>
            </a:r>
            <a:endParaRPr lang="en-US" sz="1050" dirty="0"/>
          </a:p>
        </p:txBody>
      </p:sp>
      <p:sp>
        <p:nvSpPr>
          <p:cNvPr id="30" name="Text 10"/>
          <p:cNvSpPr/>
          <p:nvPr/>
        </p:nvSpPr>
        <p:spPr>
          <a:xfrm>
            <a:off x="8347174" y="3019425"/>
            <a:ext cx="118913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Modello LSTM e confronto reale</a:t>
            </a:r>
            <a:endParaRPr lang="en-US" sz="900" dirty="0"/>
          </a:p>
        </p:txBody>
      </p:sp>
      <p:sp>
        <p:nvSpPr>
          <p:cNvPr id="31" name="Text 11"/>
          <p:cNvSpPr/>
          <p:nvPr/>
        </p:nvSpPr>
        <p:spPr>
          <a:xfrm>
            <a:off x="9968954" y="2752725"/>
            <a:ext cx="1600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SSE Stream</a:t>
            </a:r>
            <a:endParaRPr lang="en-US" sz="1050" dirty="0"/>
          </a:p>
        </p:txBody>
      </p:sp>
      <p:sp>
        <p:nvSpPr>
          <p:cNvPr id="32" name="Text 12"/>
          <p:cNvSpPr/>
          <p:nvPr/>
        </p:nvSpPr>
        <p:spPr>
          <a:xfrm>
            <a:off x="10164961" y="3019425"/>
            <a:ext cx="118913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Push real-time a tutti i client</a:t>
            </a:r>
            <a:endParaRPr lang="en-US" sz="900" dirty="0"/>
          </a:p>
        </p:txBody>
      </p:sp>
      <p:sp>
        <p:nvSpPr>
          <p:cNvPr id="33" name="Text 13"/>
          <p:cNvSpPr/>
          <p:nvPr/>
        </p:nvSpPr>
        <p:spPr>
          <a:xfrm>
            <a:off x="1143000" y="4181475"/>
            <a:ext cx="6172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Resilienza: Circuit Breaker</a:t>
            </a:r>
            <a:endParaRPr lang="en-US" sz="1500" dirty="0"/>
          </a:p>
        </p:txBody>
      </p:sp>
      <p:sp>
        <p:nvSpPr>
          <p:cNvPr id="34" name="Text 14"/>
          <p:cNvSpPr/>
          <p:nvPr/>
        </p:nvSpPr>
        <p:spPr>
          <a:xfrm>
            <a:off x="1143000" y="4524375"/>
            <a:ext cx="736092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Protezione del servizio di persistenza (DB).</a:t>
            </a:r>
            <a:endParaRPr lang="en-US" sz="1050" dirty="0"/>
          </a:p>
        </p:txBody>
      </p:sp>
      <p:sp>
        <p:nvSpPr>
          <p:cNvPr id="35" name="Text 15"/>
          <p:cNvSpPr/>
          <p:nvPr/>
        </p:nvSpPr>
        <p:spPr>
          <a:xfrm>
            <a:off x="1143000" y="4791075"/>
            <a:ext cx="912114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Finestra scorrevole per il monitoraggio dei fallimenti.</a:t>
            </a:r>
            <a:endParaRPr lang="en-US" sz="1050" dirty="0"/>
          </a:p>
        </p:txBody>
      </p:sp>
      <p:sp>
        <p:nvSpPr>
          <p:cNvPr id="36" name="Text 16"/>
          <p:cNvSpPr/>
          <p:nvPr/>
        </p:nvSpPr>
        <p:spPr>
          <a:xfrm>
            <a:off x="1143000" y="5057775"/>
            <a:ext cx="344760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Stato "Aperto" temporaneo per evitare sovraccarichi.</a:t>
            </a:r>
            <a:endParaRPr lang="en-US" sz="1050" dirty="0"/>
          </a:p>
        </p:txBody>
      </p:sp>
      <p:sp>
        <p:nvSpPr>
          <p:cNvPr id="37" name="Text 17"/>
          <p:cNvSpPr/>
          <p:nvPr/>
        </p:nvSpPr>
        <p:spPr>
          <a:xfrm>
            <a:off x="6250930" y="4181475"/>
            <a:ext cx="4572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Snapshot &amp; Real-time</a:t>
            </a:r>
            <a:endParaRPr lang="en-US" sz="1500" dirty="0"/>
          </a:p>
        </p:txBody>
      </p:sp>
      <p:sp>
        <p:nvSpPr>
          <p:cNvPr id="38" name="Text 18"/>
          <p:cNvSpPr/>
          <p:nvPr/>
        </p:nvSpPr>
        <p:spPr>
          <a:xfrm>
            <a:off x="6250930" y="4524375"/>
            <a:ext cx="78409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Facade mantiene uno snapshot volatile dei dati.</a:t>
            </a:r>
            <a:endParaRPr lang="en-US" sz="1050" dirty="0"/>
          </a:p>
        </p:txBody>
      </p:sp>
      <p:sp>
        <p:nvSpPr>
          <p:cNvPr id="39" name="Text 19"/>
          <p:cNvSpPr/>
          <p:nvPr/>
        </p:nvSpPr>
        <p:spPr>
          <a:xfrm>
            <a:off x="6250930" y="4791075"/>
            <a:ext cx="832104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Gestione parallela di multiple connessioni client.</a:t>
            </a:r>
            <a:endParaRPr lang="en-US" sz="1050" dirty="0"/>
          </a:p>
        </p:txBody>
      </p:sp>
      <p:sp>
        <p:nvSpPr>
          <p:cNvPr id="40" name="Text 20"/>
          <p:cNvSpPr/>
          <p:nvPr/>
        </p:nvSpPr>
        <p:spPr>
          <a:xfrm>
            <a:off x="6250930" y="5057775"/>
            <a:ext cx="768096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Pulizia telemetria e reset snapshot all'avvio.</a:t>
            </a:r>
            <a:endParaRPr lang="en-US" sz="1050" dirty="0"/>
          </a:p>
        </p:txBody>
      </p:sp>
      <p:sp>
        <p:nvSpPr>
          <p:cNvPr id="41" name="Text 21"/>
          <p:cNvSpPr/>
          <p:nvPr/>
        </p:nvSpPr>
        <p:spPr>
          <a:xfrm>
            <a:off x="381000" y="6324600"/>
            <a:ext cx="507492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spc="72" kern="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NEXUS ENERGY DISTRIBUTED ARCHITECTURE</a:t>
            </a:r>
            <a:endParaRPr lang="en-US" sz="900" dirty="0"/>
          </a:p>
        </p:txBody>
      </p:sp>
      <p:sp>
        <p:nvSpPr>
          <p:cNvPr id="42" name="Text 22"/>
          <p:cNvSpPr/>
          <p:nvPr/>
        </p:nvSpPr>
        <p:spPr>
          <a:xfrm>
            <a:off x="7566571" y="6324600"/>
            <a:ext cx="72694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spc="72" kern="0" dirty="0">
                <a:solidFill>
                  <a:srgbClr val="0064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COMPONENT: ENERGY-SERVER (SPRING BOOT / NODE.JS CORE)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47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47" cy="68580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4473" y="462857"/>
            <a:ext cx="1974616" cy="524571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7902" y="586286"/>
            <a:ext cx="285428" cy="277714"/>
          </a:xfrm>
          <a:prstGeom prst="rect">
            <a:avLst/>
          </a:prstGeom>
        </p:spPr>
      </p:pic>
      <p:pic>
        <p:nvPicPr>
          <p:cNvPr id="6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2857" y="1596857"/>
            <a:ext cx="11266232" cy="1235732"/>
          </a:xfrm>
          <a:prstGeom prst="rect">
            <a:avLst/>
          </a:prstGeom>
        </p:spPr>
      </p:pic>
      <p:pic>
        <p:nvPicPr>
          <p:cNvPr id="7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8000" y="1794777"/>
            <a:ext cx="192857" cy="190446"/>
          </a:xfrm>
          <a:prstGeom prst="rect">
            <a:avLst/>
          </a:prstGeom>
        </p:spPr>
      </p:pic>
      <p:pic>
        <p:nvPicPr>
          <p:cNvPr id="8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2857" y="3141161"/>
            <a:ext cx="3590759" cy="1681714"/>
          </a:xfrm>
          <a:prstGeom prst="rect">
            <a:avLst/>
          </a:prstGeom>
        </p:spPr>
      </p:pic>
      <p:pic>
        <p:nvPicPr>
          <p:cNvPr id="9" name="Image 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8000" y="3326303"/>
            <a:ext cx="285429" cy="277714"/>
          </a:xfrm>
          <a:prstGeom prst="rect">
            <a:avLst/>
          </a:prstGeom>
        </p:spPr>
      </p:pic>
      <p:pic>
        <p:nvPicPr>
          <p:cNvPr id="10" name="Image 8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00473" y="3141161"/>
            <a:ext cx="3590880" cy="1681714"/>
          </a:xfrm>
          <a:prstGeom prst="rect">
            <a:avLst/>
          </a:prstGeom>
        </p:spPr>
      </p:pic>
      <p:pic>
        <p:nvPicPr>
          <p:cNvPr id="11" name="Image 9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85616" y="3326303"/>
            <a:ext cx="324000" cy="277714"/>
          </a:xfrm>
          <a:prstGeom prst="rect">
            <a:avLst/>
          </a:prstGeom>
        </p:spPr>
      </p:pic>
      <p:pic>
        <p:nvPicPr>
          <p:cNvPr id="12" name="Image 10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38210" y="3141161"/>
            <a:ext cx="3590758" cy="1681714"/>
          </a:xfrm>
          <a:prstGeom prst="rect">
            <a:avLst/>
          </a:prstGeom>
        </p:spPr>
      </p:pic>
      <p:pic>
        <p:nvPicPr>
          <p:cNvPr id="13" name="Image 11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323352" y="3326303"/>
            <a:ext cx="285429" cy="277714"/>
          </a:xfrm>
          <a:prstGeom prst="rect">
            <a:avLst/>
          </a:prstGeom>
        </p:spPr>
      </p:pic>
      <p:pic>
        <p:nvPicPr>
          <p:cNvPr id="14" name="Image 12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62857" y="6140571"/>
            <a:ext cx="1126286" cy="256018"/>
          </a:xfrm>
          <a:prstGeom prst="rect">
            <a:avLst/>
          </a:prstGeom>
        </p:spPr>
      </p:pic>
      <p:pic>
        <p:nvPicPr>
          <p:cNvPr id="15" name="Image 13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681714" y="6140571"/>
            <a:ext cx="1566000" cy="256018"/>
          </a:xfrm>
          <a:prstGeom prst="rect">
            <a:avLst/>
          </a:prstGeom>
        </p:spPr>
      </p:pic>
      <p:pic>
        <p:nvPicPr>
          <p:cNvPr id="16" name="Image 14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340286" y="6140571"/>
            <a:ext cx="1195714" cy="256018"/>
          </a:xfrm>
          <a:prstGeom prst="rect">
            <a:avLst/>
          </a:prstGeom>
        </p:spPr>
      </p:pic>
      <p:pic>
        <p:nvPicPr>
          <p:cNvPr id="17" name="Image 15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628571" y="6140571"/>
            <a:ext cx="1350000" cy="256018"/>
          </a:xfrm>
          <a:prstGeom prst="rect">
            <a:avLst/>
          </a:prstGeom>
        </p:spPr>
      </p:pic>
      <p:pic>
        <p:nvPicPr>
          <p:cNvPr id="18" name="Image 16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071143" y="6140571"/>
            <a:ext cx="1319143" cy="256018"/>
          </a:xfrm>
          <a:prstGeom prst="rect">
            <a:avLst/>
          </a:prstGeom>
        </p:spPr>
      </p:pic>
      <p:pic>
        <p:nvPicPr>
          <p:cNvPr id="19" name="Image 17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482857" y="6140571"/>
            <a:ext cx="972000" cy="256018"/>
          </a:xfrm>
          <a:prstGeom prst="rect">
            <a:avLst/>
          </a:prstGeom>
        </p:spPr>
      </p:pic>
      <p:sp>
        <p:nvSpPr>
          <p:cNvPr id="20" name="Text 0"/>
          <p:cNvSpPr/>
          <p:nvPr/>
        </p:nvSpPr>
        <p:spPr>
          <a:xfrm>
            <a:off x="462857" y="462857"/>
            <a:ext cx="5352388" cy="914384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3600"/>
              </a:lnSpc>
              <a:buNone/>
            </a:pPr>
            <a:r>
              <a:rPr lang="en-US" sz="3600" b="1" spc="-89" kern="0" dirty="0">
                <a:solidFill>
                  <a:srgbClr val="0064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Resilienza con RabbitMQ</a:t>
            </a:r>
            <a:endParaRPr lang="en-US" sz="3600" dirty="0"/>
          </a:p>
        </p:txBody>
      </p:sp>
      <p:sp>
        <p:nvSpPr>
          <p:cNvPr id="21" name="Text 1"/>
          <p:cNvSpPr/>
          <p:nvPr/>
        </p:nvSpPr>
        <p:spPr>
          <a:xfrm>
            <a:off x="462857" y="1438955"/>
            <a:ext cx="12532219" cy="246857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1944"/>
              </a:lnSpc>
              <a:buNone/>
            </a:pPr>
            <a:r>
              <a:rPr lang="en-US" sz="18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Fallback Event-Driven &amp; Data Recovery</a:t>
            </a:r>
            <a:endParaRPr lang="en-US" sz="1800" dirty="0"/>
          </a:p>
        </p:txBody>
      </p:sp>
      <p:sp>
        <p:nvSpPr>
          <p:cNvPr id="22" name="Text 2"/>
          <p:cNvSpPr/>
          <p:nvPr/>
        </p:nvSpPr>
        <p:spPr>
          <a:xfrm>
            <a:off x="10255902" y="591830"/>
            <a:ext cx="1349758" cy="266625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1050"/>
              </a:lnSpc>
              <a:buNone/>
            </a:pPr>
            <a:r>
              <a:rPr lang="en-US" sz="1050" b="1" spc="52" kern="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FAULT TOLERANCE</a:t>
            </a:r>
            <a:pPr indent="0" marL="0">
              <a:lnSpc>
                <a:spcPts val="1050"/>
              </a:lnSpc>
              <a:buNone/>
            </a:pPr>
            <a:r>
              <a:rPr lang="en-US" sz="1050" b="1" spc="52" kern="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pPr indent="0" marL="0">
              <a:lnSpc>
                <a:spcPts val="1050"/>
              </a:lnSpc>
              <a:buNone/>
            </a:pPr>
            <a:r>
              <a:rPr lang="en-US" sz="1050" b="1" spc="52" kern="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ENGINE</a:t>
            </a:r>
            <a:endParaRPr lang="en-US" sz="1050" dirty="0"/>
          </a:p>
        </p:txBody>
      </p:sp>
      <p:sp>
        <p:nvSpPr>
          <p:cNvPr id="23" name="Text 3"/>
          <p:cNvSpPr/>
          <p:nvPr/>
        </p:nvSpPr>
        <p:spPr>
          <a:xfrm>
            <a:off x="902571" y="1782000"/>
            <a:ext cx="10895947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1701"/>
              </a:lnSpc>
              <a:buNone/>
            </a:pPr>
            <a:r>
              <a:rPr lang="en-US" sz="1500" b="1" dirty="0">
                <a:solidFill>
                  <a:srgbClr val="0064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Strategia di Fallback</a:t>
            </a:r>
            <a:endParaRPr lang="en-US" sz="1500" dirty="0"/>
          </a:p>
        </p:txBody>
      </p:sp>
      <p:sp>
        <p:nvSpPr>
          <p:cNvPr id="24" name="Text 4"/>
          <p:cNvSpPr/>
          <p:nvPr/>
        </p:nvSpPr>
        <p:spPr>
          <a:xfrm>
            <a:off x="648000" y="2090571"/>
            <a:ext cx="10865089" cy="556875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2194"/>
              </a:lnSpc>
              <a:buNone/>
            </a:pPr>
            <a:r>
              <a:rPr lang="en-US" sz="13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RabbitMQ non agisce come coda primaria, ma come un </a:t>
            </a:r>
            <a:pPr indent="0" marL="0">
              <a:lnSpc>
                <a:spcPts val="2194"/>
              </a:lnSpc>
              <a:buNone/>
            </a:pPr>
            <a:r>
              <a:rPr lang="en-US" sz="1350" b="1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buffer persistente</a:t>
            </a:r>
            <a:pPr indent="0" marL="0">
              <a:lnSpc>
                <a:spcPts val="2194"/>
              </a:lnSpc>
              <a:buNone/>
            </a:pPr>
            <a:r>
              <a:rPr lang="en-US" sz="13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attivato dal </a:t>
            </a:r>
            <a:pPr indent="0" marL="0">
              <a:lnSpc>
                <a:spcPts val="2194"/>
              </a:lnSpc>
              <a:buNone/>
            </a:pPr>
            <a:r>
              <a:rPr lang="en-US" sz="1350" b="1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Circuit Breaker</a:t>
            </a:r>
            <a:pPr indent="0" marL="0">
              <a:lnSpc>
                <a:spcPts val="2194"/>
              </a:lnSpc>
              <a:buNone/>
            </a:pPr>
            <a:r>
              <a:rPr lang="en-US" sz="13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Quando il Database è indisponibile, i flussi di telemetria vengono dirottati per prevenire la perdita di dati.</a:t>
            </a:r>
            <a:endParaRPr lang="en-US" sz="1350" dirty="0"/>
          </a:p>
        </p:txBody>
      </p:sp>
      <p:sp>
        <p:nvSpPr>
          <p:cNvPr id="25" name="Text 5"/>
          <p:cNvSpPr/>
          <p:nvPr/>
        </p:nvSpPr>
        <p:spPr>
          <a:xfrm>
            <a:off x="648000" y="3763125"/>
            <a:ext cx="5080635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1701"/>
              </a:lnSpc>
              <a:buNone/>
            </a:pPr>
            <a:r>
              <a:rPr lang="en-US" sz="1350" b="1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Publisher &amp; Exchange</a:t>
            </a:r>
            <a:endParaRPr lang="en-US" sz="1350" dirty="0"/>
          </a:p>
        </p:txBody>
      </p:sp>
      <p:sp>
        <p:nvSpPr>
          <p:cNvPr id="26" name="Text 6"/>
          <p:cNvSpPr/>
          <p:nvPr/>
        </p:nvSpPr>
        <p:spPr>
          <a:xfrm>
            <a:off x="648000" y="4040839"/>
            <a:ext cx="7310465" cy="154286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</a:t>
            </a:r>
            <a:pPr algn="l" indent="0" marL="0">
              <a:lnSpc>
                <a:spcPts val="1215"/>
              </a:lnSpc>
              <a:buNone/>
            </a:pPr>
            <a:r>
              <a:rPr lang="en-US" sz="1050" b="1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TopicExchange</a:t>
            </a:r>
            <a:pPr algn="l" indent="0" marL="0">
              <a:lnSpc>
                <a:spcPts val="1215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per routing granulare</a:t>
            </a:r>
            <a:endParaRPr lang="en-US" sz="1050" dirty="0"/>
          </a:p>
        </p:txBody>
      </p:sp>
      <p:sp>
        <p:nvSpPr>
          <p:cNvPr id="27" name="Text 7"/>
          <p:cNvSpPr/>
          <p:nvPr/>
        </p:nvSpPr>
        <p:spPr>
          <a:xfrm>
            <a:off x="648000" y="4256839"/>
            <a:ext cx="8100785" cy="154286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</a:t>
            </a:r>
            <a:pPr algn="l" indent="0" marL="0">
              <a:lnSpc>
                <a:spcPts val="1215"/>
              </a:lnSpc>
              <a:buNone/>
            </a:pPr>
            <a:r>
              <a:rPr lang="en-US" sz="1050" b="1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Publisher-Confirm</a:t>
            </a:r>
            <a:pPr algn="l" indent="0" marL="0">
              <a:lnSpc>
                <a:spcPts val="1215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per garanzia consegna</a:t>
            </a:r>
            <a:endParaRPr lang="en-US" sz="1050" dirty="0"/>
          </a:p>
        </p:txBody>
      </p:sp>
      <p:sp>
        <p:nvSpPr>
          <p:cNvPr id="28" name="Text 8"/>
          <p:cNvSpPr/>
          <p:nvPr/>
        </p:nvSpPr>
        <p:spPr>
          <a:xfrm>
            <a:off x="648000" y="4472839"/>
            <a:ext cx="5729824" cy="154286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Serializzazione JSON sicura</a:t>
            </a:r>
            <a:endParaRPr lang="en-US" sz="1050" dirty="0"/>
          </a:p>
        </p:txBody>
      </p:sp>
      <p:sp>
        <p:nvSpPr>
          <p:cNvPr id="29" name="Text 9"/>
          <p:cNvSpPr/>
          <p:nvPr/>
        </p:nvSpPr>
        <p:spPr>
          <a:xfrm>
            <a:off x="4485616" y="3763125"/>
            <a:ext cx="3302413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1701"/>
              </a:lnSpc>
              <a:buNone/>
            </a:pPr>
            <a:r>
              <a:rPr lang="en-US" sz="1350" b="1" dirty="0">
                <a:solidFill>
                  <a:srgbClr val="0064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Quorum Queues</a:t>
            </a:r>
            <a:endParaRPr lang="en-US" sz="1350" dirty="0"/>
          </a:p>
        </p:txBody>
      </p:sp>
      <p:sp>
        <p:nvSpPr>
          <p:cNvPr id="30" name="Text 10"/>
          <p:cNvSpPr/>
          <p:nvPr/>
        </p:nvSpPr>
        <p:spPr>
          <a:xfrm>
            <a:off x="4485616" y="4040839"/>
            <a:ext cx="6124984" cy="154286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</a:t>
            </a:r>
            <a:pPr algn="l" indent="0" marL="0">
              <a:lnSpc>
                <a:spcPts val="1215"/>
              </a:lnSpc>
              <a:buNone/>
            </a:pPr>
            <a:r>
              <a:rPr lang="en-US" sz="1050" b="1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 Availability</a:t>
            </a:r>
            <a:pPr algn="l" indent="0" marL="0">
              <a:lnSpc>
                <a:spcPts val="1215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distribuita</a:t>
            </a:r>
            <a:endParaRPr lang="en-US" sz="1050" dirty="0"/>
          </a:p>
        </p:txBody>
      </p:sp>
      <p:sp>
        <p:nvSpPr>
          <p:cNvPr id="31" name="Text 11"/>
          <p:cNvSpPr/>
          <p:nvPr/>
        </p:nvSpPr>
        <p:spPr>
          <a:xfrm>
            <a:off x="4485616" y="4256839"/>
            <a:ext cx="7112884" cy="154286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</a:t>
            </a:r>
            <a:pPr algn="l" indent="0" marL="0">
              <a:lnSpc>
                <a:spcPts val="1215"/>
              </a:lnSpc>
              <a:buNone/>
            </a:pPr>
            <a:r>
              <a:rPr lang="en-US" sz="1050" b="1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Dead Letter Queue (DLQ)</a:t>
            </a:r>
            <a:pPr algn="l" indent="0" marL="0">
              <a:lnSpc>
                <a:spcPts val="1215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per scarti</a:t>
            </a:r>
            <a:endParaRPr lang="en-US" sz="1050" dirty="0"/>
          </a:p>
        </p:txBody>
      </p:sp>
      <p:sp>
        <p:nvSpPr>
          <p:cNvPr id="32" name="Text 12"/>
          <p:cNvSpPr/>
          <p:nvPr/>
        </p:nvSpPr>
        <p:spPr>
          <a:xfrm>
            <a:off x="4485616" y="4472839"/>
            <a:ext cx="6717724" cy="154286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TTL e Delivery Limit configurati</a:t>
            </a:r>
            <a:endParaRPr lang="en-US" sz="1050" dirty="0"/>
          </a:p>
        </p:txBody>
      </p:sp>
      <p:sp>
        <p:nvSpPr>
          <p:cNvPr id="33" name="Text 13"/>
          <p:cNvSpPr/>
          <p:nvPr/>
        </p:nvSpPr>
        <p:spPr>
          <a:xfrm>
            <a:off x="8323352" y="3763125"/>
            <a:ext cx="5334667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1701"/>
              </a:lnSpc>
              <a:buNone/>
            </a:pPr>
            <a:r>
              <a:rPr lang="en-US" sz="1350" b="1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Self-Healing Consumer</a:t>
            </a:r>
            <a:endParaRPr lang="en-US" sz="1350" dirty="0"/>
          </a:p>
        </p:txBody>
      </p:sp>
      <p:sp>
        <p:nvSpPr>
          <p:cNvPr id="34" name="Text 14"/>
          <p:cNvSpPr/>
          <p:nvPr/>
        </p:nvSpPr>
        <p:spPr>
          <a:xfrm>
            <a:off x="8323352" y="4040839"/>
            <a:ext cx="6915304" cy="154286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Riconciliazione automatica con DB</a:t>
            </a:r>
            <a:endParaRPr lang="en-US" sz="1050" dirty="0"/>
          </a:p>
        </p:txBody>
      </p:sp>
      <p:sp>
        <p:nvSpPr>
          <p:cNvPr id="35" name="Text 15"/>
          <p:cNvSpPr/>
          <p:nvPr/>
        </p:nvSpPr>
        <p:spPr>
          <a:xfrm>
            <a:off x="8323352" y="4256839"/>
            <a:ext cx="6717724" cy="154286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Verifica duplicati (Idempotenza)</a:t>
            </a:r>
            <a:endParaRPr lang="en-US" sz="1050" dirty="0"/>
          </a:p>
        </p:txBody>
      </p:sp>
      <p:sp>
        <p:nvSpPr>
          <p:cNvPr id="36" name="Text 16"/>
          <p:cNvSpPr/>
          <p:nvPr/>
        </p:nvSpPr>
        <p:spPr>
          <a:xfrm>
            <a:off x="8323352" y="4472839"/>
            <a:ext cx="7112884" cy="154286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Re-queueing intelligente su errore</a:t>
            </a:r>
            <a:endParaRPr lang="en-US" sz="1050" dirty="0"/>
          </a:p>
        </p:txBody>
      </p:sp>
      <p:sp>
        <p:nvSpPr>
          <p:cNvPr id="37" name="Text 17"/>
          <p:cNvSpPr/>
          <p:nvPr/>
        </p:nvSpPr>
        <p:spPr>
          <a:xfrm>
            <a:off x="462857" y="5893714"/>
            <a:ext cx="11266232" cy="123429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972"/>
              </a:lnSpc>
              <a:buNone/>
            </a:pPr>
            <a:r>
              <a:rPr lang="en-US" sz="900" b="1" spc="89" kern="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PATTERN ARCHITETTURALI IMPLEMENTATI</a:t>
            </a:r>
            <a:endParaRPr lang="en-US" sz="900" dirty="0"/>
          </a:p>
        </p:txBody>
      </p:sp>
      <p:sp>
        <p:nvSpPr>
          <p:cNvPr id="38" name="Text 18"/>
          <p:cNvSpPr/>
          <p:nvPr/>
        </p:nvSpPr>
        <p:spPr>
          <a:xfrm>
            <a:off x="555429" y="6140571"/>
            <a:ext cx="2294673" cy="256018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1530"/>
              </a:lnSpc>
              <a:buNone/>
            </a:pPr>
            <a:r>
              <a:rPr lang="en-US" sz="102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Circuit Breaker</a:t>
            </a:r>
            <a:endParaRPr lang="en-US" sz="1020" dirty="0"/>
          </a:p>
        </p:txBody>
      </p:sp>
      <p:sp>
        <p:nvSpPr>
          <p:cNvPr id="39" name="Text 19"/>
          <p:cNvSpPr/>
          <p:nvPr/>
        </p:nvSpPr>
        <p:spPr>
          <a:xfrm>
            <a:off x="1774286" y="6140571"/>
            <a:ext cx="3442252" cy="256018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1530"/>
              </a:lnSpc>
              <a:buNone/>
            </a:pPr>
            <a:r>
              <a:rPr lang="en-US" sz="102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Event-Driven Fallback</a:t>
            </a:r>
            <a:endParaRPr lang="en-US" sz="1020" dirty="0"/>
          </a:p>
        </p:txBody>
      </p:sp>
      <p:sp>
        <p:nvSpPr>
          <p:cNvPr id="40" name="Text 20"/>
          <p:cNvSpPr/>
          <p:nvPr/>
        </p:nvSpPr>
        <p:spPr>
          <a:xfrm>
            <a:off x="3432857" y="6140571"/>
            <a:ext cx="2018123" cy="256018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1530"/>
              </a:lnSpc>
              <a:buNone/>
            </a:pPr>
            <a:r>
              <a:rPr lang="en-US" sz="102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Message Queue</a:t>
            </a:r>
            <a:endParaRPr lang="en-US" sz="1020" dirty="0"/>
          </a:p>
        </p:txBody>
      </p:sp>
      <p:sp>
        <p:nvSpPr>
          <p:cNvPr id="41" name="Text 21"/>
          <p:cNvSpPr/>
          <p:nvPr/>
        </p:nvSpPr>
        <p:spPr>
          <a:xfrm>
            <a:off x="4721143" y="6140571"/>
            <a:ext cx="2710376" cy="256018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1530"/>
              </a:lnSpc>
              <a:buNone/>
            </a:pPr>
            <a:r>
              <a:rPr lang="en-US" sz="102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Dead Letter Queue</a:t>
            </a:r>
            <a:endParaRPr lang="en-US" sz="1020" dirty="0"/>
          </a:p>
        </p:txBody>
      </p:sp>
      <p:sp>
        <p:nvSpPr>
          <p:cNvPr id="42" name="Text 22"/>
          <p:cNvSpPr/>
          <p:nvPr/>
        </p:nvSpPr>
        <p:spPr>
          <a:xfrm>
            <a:off x="6163714" y="6140571"/>
            <a:ext cx="2697452" cy="256018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1530"/>
              </a:lnSpc>
              <a:buNone/>
            </a:pPr>
            <a:r>
              <a:rPr lang="en-US" sz="102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Publisher-Confirm</a:t>
            </a:r>
            <a:endParaRPr lang="en-US" sz="1020" dirty="0"/>
          </a:p>
        </p:txBody>
      </p:sp>
      <p:sp>
        <p:nvSpPr>
          <p:cNvPr id="43" name="Text 23"/>
          <p:cNvSpPr/>
          <p:nvPr/>
        </p:nvSpPr>
        <p:spPr>
          <a:xfrm>
            <a:off x="7575428" y="6140571"/>
            <a:ext cx="1761535" cy="256018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1530"/>
              </a:lnSpc>
              <a:buNone/>
            </a:pPr>
            <a:r>
              <a:rPr lang="en-US" sz="102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Self-Healing</a:t>
            </a:r>
            <a:endParaRPr lang="en-US" sz="10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81000"/>
            <a:ext cx="11430000" cy="6858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4234" y="1371600"/>
            <a:ext cx="609600" cy="45720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84734" y="1447800"/>
            <a:ext cx="228600" cy="304800"/>
          </a:xfrm>
          <a:prstGeom prst="rect">
            <a:avLst/>
          </a:prstGeom>
        </p:spPr>
      </p:pic>
      <p:pic>
        <p:nvPicPr>
          <p:cNvPr id="6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" y="1905000"/>
            <a:ext cx="2531269" cy="457200"/>
          </a:xfrm>
          <a:prstGeom prst="rect">
            <a:avLst/>
          </a:prstGeom>
        </p:spPr>
      </p:pic>
      <p:pic>
        <p:nvPicPr>
          <p:cNvPr id="7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59919" y="1905000"/>
            <a:ext cx="142875" cy="304800"/>
          </a:xfrm>
          <a:prstGeom prst="rect">
            <a:avLst/>
          </a:prstGeom>
        </p:spPr>
      </p:pic>
      <p:pic>
        <p:nvPicPr>
          <p:cNvPr id="8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58878" y="1371600"/>
            <a:ext cx="609600" cy="457200"/>
          </a:xfrm>
          <a:prstGeom prst="rect">
            <a:avLst/>
          </a:prstGeom>
        </p:spPr>
      </p:pic>
      <p:pic>
        <p:nvPicPr>
          <p:cNvPr id="9" name="Image 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49378" y="1447800"/>
            <a:ext cx="228600" cy="304800"/>
          </a:xfrm>
          <a:prstGeom prst="rect">
            <a:avLst/>
          </a:prstGeom>
        </p:spPr>
      </p:pic>
      <p:pic>
        <p:nvPicPr>
          <p:cNvPr id="10" name="Image 8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398044" y="1905000"/>
            <a:ext cx="2531269" cy="457200"/>
          </a:xfrm>
          <a:prstGeom prst="rect">
            <a:avLst/>
          </a:prstGeom>
        </p:spPr>
      </p:pic>
      <p:pic>
        <p:nvPicPr>
          <p:cNvPr id="11" name="Image 9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24563" y="1905000"/>
            <a:ext cx="142875" cy="304800"/>
          </a:xfrm>
          <a:prstGeom prst="rect">
            <a:avLst/>
          </a:prstGeom>
        </p:spPr>
      </p:pic>
      <p:pic>
        <p:nvPicPr>
          <p:cNvPr id="12" name="Image 10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223522" y="1371600"/>
            <a:ext cx="609600" cy="457200"/>
          </a:xfrm>
          <a:prstGeom prst="rect">
            <a:avLst/>
          </a:prstGeom>
        </p:spPr>
      </p:pic>
      <p:pic>
        <p:nvPicPr>
          <p:cNvPr id="13" name="Image 11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428309" y="1447800"/>
            <a:ext cx="200025" cy="304800"/>
          </a:xfrm>
          <a:prstGeom prst="rect">
            <a:avLst/>
          </a:prstGeom>
        </p:spPr>
      </p:pic>
      <p:pic>
        <p:nvPicPr>
          <p:cNvPr id="14" name="Image 12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262688" y="1905000"/>
            <a:ext cx="2531269" cy="457200"/>
          </a:xfrm>
          <a:prstGeom prst="rect">
            <a:avLst/>
          </a:prstGeom>
        </p:spPr>
      </p:pic>
      <p:pic>
        <p:nvPicPr>
          <p:cNvPr id="15" name="Image 13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889206" y="1905000"/>
            <a:ext cx="142875" cy="304800"/>
          </a:xfrm>
          <a:prstGeom prst="rect">
            <a:avLst/>
          </a:prstGeom>
        </p:spPr>
      </p:pic>
      <p:pic>
        <p:nvPicPr>
          <p:cNvPr id="16" name="Image 14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088166" y="1371600"/>
            <a:ext cx="609600" cy="609600"/>
          </a:xfrm>
          <a:prstGeom prst="rect">
            <a:avLst/>
          </a:prstGeom>
        </p:spPr>
      </p:pic>
      <p:pic>
        <p:nvPicPr>
          <p:cNvPr id="17" name="Image 15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278666" y="1524000"/>
            <a:ext cx="228600" cy="304800"/>
          </a:xfrm>
          <a:prstGeom prst="rect">
            <a:avLst/>
          </a:prstGeom>
        </p:spPr>
      </p:pic>
      <p:pic>
        <p:nvPicPr>
          <p:cNvPr id="18" name="Image 16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127331" y="2057400"/>
            <a:ext cx="2531269" cy="457200"/>
          </a:xfrm>
          <a:prstGeom prst="rect">
            <a:avLst/>
          </a:prstGeom>
        </p:spPr>
      </p:pic>
      <p:pic>
        <p:nvPicPr>
          <p:cNvPr id="19" name="Image 17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81000" y="3124200"/>
            <a:ext cx="5562600" cy="3352800"/>
          </a:xfrm>
          <a:prstGeom prst="rect">
            <a:avLst/>
          </a:prstGeom>
        </p:spPr>
      </p:pic>
      <p:pic>
        <p:nvPicPr>
          <p:cNvPr id="20" name="Image 18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09600" y="3390900"/>
            <a:ext cx="190500" cy="190500"/>
          </a:xfrm>
          <a:prstGeom prst="rect">
            <a:avLst/>
          </a:prstGeom>
        </p:spPr>
      </p:pic>
      <p:pic>
        <p:nvPicPr>
          <p:cNvPr id="21" name="Image 19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09600" y="3810000"/>
            <a:ext cx="114300" cy="190500"/>
          </a:xfrm>
          <a:prstGeom prst="rect">
            <a:avLst/>
          </a:prstGeom>
        </p:spPr>
      </p:pic>
      <p:pic>
        <p:nvPicPr>
          <p:cNvPr id="22" name="Image 20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09600" y="4381500"/>
            <a:ext cx="114300" cy="190500"/>
          </a:xfrm>
          <a:prstGeom prst="rect">
            <a:avLst/>
          </a:prstGeom>
        </p:spPr>
      </p:pic>
      <p:pic>
        <p:nvPicPr>
          <p:cNvPr id="23" name="Image 21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09600" y="4953000"/>
            <a:ext cx="114300" cy="190500"/>
          </a:xfrm>
          <a:prstGeom prst="rect">
            <a:avLst/>
          </a:prstGeom>
        </p:spPr>
      </p:pic>
      <p:pic>
        <p:nvPicPr>
          <p:cNvPr id="24" name="Image 22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248400" y="3124200"/>
            <a:ext cx="5562600" cy="3352800"/>
          </a:xfrm>
          <a:prstGeom prst="rect">
            <a:avLst/>
          </a:prstGeom>
        </p:spPr>
      </p:pic>
      <p:pic>
        <p:nvPicPr>
          <p:cNvPr id="25" name="Image 23" descr="preencoded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477000" y="3390900"/>
            <a:ext cx="171450" cy="190500"/>
          </a:xfrm>
          <a:prstGeom prst="rect">
            <a:avLst/>
          </a:prstGeom>
        </p:spPr>
      </p:pic>
      <p:pic>
        <p:nvPicPr>
          <p:cNvPr id="26" name="Image 24" descr="preencoded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477000" y="4114800"/>
            <a:ext cx="3381375" cy="838200"/>
          </a:xfrm>
          <a:prstGeom prst="rect">
            <a:avLst/>
          </a:prstGeom>
        </p:spPr>
      </p:pic>
      <p:pic>
        <p:nvPicPr>
          <p:cNvPr id="27" name="Image 25" descr="preencoded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6477000" y="5067300"/>
            <a:ext cx="3381375" cy="838200"/>
          </a:xfrm>
          <a:prstGeom prst="rect">
            <a:avLst/>
          </a:prstGeom>
        </p:spPr>
      </p:pic>
      <p:pic>
        <p:nvPicPr>
          <p:cNvPr id="28" name="Image 26" descr="preencoded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0010775" y="3771900"/>
            <a:ext cx="1524000" cy="1524000"/>
          </a:xfrm>
          <a:prstGeom prst="rect">
            <a:avLst/>
          </a:prstGeom>
        </p:spPr>
      </p:pic>
      <p:sp>
        <p:nvSpPr>
          <p:cNvPr id="29" name="Text 0"/>
          <p:cNvSpPr/>
          <p:nvPr/>
        </p:nvSpPr>
        <p:spPr>
          <a:xfrm>
            <a:off x="609600" y="381000"/>
            <a:ext cx="14401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3000"/>
              </a:lnSpc>
              <a:buNone/>
            </a:pPr>
            <a:r>
              <a:rPr lang="en-US" sz="2700" b="1" spc="-54" kern="0" dirty="0">
                <a:solidFill>
                  <a:srgbClr val="0064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Osservabilità: ELK Stack e Telegram</a:t>
            </a:r>
            <a:endParaRPr lang="en-US" sz="2700" dirty="0"/>
          </a:p>
        </p:txBody>
      </p:sp>
      <p:sp>
        <p:nvSpPr>
          <p:cNvPr id="30" name="Text 1"/>
          <p:cNvSpPr/>
          <p:nvPr/>
        </p:nvSpPr>
        <p:spPr>
          <a:xfrm>
            <a:off x="609600" y="800100"/>
            <a:ext cx="123444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di logging centralizzata e alerting proattivo</a:t>
            </a:r>
            <a:endParaRPr lang="en-US" sz="1500" dirty="0"/>
          </a:p>
        </p:txBody>
      </p:sp>
      <p:sp>
        <p:nvSpPr>
          <p:cNvPr id="31" name="Text 2"/>
          <p:cNvSpPr/>
          <p:nvPr/>
        </p:nvSpPr>
        <p:spPr>
          <a:xfrm>
            <a:off x="533400" y="1905000"/>
            <a:ext cx="230266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Nexus Server</a:t>
            </a:r>
            <a:endParaRPr lang="en-US" sz="1200" dirty="0"/>
          </a:p>
        </p:txBody>
      </p:sp>
      <p:sp>
        <p:nvSpPr>
          <p:cNvPr id="32" name="Text 3"/>
          <p:cNvSpPr/>
          <p:nvPr/>
        </p:nvSpPr>
        <p:spPr>
          <a:xfrm>
            <a:off x="1419225" y="2438400"/>
            <a:ext cx="75947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JSON via TCP</a:t>
            </a:r>
            <a:endParaRPr lang="en-US" sz="900" dirty="0"/>
          </a:p>
        </p:txBody>
      </p:sp>
      <p:sp>
        <p:nvSpPr>
          <p:cNvPr id="33" name="Text 4"/>
          <p:cNvSpPr/>
          <p:nvPr/>
        </p:nvSpPr>
        <p:spPr>
          <a:xfrm>
            <a:off x="3398044" y="1905000"/>
            <a:ext cx="230266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Logstash</a:t>
            </a:r>
            <a:endParaRPr lang="en-US" sz="1200" dirty="0"/>
          </a:p>
        </p:txBody>
      </p:sp>
      <p:sp>
        <p:nvSpPr>
          <p:cNvPr id="34" name="Text 5"/>
          <p:cNvSpPr/>
          <p:nvPr/>
        </p:nvSpPr>
        <p:spPr>
          <a:xfrm>
            <a:off x="4026247" y="2438400"/>
            <a:ext cx="127471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Normalizzazione &amp; Filtri</a:t>
            </a:r>
            <a:endParaRPr lang="en-US" sz="900" dirty="0"/>
          </a:p>
        </p:txBody>
      </p:sp>
      <p:sp>
        <p:nvSpPr>
          <p:cNvPr id="35" name="Text 6"/>
          <p:cNvSpPr/>
          <p:nvPr/>
        </p:nvSpPr>
        <p:spPr>
          <a:xfrm>
            <a:off x="6262688" y="1905000"/>
            <a:ext cx="230266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Elasticsearch</a:t>
            </a:r>
            <a:endParaRPr lang="en-US" sz="1200" dirty="0"/>
          </a:p>
        </p:txBody>
      </p:sp>
      <p:sp>
        <p:nvSpPr>
          <p:cNvPr id="36" name="Text 7"/>
          <p:cNvSpPr/>
          <p:nvPr/>
        </p:nvSpPr>
        <p:spPr>
          <a:xfrm>
            <a:off x="6832104" y="2438400"/>
            <a:ext cx="139228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Indicizzazione Giornaliera</a:t>
            </a:r>
            <a:endParaRPr lang="en-US" sz="900" dirty="0"/>
          </a:p>
        </p:txBody>
      </p:sp>
      <p:sp>
        <p:nvSpPr>
          <p:cNvPr id="37" name="Text 8"/>
          <p:cNvSpPr/>
          <p:nvPr/>
        </p:nvSpPr>
        <p:spPr>
          <a:xfrm>
            <a:off x="9127331" y="2057400"/>
            <a:ext cx="230266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Kibana</a:t>
            </a:r>
            <a:endParaRPr lang="en-US" sz="1200" dirty="0"/>
          </a:p>
        </p:txBody>
      </p:sp>
      <p:sp>
        <p:nvSpPr>
          <p:cNvPr id="38" name="Text 9"/>
          <p:cNvSpPr/>
          <p:nvPr/>
        </p:nvSpPr>
        <p:spPr>
          <a:xfrm>
            <a:off x="9852273" y="2590800"/>
            <a:ext cx="26060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 &amp; Analisi</a:t>
            </a:r>
            <a:endParaRPr lang="en-US" sz="900" dirty="0"/>
          </a:p>
        </p:txBody>
      </p:sp>
      <p:sp>
        <p:nvSpPr>
          <p:cNvPr id="39" name="Text 10"/>
          <p:cNvSpPr/>
          <p:nvPr/>
        </p:nvSpPr>
        <p:spPr>
          <a:xfrm>
            <a:off x="914400" y="3352800"/>
            <a:ext cx="51054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64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Centralized Logging</a:t>
            </a:r>
            <a:endParaRPr lang="en-US" sz="1500" dirty="0"/>
          </a:p>
        </p:txBody>
      </p:sp>
      <p:sp>
        <p:nvSpPr>
          <p:cNvPr id="40" name="Text 11"/>
          <p:cNvSpPr/>
          <p:nvPr/>
        </p:nvSpPr>
        <p:spPr>
          <a:xfrm>
            <a:off x="800100" y="3771900"/>
            <a:ext cx="4914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Structured Logging: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Invio di log INFO+ in formato JSON strutturato (timestamp, contesto, livello).</a:t>
            </a:r>
            <a:endParaRPr lang="en-US" sz="1200" dirty="0"/>
          </a:p>
        </p:txBody>
      </p:sp>
      <p:sp>
        <p:nvSpPr>
          <p:cNvPr id="41" name="Text 12"/>
          <p:cNvSpPr/>
          <p:nvPr/>
        </p:nvSpPr>
        <p:spPr>
          <a:xfrm>
            <a:off x="800100" y="4343400"/>
            <a:ext cx="4914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Filtri Logstash: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Conversione dei campi per eventi di anomalia e normalizzazione dei dati temporali.</a:t>
            </a:r>
            <a:endParaRPr lang="en-US" sz="1200" dirty="0"/>
          </a:p>
        </p:txBody>
      </p:sp>
      <p:sp>
        <p:nvSpPr>
          <p:cNvPr id="42" name="Text 13"/>
          <p:cNvSpPr/>
          <p:nvPr/>
        </p:nvSpPr>
        <p:spPr>
          <a:xfrm>
            <a:off x="800100" y="4914900"/>
            <a:ext cx="4914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Storage: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Indici Elasticsearch ottimizzati per la ricerca rapida di pattern di errore.</a:t>
            </a:r>
            <a:endParaRPr lang="en-US" sz="1200" dirty="0"/>
          </a:p>
        </p:txBody>
      </p:sp>
      <p:sp>
        <p:nvSpPr>
          <p:cNvPr id="43" name="Text 14"/>
          <p:cNvSpPr/>
          <p:nvPr/>
        </p:nvSpPr>
        <p:spPr>
          <a:xfrm>
            <a:off x="6762750" y="3352800"/>
            <a:ext cx="51054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64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Alerting su Telegram</a:t>
            </a:r>
            <a:endParaRPr lang="en-US" sz="1500" dirty="0"/>
          </a:p>
        </p:txBody>
      </p:sp>
      <p:sp>
        <p:nvSpPr>
          <p:cNvPr id="44" name="Text 15"/>
          <p:cNvSpPr/>
          <p:nvPr/>
        </p:nvSpPr>
        <p:spPr>
          <a:xfrm>
            <a:off x="6477000" y="3771900"/>
            <a:ext cx="816102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Integrazione condizionale Logstash -&gt; Telegram API:</a:t>
            </a:r>
            <a:endParaRPr lang="en-US" sz="1050" dirty="0"/>
          </a:p>
        </p:txBody>
      </p:sp>
      <p:sp>
        <p:nvSpPr>
          <p:cNvPr id="45" name="Text 16"/>
          <p:cNvSpPr/>
          <p:nvPr/>
        </p:nvSpPr>
        <p:spPr>
          <a:xfrm>
            <a:off x="6591300" y="4286250"/>
            <a:ext cx="2057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EA580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DATABASE STRESS</a:t>
            </a:r>
            <a:endParaRPr lang="en-US" sz="900" dirty="0"/>
          </a:p>
        </p:txBody>
      </p:sp>
      <p:sp>
        <p:nvSpPr>
          <p:cNvPr id="46" name="Text 17"/>
          <p:cNvSpPr/>
          <p:nvPr/>
        </p:nvSpPr>
        <p:spPr>
          <a:xfrm>
            <a:off x="6591300" y="4457700"/>
            <a:ext cx="31337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Alert immediato se viene attivato il fallback Circuit Breaker.</a:t>
            </a:r>
            <a:endParaRPr lang="en-US" sz="1050" dirty="0"/>
          </a:p>
        </p:txBody>
      </p:sp>
      <p:sp>
        <p:nvSpPr>
          <p:cNvPr id="47" name="Text 18"/>
          <p:cNvSpPr/>
          <p:nvPr/>
        </p:nvSpPr>
        <p:spPr>
          <a:xfrm>
            <a:off x="6591300" y="5238750"/>
            <a:ext cx="150876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EA580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ANOMALIA AI</a:t>
            </a:r>
            <a:endParaRPr lang="en-US" sz="900" dirty="0"/>
          </a:p>
        </p:txBody>
      </p:sp>
      <p:sp>
        <p:nvSpPr>
          <p:cNvPr id="48" name="Text 19"/>
          <p:cNvSpPr/>
          <p:nvPr/>
        </p:nvSpPr>
        <p:spPr>
          <a:xfrm>
            <a:off x="6591300" y="5410200"/>
            <a:ext cx="31337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Notifica se la deviazione predetta supera la soglia critica.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27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833" y="337833"/>
            <a:ext cx="11516261" cy="608098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833" y="1587813"/>
            <a:ext cx="3703621" cy="145268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532" y="1790512"/>
            <a:ext cx="253374" cy="270266"/>
          </a:xfrm>
          <a:prstGeom prst="rect">
            <a:avLst/>
          </a:prstGeom>
        </p:spPr>
      </p:pic>
      <p:pic>
        <p:nvPicPr>
          <p:cNvPr id="6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44153" y="1587813"/>
            <a:ext cx="3703621" cy="1452680"/>
          </a:xfrm>
          <a:prstGeom prst="rect">
            <a:avLst/>
          </a:prstGeom>
        </p:spPr>
      </p:pic>
      <p:pic>
        <p:nvPicPr>
          <p:cNvPr id="7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46852" y="1790512"/>
            <a:ext cx="253374" cy="270266"/>
          </a:xfrm>
          <a:prstGeom prst="rect">
            <a:avLst/>
          </a:prstGeom>
        </p:spPr>
      </p:pic>
      <p:pic>
        <p:nvPicPr>
          <p:cNvPr id="8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50473" y="1587813"/>
            <a:ext cx="3703620" cy="1452680"/>
          </a:xfrm>
          <a:prstGeom prst="rect">
            <a:avLst/>
          </a:prstGeom>
        </p:spPr>
      </p:pic>
      <p:pic>
        <p:nvPicPr>
          <p:cNvPr id="9" name="Image 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53173" y="1790512"/>
            <a:ext cx="253375" cy="270266"/>
          </a:xfrm>
          <a:prstGeom prst="rect">
            <a:avLst/>
          </a:prstGeom>
        </p:spPr>
      </p:pic>
      <p:pic>
        <p:nvPicPr>
          <p:cNvPr id="10" name="Image 8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37833" y="3682374"/>
            <a:ext cx="3748621" cy="472966"/>
          </a:xfrm>
          <a:prstGeom prst="rect">
            <a:avLst/>
          </a:prstGeom>
        </p:spPr>
      </p:pic>
      <p:pic>
        <p:nvPicPr>
          <p:cNvPr id="11" name="Image 9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9182" y="3783724"/>
            <a:ext cx="337833" cy="270266"/>
          </a:xfrm>
          <a:prstGeom prst="rect">
            <a:avLst/>
          </a:prstGeom>
        </p:spPr>
      </p:pic>
      <p:pic>
        <p:nvPicPr>
          <p:cNvPr id="12" name="Image 10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37833" y="4256690"/>
            <a:ext cx="3748621" cy="472966"/>
          </a:xfrm>
          <a:prstGeom prst="rect">
            <a:avLst/>
          </a:prstGeom>
        </p:spPr>
      </p:pic>
      <p:pic>
        <p:nvPicPr>
          <p:cNvPr id="13" name="Image 11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39182" y="4358039"/>
            <a:ext cx="337833" cy="270266"/>
          </a:xfrm>
          <a:prstGeom prst="rect">
            <a:avLst/>
          </a:prstGeom>
        </p:spPr>
      </p:pic>
      <p:pic>
        <p:nvPicPr>
          <p:cNvPr id="14" name="Image 12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37833" y="4831005"/>
            <a:ext cx="3748621" cy="472966"/>
          </a:xfrm>
          <a:prstGeom prst="rect">
            <a:avLst/>
          </a:prstGeom>
        </p:spPr>
      </p:pic>
      <p:pic>
        <p:nvPicPr>
          <p:cNvPr id="15" name="Image 13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39182" y="4932355"/>
            <a:ext cx="337833" cy="270266"/>
          </a:xfrm>
          <a:prstGeom prst="rect">
            <a:avLst/>
          </a:prstGeom>
        </p:spPr>
      </p:pic>
      <p:pic>
        <p:nvPicPr>
          <p:cNvPr id="16" name="Image 14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356720" y="3682374"/>
            <a:ext cx="3647271" cy="1207751"/>
          </a:xfrm>
          <a:prstGeom prst="rect">
            <a:avLst/>
          </a:prstGeom>
        </p:spPr>
      </p:pic>
      <p:pic>
        <p:nvPicPr>
          <p:cNvPr id="17" name="Image 15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525636" y="3889033"/>
            <a:ext cx="194254" cy="152420"/>
          </a:xfrm>
          <a:prstGeom prst="rect">
            <a:avLst/>
          </a:prstGeom>
        </p:spPr>
      </p:pic>
      <p:pic>
        <p:nvPicPr>
          <p:cNvPr id="18" name="Image 16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206691" y="3682374"/>
            <a:ext cx="3647403" cy="1207751"/>
          </a:xfrm>
          <a:prstGeom prst="rect">
            <a:avLst/>
          </a:prstGeom>
        </p:spPr>
      </p:pic>
      <p:pic>
        <p:nvPicPr>
          <p:cNvPr id="19" name="Image 17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375607" y="3889033"/>
            <a:ext cx="135133" cy="152420"/>
          </a:xfrm>
          <a:prstGeom prst="rect">
            <a:avLst/>
          </a:prstGeom>
        </p:spPr>
      </p:pic>
      <p:pic>
        <p:nvPicPr>
          <p:cNvPr id="20" name="Image 18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356720" y="5092825"/>
            <a:ext cx="7497374" cy="667747"/>
          </a:xfrm>
          <a:prstGeom prst="rect">
            <a:avLst/>
          </a:prstGeom>
        </p:spPr>
      </p:pic>
      <p:pic>
        <p:nvPicPr>
          <p:cNvPr id="21" name="Image 19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1398021" y="5274674"/>
            <a:ext cx="320941" cy="304049"/>
          </a:xfrm>
          <a:prstGeom prst="rect">
            <a:avLst/>
          </a:prstGeom>
        </p:spPr>
      </p:pic>
      <p:sp>
        <p:nvSpPr>
          <p:cNvPr id="22" name="Text 0"/>
          <p:cNvSpPr/>
          <p:nvPr/>
        </p:nvSpPr>
        <p:spPr>
          <a:xfrm>
            <a:off x="540532" y="337833"/>
            <a:ext cx="15313914" cy="33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2660"/>
              </a:lnSpc>
              <a:buNone/>
            </a:pPr>
            <a:r>
              <a:rPr lang="en-US" sz="2700" b="1" spc="-61" kern="0" dirty="0">
                <a:solidFill>
                  <a:srgbClr val="0064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PATTERN ARCHITETTURALI E FRONTEND</a:t>
            </a:r>
            <a:endParaRPr lang="en-US" sz="2700" dirty="0"/>
          </a:p>
        </p:txBody>
      </p:sp>
      <p:sp>
        <p:nvSpPr>
          <p:cNvPr id="23" name="Text 1"/>
          <p:cNvSpPr/>
          <p:nvPr/>
        </p:nvSpPr>
        <p:spPr>
          <a:xfrm>
            <a:off x="540532" y="709448"/>
            <a:ext cx="16499873" cy="236483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1862"/>
              </a:lnSpc>
              <a:buNone/>
            </a:pPr>
            <a:r>
              <a:rPr lang="en-US" sz="150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Efficienza nella comunicazione e interfacce utente specializzate</a:t>
            </a:r>
            <a:endParaRPr lang="en-US" sz="1500" dirty="0"/>
          </a:p>
        </p:txBody>
      </p:sp>
      <p:sp>
        <p:nvSpPr>
          <p:cNvPr id="24" name="Text 2"/>
          <p:cNvSpPr/>
          <p:nvPr/>
        </p:nvSpPr>
        <p:spPr>
          <a:xfrm>
            <a:off x="337833" y="1216197"/>
            <a:ext cx="11516261" cy="236483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1862"/>
              </a:lnSpc>
              <a:buNone/>
            </a:pPr>
            <a:r>
              <a:rPr lang="en-US" sz="1500" b="1" spc="135" kern="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CORE DESIGN PATTERNS</a:t>
            </a:r>
            <a:endParaRPr lang="en-US" sz="1500" dirty="0"/>
          </a:p>
        </p:txBody>
      </p:sp>
      <p:sp>
        <p:nvSpPr>
          <p:cNvPr id="25" name="Text 3"/>
          <p:cNvSpPr/>
          <p:nvPr/>
        </p:nvSpPr>
        <p:spPr>
          <a:xfrm>
            <a:off x="895256" y="1807404"/>
            <a:ext cx="773432" cy="236483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1862"/>
              </a:lnSpc>
              <a:buNone/>
            </a:pPr>
            <a:r>
              <a:rPr lang="en-US" sz="1500" b="1" dirty="0">
                <a:solidFill>
                  <a:srgbClr val="0064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BFF</a:t>
            </a:r>
            <a:endParaRPr lang="en-US" sz="1500" dirty="0"/>
          </a:p>
        </p:txBody>
      </p:sp>
      <p:sp>
        <p:nvSpPr>
          <p:cNvPr id="26" name="Text 4"/>
          <p:cNvSpPr/>
          <p:nvPr/>
        </p:nvSpPr>
        <p:spPr>
          <a:xfrm>
            <a:off x="540532" y="2162128"/>
            <a:ext cx="3281330" cy="649668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1706"/>
              </a:lnSpc>
              <a:buNone/>
            </a:pPr>
            <a:r>
              <a:rPr lang="en-US" sz="1050" b="1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Backend for Frontend</a:t>
            </a:r>
            <a:pPr indent="0" marL="0">
              <a:lnSpc>
                <a:spcPts val="1706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 Aggrega report e statistiche in risposte singole, riducendo le chiamate HTTP e ottimizzando le performance del client.</a:t>
            </a:r>
            <a:endParaRPr lang="en-US" sz="1050" dirty="0"/>
          </a:p>
        </p:txBody>
      </p:sp>
      <p:sp>
        <p:nvSpPr>
          <p:cNvPr id="27" name="Text 5"/>
          <p:cNvSpPr/>
          <p:nvPr/>
        </p:nvSpPr>
        <p:spPr>
          <a:xfrm>
            <a:off x="4801576" y="1807404"/>
            <a:ext cx="1804674" cy="236483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1862"/>
              </a:lnSpc>
              <a:buNone/>
            </a:pPr>
            <a:r>
              <a:rPr lang="en-US" sz="1500" b="1" dirty="0">
                <a:solidFill>
                  <a:srgbClr val="0064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Command</a:t>
            </a:r>
            <a:endParaRPr lang="en-US" sz="1500" dirty="0"/>
          </a:p>
        </p:txBody>
      </p:sp>
      <p:sp>
        <p:nvSpPr>
          <p:cNvPr id="28" name="Text 6"/>
          <p:cNvSpPr/>
          <p:nvPr/>
        </p:nvSpPr>
        <p:spPr>
          <a:xfrm>
            <a:off x="4446852" y="2162128"/>
            <a:ext cx="3281330" cy="649668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1706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Incapsula le azioni di controllo (start/stop simulazione) in oggetti eseguibili, permettendo una gestione robusta delle operazioni utente.</a:t>
            </a:r>
            <a:endParaRPr lang="en-US" sz="1050" dirty="0"/>
          </a:p>
        </p:txBody>
      </p:sp>
      <p:sp>
        <p:nvSpPr>
          <p:cNvPr id="29" name="Text 7"/>
          <p:cNvSpPr/>
          <p:nvPr/>
        </p:nvSpPr>
        <p:spPr>
          <a:xfrm>
            <a:off x="8707897" y="1807404"/>
            <a:ext cx="2062484" cy="236483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1862"/>
              </a:lnSpc>
              <a:buNone/>
            </a:pPr>
            <a:r>
              <a:rPr lang="en-US" sz="1500" b="1" dirty="0">
                <a:solidFill>
                  <a:srgbClr val="0064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Observer</a:t>
            </a:r>
            <a:endParaRPr lang="en-US" sz="1500" dirty="0"/>
          </a:p>
        </p:txBody>
      </p:sp>
      <p:sp>
        <p:nvSpPr>
          <p:cNvPr id="30" name="Text 8"/>
          <p:cNvSpPr/>
          <p:nvPr/>
        </p:nvSpPr>
        <p:spPr>
          <a:xfrm>
            <a:off x="8353173" y="2162128"/>
            <a:ext cx="3281330" cy="649668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1706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Gestisce lo stream SSE (Server-Sent Events). Il server notifica i client in tempo reale senza necessità di polling continuo.</a:t>
            </a:r>
            <a:endParaRPr lang="en-US" sz="1050" dirty="0"/>
          </a:p>
        </p:txBody>
      </p:sp>
      <p:sp>
        <p:nvSpPr>
          <p:cNvPr id="31" name="Text 9"/>
          <p:cNvSpPr/>
          <p:nvPr/>
        </p:nvSpPr>
        <p:spPr>
          <a:xfrm>
            <a:off x="337833" y="3310759"/>
            <a:ext cx="3748621" cy="236483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1862"/>
              </a:lnSpc>
              <a:buNone/>
            </a:pPr>
            <a:r>
              <a:rPr lang="en-US" sz="1500" b="1" spc="135" kern="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 STACK FE</a:t>
            </a:r>
            <a:endParaRPr lang="en-US" sz="1500" dirty="0"/>
          </a:p>
        </p:txBody>
      </p:sp>
      <p:sp>
        <p:nvSpPr>
          <p:cNvPr id="32" name="Text 10"/>
          <p:cNvSpPr/>
          <p:nvPr/>
        </p:nvSpPr>
        <p:spPr>
          <a:xfrm>
            <a:off x="777015" y="3804575"/>
            <a:ext cx="4537445" cy="228565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React SPA (TypeScript)</a:t>
            </a:r>
            <a:endParaRPr lang="en-US" sz="1200" dirty="0"/>
          </a:p>
        </p:txBody>
      </p:sp>
      <p:sp>
        <p:nvSpPr>
          <p:cNvPr id="33" name="Text 11"/>
          <p:cNvSpPr/>
          <p:nvPr/>
        </p:nvSpPr>
        <p:spPr>
          <a:xfrm>
            <a:off x="777015" y="4378890"/>
            <a:ext cx="4537445" cy="228565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Tailwind CSS (Styling)</a:t>
            </a:r>
            <a:endParaRPr lang="en-US" sz="1200" dirty="0"/>
          </a:p>
        </p:txBody>
      </p:sp>
      <p:sp>
        <p:nvSpPr>
          <p:cNvPr id="34" name="Text 12"/>
          <p:cNvSpPr/>
          <p:nvPr/>
        </p:nvSpPr>
        <p:spPr>
          <a:xfrm>
            <a:off x="777015" y="4953205"/>
            <a:ext cx="3506207" cy="228565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Vite (Build Tool)</a:t>
            </a:r>
            <a:endParaRPr lang="en-US" sz="1200" dirty="0"/>
          </a:p>
        </p:txBody>
      </p:sp>
      <p:sp>
        <p:nvSpPr>
          <p:cNvPr id="35" name="Text 13"/>
          <p:cNvSpPr/>
          <p:nvPr/>
        </p:nvSpPr>
        <p:spPr>
          <a:xfrm>
            <a:off x="4356720" y="3310759"/>
            <a:ext cx="7497374" cy="236483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1862"/>
              </a:lnSpc>
              <a:buNone/>
            </a:pPr>
            <a:r>
              <a:rPr lang="en-US" sz="1500" b="1" spc="135" kern="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 DIFFERENZIATE</a:t>
            </a:r>
            <a:endParaRPr lang="en-US" sz="1500" dirty="0"/>
          </a:p>
        </p:txBody>
      </p:sp>
      <p:sp>
        <p:nvSpPr>
          <p:cNvPr id="36" name="Text 14"/>
          <p:cNvSpPr/>
          <p:nvPr/>
        </p:nvSpPr>
        <p:spPr>
          <a:xfrm>
            <a:off x="4787456" y="3851027"/>
            <a:ext cx="2268722" cy="228565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Ruolo ADMIN</a:t>
            </a:r>
            <a:endParaRPr lang="en-US" sz="1200" dirty="0"/>
          </a:p>
        </p:txBody>
      </p:sp>
      <p:sp>
        <p:nvSpPr>
          <p:cNvPr id="37" name="Text 15"/>
          <p:cNvSpPr/>
          <p:nvPr/>
        </p:nvSpPr>
        <p:spPr>
          <a:xfrm>
            <a:off x="4660769" y="4146894"/>
            <a:ext cx="6135882" cy="168916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Controllo simulazione (Avvio/Stop)</a:t>
            </a:r>
            <a:endParaRPr lang="en-US" sz="1050" dirty="0"/>
          </a:p>
        </p:txBody>
      </p:sp>
      <p:sp>
        <p:nvSpPr>
          <p:cNvPr id="38" name="Text 16"/>
          <p:cNvSpPr/>
          <p:nvPr/>
        </p:nvSpPr>
        <p:spPr>
          <a:xfrm>
            <a:off x="4660769" y="4349594"/>
            <a:ext cx="5053080" cy="168916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Ingestione dati (Upload CSV)</a:t>
            </a:r>
            <a:endParaRPr lang="en-US" sz="1050" dirty="0"/>
          </a:p>
        </p:txBody>
      </p:sp>
      <p:sp>
        <p:nvSpPr>
          <p:cNvPr id="39" name="Text 17"/>
          <p:cNvSpPr/>
          <p:nvPr/>
        </p:nvSpPr>
        <p:spPr>
          <a:xfrm>
            <a:off x="4660769" y="4552293"/>
            <a:ext cx="4692145" cy="168916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Gestione utenti e permessi</a:t>
            </a:r>
            <a:endParaRPr lang="en-US" sz="1050" dirty="0"/>
          </a:p>
        </p:txBody>
      </p:sp>
      <p:sp>
        <p:nvSpPr>
          <p:cNvPr id="40" name="Text 18"/>
          <p:cNvSpPr/>
          <p:nvPr/>
        </p:nvSpPr>
        <p:spPr>
          <a:xfrm>
            <a:off x="8578307" y="3851027"/>
            <a:ext cx="2062475" cy="228565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Ruolo USER</a:t>
            </a:r>
            <a:endParaRPr lang="en-US" sz="1200" dirty="0"/>
          </a:p>
        </p:txBody>
      </p:sp>
      <p:sp>
        <p:nvSpPr>
          <p:cNvPr id="41" name="Text 19"/>
          <p:cNvSpPr/>
          <p:nvPr/>
        </p:nvSpPr>
        <p:spPr>
          <a:xfrm>
            <a:off x="8510740" y="4146894"/>
            <a:ext cx="4872612" cy="168916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Monitoraggio in tempo reale</a:t>
            </a:r>
            <a:endParaRPr lang="en-US" sz="1050" dirty="0"/>
          </a:p>
        </p:txBody>
      </p:sp>
      <p:sp>
        <p:nvSpPr>
          <p:cNvPr id="42" name="Text 20"/>
          <p:cNvSpPr/>
          <p:nvPr/>
        </p:nvSpPr>
        <p:spPr>
          <a:xfrm>
            <a:off x="8510740" y="4349594"/>
            <a:ext cx="5233547" cy="168916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Visualizzazione trend storici</a:t>
            </a:r>
            <a:endParaRPr lang="en-US" sz="1050" dirty="0"/>
          </a:p>
        </p:txBody>
      </p:sp>
      <p:sp>
        <p:nvSpPr>
          <p:cNvPr id="43" name="Text 21"/>
          <p:cNvSpPr/>
          <p:nvPr/>
        </p:nvSpPr>
        <p:spPr>
          <a:xfrm>
            <a:off x="8510740" y="4552293"/>
            <a:ext cx="4331211" cy="168916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Sola lettura (Read-only)</a:t>
            </a:r>
            <a:endParaRPr lang="en-US" sz="1050" dirty="0"/>
          </a:p>
        </p:txBody>
      </p:sp>
      <p:sp>
        <p:nvSpPr>
          <p:cNvPr id="44" name="Text 22"/>
          <p:cNvSpPr/>
          <p:nvPr/>
        </p:nvSpPr>
        <p:spPr>
          <a:xfrm>
            <a:off x="4491853" y="5287079"/>
            <a:ext cx="2474970" cy="135133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1064"/>
              </a:lnSpc>
              <a:buNone/>
            </a:pPr>
            <a:r>
              <a:rPr lang="en-US" sz="900" b="1" spc="81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REAL-TIME ENGINE</a:t>
            </a:r>
            <a:endParaRPr lang="en-US" sz="900" dirty="0"/>
          </a:p>
        </p:txBody>
      </p:sp>
      <p:sp>
        <p:nvSpPr>
          <p:cNvPr id="45" name="Text 23"/>
          <p:cNvSpPr/>
          <p:nvPr/>
        </p:nvSpPr>
        <p:spPr>
          <a:xfrm>
            <a:off x="4491853" y="5456523"/>
            <a:ext cx="12452232" cy="168916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133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dati tramite </a:t>
            </a:r>
            <a:pPr indent="0" marL="0">
              <a:lnSpc>
                <a:spcPts val="133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Server-Sent Events (SSE)</a:t>
            </a:r>
            <a:pPr indent="0" marL="0">
              <a:lnSpc>
                <a:spcPts val="133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per grafici dinamici.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81000"/>
            <a:ext cx="11430000" cy="6858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1371600"/>
            <a:ext cx="5562600" cy="32956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1638300"/>
            <a:ext cx="228600" cy="228600"/>
          </a:xfrm>
          <a:prstGeom prst="rect">
            <a:avLst/>
          </a:prstGeom>
        </p:spPr>
      </p:pic>
      <p:pic>
        <p:nvPicPr>
          <p:cNvPr id="6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2095500"/>
            <a:ext cx="152400" cy="152400"/>
          </a:xfrm>
          <a:prstGeom prst="rect">
            <a:avLst/>
          </a:prstGeom>
        </p:spPr>
      </p:pic>
      <p:pic>
        <p:nvPicPr>
          <p:cNvPr id="7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2933700"/>
            <a:ext cx="152400" cy="152400"/>
          </a:xfrm>
          <a:prstGeom prst="rect">
            <a:avLst/>
          </a:prstGeom>
        </p:spPr>
      </p:pic>
      <p:pic>
        <p:nvPicPr>
          <p:cNvPr id="8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" y="3771900"/>
            <a:ext cx="152400" cy="152400"/>
          </a:xfrm>
          <a:prstGeom prst="rect">
            <a:avLst/>
          </a:prstGeom>
        </p:spPr>
      </p:pic>
      <p:pic>
        <p:nvPicPr>
          <p:cNvPr id="9" name="Image 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8400" y="1371600"/>
            <a:ext cx="5562600" cy="3295650"/>
          </a:xfrm>
          <a:prstGeom prst="rect">
            <a:avLst/>
          </a:prstGeom>
        </p:spPr>
      </p:pic>
      <p:pic>
        <p:nvPicPr>
          <p:cNvPr id="10" name="Image 8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77000" y="1638300"/>
            <a:ext cx="200025" cy="228600"/>
          </a:xfrm>
          <a:prstGeom prst="rect">
            <a:avLst/>
          </a:prstGeom>
        </p:spPr>
      </p:pic>
      <p:pic>
        <p:nvPicPr>
          <p:cNvPr id="11" name="Image 9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77000" y="2095500"/>
            <a:ext cx="152400" cy="152400"/>
          </a:xfrm>
          <a:prstGeom prst="rect">
            <a:avLst/>
          </a:prstGeom>
        </p:spPr>
      </p:pic>
      <p:pic>
        <p:nvPicPr>
          <p:cNvPr id="12" name="Image 10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77000" y="2933700"/>
            <a:ext cx="114300" cy="152400"/>
          </a:xfrm>
          <a:prstGeom prst="rect">
            <a:avLst/>
          </a:prstGeom>
        </p:spPr>
      </p:pic>
      <p:pic>
        <p:nvPicPr>
          <p:cNvPr id="13" name="Image 11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77000" y="3771900"/>
            <a:ext cx="152400" cy="152400"/>
          </a:xfrm>
          <a:prstGeom prst="rect">
            <a:avLst/>
          </a:prstGeom>
        </p:spPr>
      </p:pic>
      <p:pic>
        <p:nvPicPr>
          <p:cNvPr id="14" name="Image 12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81000" y="5314950"/>
            <a:ext cx="11430000" cy="1162050"/>
          </a:xfrm>
          <a:prstGeom prst="rect">
            <a:avLst/>
          </a:prstGeom>
        </p:spPr>
      </p:pic>
      <p:pic>
        <p:nvPicPr>
          <p:cNvPr id="15" name="Image 13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81000" y="5314950"/>
            <a:ext cx="11410950" cy="1143000"/>
          </a:xfrm>
          <a:prstGeom prst="rect">
            <a:avLst/>
          </a:prstGeom>
        </p:spPr>
      </p:pic>
      <p:sp>
        <p:nvSpPr>
          <p:cNvPr id="16" name="Text 0"/>
          <p:cNvSpPr/>
          <p:nvPr/>
        </p:nvSpPr>
        <p:spPr>
          <a:xfrm>
            <a:off x="609600" y="381000"/>
            <a:ext cx="1275588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3000"/>
              </a:lnSpc>
              <a:buNone/>
            </a:pPr>
            <a:r>
              <a:rPr lang="en-US" sz="2700" b="1" spc="-54" kern="0" dirty="0">
                <a:solidFill>
                  <a:srgbClr val="0064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AI, DIGITAL TWIN E ANALISI DATI</a:t>
            </a:r>
            <a:endParaRPr lang="en-US" sz="2700" dirty="0"/>
          </a:p>
        </p:txBody>
      </p:sp>
      <p:sp>
        <p:nvSpPr>
          <p:cNvPr id="17" name="Text 1"/>
          <p:cNvSpPr/>
          <p:nvPr/>
        </p:nvSpPr>
        <p:spPr>
          <a:xfrm>
            <a:off x="609600" y="800100"/>
            <a:ext cx="144018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Dall'analisi esplorativa alla predizione neurale in tempo reale</a:t>
            </a:r>
            <a:endParaRPr lang="en-US" sz="1500" dirty="0"/>
          </a:p>
        </p:txBody>
      </p:sp>
      <p:sp>
        <p:nvSpPr>
          <p:cNvPr id="18" name="Text 2"/>
          <p:cNvSpPr/>
          <p:nvPr/>
        </p:nvSpPr>
        <p:spPr>
          <a:xfrm>
            <a:off x="952500" y="1600200"/>
            <a:ext cx="5105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0064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Architettura LSTM</a:t>
            </a:r>
            <a:endParaRPr lang="en-US" sz="1800" dirty="0"/>
          </a:p>
        </p:txBody>
      </p:sp>
      <p:sp>
        <p:nvSpPr>
          <p:cNvPr id="19" name="Text 3"/>
          <p:cNvSpPr/>
          <p:nvPr/>
        </p:nvSpPr>
        <p:spPr>
          <a:xfrm>
            <a:off x="876300" y="2076450"/>
            <a:ext cx="347472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Finestra Temporale:</a:t>
            </a:r>
            <a:endParaRPr lang="en-US" sz="1200" dirty="0"/>
          </a:p>
        </p:txBody>
      </p:sp>
      <p:sp>
        <p:nvSpPr>
          <p:cNvPr id="20" name="Text 4"/>
          <p:cNvSpPr/>
          <p:nvPr/>
        </p:nvSpPr>
        <p:spPr>
          <a:xfrm>
            <a:off x="876300" y="2286000"/>
            <a:ext cx="48196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Utilizzo di 12 timestep (ore) passati per predire il consumo dell'ora successiva.</a:t>
            </a:r>
            <a:endParaRPr lang="en-US" sz="1200" dirty="0"/>
          </a:p>
        </p:txBody>
      </p:sp>
      <p:sp>
        <p:nvSpPr>
          <p:cNvPr id="21" name="Text 5"/>
          <p:cNvSpPr/>
          <p:nvPr/>
        </p:nvSpPr>
        <p:spPr>
          <a:xfrm>
            <a:off x="876300" y="2914650"/>
            <a:ext cx="256032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Input Feature:</a:t>
            </a:r>
            <a:endParaRPr lang="en-US" sz="1200" dirty="0"/>
          </a:p>
        </p:txBody>
      </p:sp>
      <p:sp>
        <p:nvSpPr>
          <p:cNvPr id="22" name="Text 6"/>
          <p:cNvSpPr/>
          <p:nvPr/>
        </p:nvSpPr>
        <p:spPr>
          <a:xfrm>
            <a:off x="876300" y="3124200"/>
            <a:ext cx="46959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Temperatura, umidità, occupanza e storico consumi normalizzati.</a:t>
            </a:r>
            <a:endParaRPr lang="en-US" sz="1200" dirty="0"/>
          </a:p>
        </p:txBody>
      </p:sp>
      <p:sp>
        <p:nvSpPr>
          <p:cNvPr id="23" name="Text 7"/>
          <p:cNvSpPr/>
          <p:nvPr/>
        </p:nvSpPr>
        <p:spPr>
          <a:xfrm>
            <a:off x="876300" y="3752850"/>
            <a:ext cx="29260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Soglia Anomalia:</a:t>
            </a:r>
            <a:endParaRPr lang="en-US" sz="1200" dirty="0"/>
          </a:p>
        </p:txBody>
      </p:sp>
      <p:sp>
        <p:nvSpPr>
          <p:cNvPr id="24" name="Text 8"/>
          <p:cNvSpPr/>
          <p:nvPr/>
        </p:nvSpPr>
        <p:spPr>
          <a:xfrm>
            <a:off x="876300" y="3962400"/>
            <a:ext cx="48196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Deviazione &gt; 20% tra valore reale e predetto attiva un alert immediato.</a:t>
            </a:r>
            <a:endParaRPr lang="en-US" sz="1200" dirty="0"/>
          </a:p>
        </p:txBody>
      </p:sp>
      <p:sp>
        <p:nvSpPr>
          <p:cNvPr id="25" name="Text 9"/>
          <p:cNvSpPr/>
          <p:nvPr/>
        </p:nvSpPr>
        <p:spPr>
          <a:xfrm>
            <a:off x="6791325" y="160020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0064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Analisi Esplorativa (EDA)</a:t>
            </a:r>
            <a:endParaRPr lang="en-US" sz="1800" dirty="0"/>
          </a:p>
        </p:txBody>
      </p:sp>
      <p:sp>
        <p:nvSpPr>
          <p:cNvPr id="26" name="Text 10"/>
          <p:cNvSpPr/>
          <p:nvPr/>
        </p:nvSpPr>
        <p:spPr>
          <a:xfrm>
            <a:off x="6743700" y="2076450"/>
            <a:ext cx="310896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Encoding Ciclico:</a:t>
            </a:r>
            <a:endParaRPr lang="en-US" sz="1200" dirty="0"/>
          </a:p>
        </p:txBody>
      </p:sp>
      <p:sp>
        <p:nvSpPr>
          <p:cNvPr id="27" name="Text 11"/>
          <p:cNvSpPr/>
          <p:nvPr/>
        </p:nvSpPr>
        <p:spPr>
          <a:xfrm>
            <a:off x="6743700" y="2286000"/>
            <a:ext cx="48196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Trasformazione Sin/Cos per catturare la stagionalità di ore, giorni e mesi.</a:t>
            </a:r>
            <a:endParaRPr lang="en-US" sz="1200" dirty="0"/>
          </a:p>
        </p:txBody>
      </p:sp>
      <p:sp>
        <p:nvSpPr>
          <p:cNvPr id="28" name="Text 12"/>
          <p:cNvSpPr/>
          <p:nvPr/>
        </p:nvSpPr>
        <p:spPr>
          <a:xfrm>
            <a:off x="6705600" y="2914650"/>
            <a:ext cx="512064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Coerenza Ricerca-Produzione:</a:t>
            </a:r>
            <a:endParaRPr lang="en-US" sz="1200" dirty="0"/>
          </a:p>
        </p:txBody>
      </p:sp>
      <p:sp>
        <p:nvSpPr>
          <p:cNvPr id="29" name="Text 13"/>
          <p:cNvSpPr/>
          <p:nvPr/>
        </p:nvSpPr>
        <p:spPr>
          <a:xfrm>
            <a:off x="6705600" y="3124200"/>
            <a:ext cx="48577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Pre-processing identico tra notebook Python e backend Java/AI service.</a:t>
            </a:r>
            <a:endParaRPr lang="en-US" sz="1200" dirty="0"/>
          </a:p>
        </p:txBody>
      </p:sp>
      <p:sp>
        <p:nvSpPr>
          <p:cNvPr id="30" name="Text 14"/>
          <p:cNvSpPr/>
          <p:nvPr/>
        </p:nvSpPr>
        <p:spPr>
          <a:xfrm>
            <a:off x="6743700" y="3752850"/>
            <a:ext cx="237744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Baseline MAE:</a:t>
            </a:r>
            <a:endParaRPr lang="en-US" sz="1200" dirty="0"/>
          </a:p>
        </p:txBody>
      </p:sp>
      <p:sp>
        <p:nvSpPr>
          <p:cNvPr id="31" name="Text 15"/>
          <p:cNvSpPr/>
          <p:nvPr/>
        </p:nvSpPr>
        <p:spPr>
          <a:xfrm>
            <a:off x="6743700" y="3962400"/>
            <a:ext cx="48196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Validazione offline tramite PyTorch per definire i parametri del Digital Twin.</a:t>
            </a:r>
            <a:endParaRPr lang="en-US" sz="1200" dirty="0"/>
          </a:p>
        </p:txBody>
      </p:sp>
      <p:sp>
        <p:nvSpPr>
          <p:cNvPr id="32" name="Text 16"/>
          <p:cNvSpPr/>
          <p:nvPr/>
        </p:nvSpPr>
        <p:spPr>
          <a:xfrm>
            <a:off x="381000" y="4972050"/>
            <a:ext cx="11430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spc="108" kern="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SIMULAZIONE PREDIZIONE VS ANOMALIA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750" y="285750"/>
            <a:ext cx="11620500" cy="7239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750" y="1247775"/>
            <a:ext cx="5657850" cy="48577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" y="1438275"/>
            <a:ext cx="190500" cy="190500"/>
          </a:xfrm>
          <a:prstGeom prst="rect">
            <a:avLst/>
          </a:prstGeom>
        </p:spPr>
      </p:pic>
      <p:pic>
        <p:nvPicPr>
          <p:cNvPr id="6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8150" y="2352675"/>
            <a:ext cx="1733550" cy="342900"/>
          </a:xfrm>
          <a:prstGeom prst="rect">
            <a:avLst/>
          </a:prstGeom>
        </p:spPr>
      </p:pic>
      <p:pic>
        <p:nvPicPr>
          <p:cNvPr id="7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47900" y="2352675"/>
            <a:ext cx="1733550" cy="342900"/>
          </a:xfrm>
          <a:prstGeom prst="rect">
            <a:avLst/>
          </a:prstGeom>
        </p:spPr>
      </p:pic>
      <p:pic>
        <p:nvPicPr>
          <p:cNvPr id="8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57650" y="2352675"/>
            <a:ext cx="1733550" cy="342900"/>
          </a:xfrm>
          <a:prstGeom prst="rect">
            <a:avLst/>
          </a:prstGeom>
        </p:spPr>
      </p:pic>
      <p:pic>
        <p:nvPicPr>
          <p:cNvPr id="9" name="Image 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85750" y="6334125"/>
            <a:ext cx="5657850" cy="4857750"/>
          </a:xfrm>
          <a:prstGeom prst="rect">
            <a:avLst/>
          </a:prstGeom>
        </p:spPr>
      </p:pic>
      <p:pic>
        <p:nvPicPr>
          <p:cNvPr id="10" name="Image 8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8150" y="6524625"/>
            <a:ext cx="171450" cy="190500"/>
          </a:xfrm>
          <a:prstGeom prst="rect">
            <a:avLst/>
          </a:prstGeom>
        </p:spPr>
      </p:pic>
      <p:pic>
        <p:nvPicPr>
          <p:cNvPr id="11" name="Image 9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48400" y="1247775"/>
            <a:ext cx="5657850" cy="4857750"/>
          </a:xfrm>
          <a:prstGeom prst="rect">
            <a:avLst/>
          </a:prstGeom>
        </p:spPr>
      </p:pic>
      <p:pic>
        <p:nvPicPr>
          <p:cNvPr id="12" name="Image 10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00800" y="1438275"/>
            <a:ext cx="238125" cy="190500"/>
          </a:xfrm>
          <a:prstGeom prst="rect">
            <a:avLst/>
          </a:prstGeom>
        </p:spPr>
      </p:pic>
      <p:pic>
        <p:nvPicPr>
          <p:cNvPr id="13" name="Image 11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00800" y="1819275"/>
            <a:ext cx="5353050" cy="457200"/>
          </a:xfrm>
          <a:prstGeom prst="rect">
            <a:avLst/>
          </a:prstGeom>
        </p:spPr>
      </p:pic>
      <p:pic>
        <p:nvPicPr>
          <p:cNvPr id="14" name="Image 12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15100" y="1933575"/>
            <a:ext cx="542925" cy="228600"/>
          </a:xfrm>
          <a:prstGeom prst="rect">
            <a:avLst/>
          </a:prstGeom>
        </p:spPr>
      </p:pic>
      <p:pic>
        <p:nvPicPr>
          <p:cNvPr id="15" name="Image 13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00800" y="2390775"/>
            <a:ext cx="5353050" cy="457200"/>
          </a:xfrm>
          <a:prstGeom prst="rect">
            <a:avLst/>
          </a:prstGeom>
        </p:spPr>
      </p:pic>
      <p:pic>
        <p:nvPicPr>
          <p:cNvPr id="16" name="Image 14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515100" y="2505075"/>
            <a:ext cx="457200" cy="228600"/>
          </a:xfrm>
          <a:prstGeom prst="rect">
            <a:avLst/>
          </a:prstGeom>
        </p:spPr>
      </p:pic>
      <p:pic>
        <p:nvPicPr>
          <p:cNvPr id="17" name="Image 15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248400" y="6334125"/>
            <a:ext cx="5657850" cy="4857750"/>
          </a:xfrm>
          <a:prstGeom prst="rect">
            <a:avLst/>
          </a:prstGeom>
        </p:spPr>
      </p:pic>
      <p:pic>
        <p:nvPicPr>
          <p:cNvPr id="18" name="Image 16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400800" y="6524625"/>
            <a:ext cx="238125" cy="190500"/>
          </a:xfrm>
          <a:prstGeom prst="rect">
            <a:avLst/>
          </a:prstGeom>
        </p:spPr>
      </p:pic>
      <p:pic>
        <p:nvPicPr>
          <p:cNvPr id="19" name="Image 17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85750" y="6257925"/>
            <a:ext cx="11620500" cy="457200"/>
          </a:xfrm>
          <a:prstGeom prst="rect">
            <a:avLst/>
          </a:prstGeom>
        </p:spPr>
      </p:pic>
      <p:pic>
        <p:nvPicPr>
          <p:cNvPr id="20" name="Image 18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85750" y="6505575"/>
            <a:ext cx="125611" cy="114300"/>
          </a:xfrm>
          <a:prstGeom prst="rect">
            <a:avLst/>
          </a:prstGeom>
        </p:spPr>
      </p:pic>
      <p:pic>
        <p:nvPicPr>
          <p:cNvPr id="21" name="Image 19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076748" y="6505575"/>
            <a:ext cx="125611" cy="114300"/>
          </a:xfrm>
          <a:prstGeom prst="rect">
            <a:avLst/>
          </a:prstGeom>
        </p:spPr>
      </p:pic>
      <p:pic>
        <p:nvPicPr>
          <p:cNvPr id="22" name="Image 20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546574" y="6505575"/>
            <a:ext cx="125611" cy="114300"/>
          </a:xfrm>
          <a:prstGeom prst="rect">
            <a:avLst/>
          </a:prstGeom>
        </p:spPr>
      </p:pic>
      <p:sp>
        <p:nvSpPr>
          <p:cNvPr id="23" name="Text 0"/>
          <p:cNvSpPr/>
          <p:nvPr/>
        </p:nvSpPr>
        <p:spPr>
          <a:xfrm>
            <a:off x="476250" y="285750"/>
            <a:ext cx="115214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3000"/>
              </a:lnSpc>
              <a:buNone/>
            </a:pPr>
            <a:r>
              <a:rPr lang="en-US" sz="2700" b="1" spc="-54" kern="0" dirty="0">
                <a:solidFill>
                  <a:srgbClr val="0064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SICUREZZA E GESTIONE ACCESSI</a:t>
            </a:r>
            <a:endParaRPr lang="en-US" sz="2700" dirty="0"/>
          </a:p>
        </p:txBody>
      </p:sp>
      <p:sp>
        <p:nvSpPr>
          <p:cNvPr id="24" name="Text 1"/>
          <p:cNvSpPr/>
          <p:nvPr/>
        </p:nvSpPr>
        <p:spPr>
          <a:xfrm>
            <a:off x="476250" y="742950"/>
            <a:ext cx="16230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Protezione del sistema e integrità dei dati tramite protocolli standard</a:t>
            </a:r>
            <a:endParaRPr lang="en-US" sz="1500" dirty="0"/>
          </a:p>
        </p:txBody>
      </p:sp>
      <p:sp>
        <p:nvSpPr>
          <p:cNvPr id="25" name="Text 2"/>
          <p:cNvSpPr/>
          <p:nvPr/>
        </p:nvSpPr>
        <p:spPr>
          <a:xfrm>
            <a:off x="742950" y="1400175"/>
            <a:ext cx="64008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64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Autenticazione JWT Stateless</a:t>
            </a:r>
            <a:endParaRPr lang="en-US" sz="1500" dirty="0"/>
          </a:p>
        </p:txBody>
      </p:sp>
      <p:sp>
        <p:nvSpPr>
          <p:cNvPr id="26" name="Text 3"/>
          <p:cNvSpPr/>
          <p:nvPr/>
        </p:nvSpPr>
        <p:spPr>
          <a:xfrm>
            <a:off x="438150" y="1819275"/>
            <a:ext cx="53530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Token firmato crittograficamente emesso al login. Consente una scalabilità orizzontale non richiedendo sessioni lato server.</a:t>
            </a:r>
            <a:endParaRPr lang="en-US" sz="1050" dirty="0"/>
          </a:p>
        </p:txBody>
      </p:sp>
      <p:sp>
        <p:nvSpPr>
          <p:cNvPr id="27" name="Text 4"/>
          <p:cNvSpPr/>
          <p:nvPr/>
        </p:nvSpPr>
        <p:spPr>
          <a:xfrm>
            <a:off x="438150" y="2352675"/>
            <a:ext cx="15049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algn="ctr" indent="0" marL="0">
              <a:lnSpc>
                <a:spcPts val="1530"/>
              </a:lnSpc>
              <a:buNone/>
            </a:pPr>
            <a:r>
              <a:rPr lang="en-US" sz="1020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</a:t>
            </a:r>
            <a:endParaRPr lang="en-US" sz="1020" dirty="0"/>
          </a:p>
        </p:txBody>
      </p:sp>
      <p:sp>
        <p:nvSpPr>
          <p:cNvPr id="28" name="Text 5"/>
          <p:cNvSpPr/>
          <p:nvPr/>
        </p:nvSpPr>
        <p:spPr>
          <a:xfrm>
            <a:off x="2247900" y="2352675"/>
            <a:ext cx="15049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algn="ctr" indent="0" marL="0">
              <a:lnSpc>
                <a:spcPts val="1530"/>
              </a:lnSpc>
              <a:buNone/>
            </a:pPr>
            <a:r>
              <a:rPr lang="en-US" sz="102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Payload</a:t>
            </a:r>
            <a:endParaRPr lang="en-US" sz="1020" dirty="0"/>
          </a:p>
        </p:txBody>
      </p:sp>
      <p:sp>
        <p:nvSpPr>
          <p:cNvPr id="29" name="Text 6"/>
          <p:cNvSpPr/>
          <p:nvPr/>
        </p:nvSpPr>
        <p:spPr>
          <a:xfrm>
            <a:off x="4057650" y="2352675"/>
            <a:ext cx="15049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algn="ctr" indent="0" marL="0">
              <a:lnSpc>
                <a:spcPts val="1530"/>
              </a:lnSpc>
              <a:buNone/>
            </a:pPr>
            <a:r>
              <a:rPr lang="en-US" sz="1020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Signature</a:t>
            </a:r>
            <a:endParaRPr lang="en-US" sz="1020" dirty="0"/>
          </a:p>
        </p:txBody>
      </p:sp>
      <p:sp>
        <p:nvSpPr>
          <p:cNvPr id="30" name="Text 7"/>
          <p:cNvSpPr/>
          <p:nvPr/>
        </p:nvSpPr>
        <p:spPr>
          <a:xfrm>
            <a:off x="723900" y="6486525"/>
            <a:ext cx="53530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64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Hashing con BCrypt</a:t>
            </a:r>
            <a:endParaRPr lang="en-US" sz="1500" dirty="0"/>
          </a:p>
        </p:txBody>
      </p:sp>
      <p:sp>
        <p:nvSpPr>
          <p:cNvPr id="31" name="Text 8"/>
          <p:cNvSpPr/>
          <p:nvPr/>
        </p:nvSpPr>
        <p:spPr>
          <a:xfrm>
            <a:off x="438150" y="6905625"/>
            <a:ext cx="53530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password non sono mai salvate in chiaro. BCrypt utilizza un meccanismo di salting e un fattore di costo adattivo per resistere ad attacchi brute-force.</a:t>
            </a:r>
            <a:endParaRPr lang="en-US" sz="1050" dirty="0"/>
          </a:p>
        </p:txBody>
      </p:sp>
      <p:sp>
        <p:nvSpPr>
          <p:cNvPr id="32" name="Text 9"/>
          <p:cNvSpPr/>
          <p:nvPr/>
        </p:nvSpPr>
        <p:spPr>
          <a:xfrm>
            <a:off x="6753225" y="1400175"/>
            <a:ext cx="54864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64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Controllo Accessi (RBAC)</a:t>
            </a:r>
            <a:endParaRPr lang="en-US" sz="1500" dirty="0"/>
          </a:p>
        </p:txBody>
      </p:sp>
      <p:sp>
        <p:nvSpPr>
          <p:cNvPr id="33" name="Text 10"/>
          <p:cNvSpPr/>
          <p:nvPr/>
        </p:nvSpPr>
        <p:spPr>
          <a:xfrm>
            <a:off x="6591300" y="1933575"/>
            <a:ext cx="493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</a:t>
            </a:r>
            <a:endParaRPr lang="en-US" sz="900" dirty="0"/>
          </a:p>
        </p:txBody>
      </p:sp>
      <p:sp>
        <p:nvSpPr>
          <p:cNvPr id="34" name="Text 11"/>
          <p:cNvSpPr/>
          <p:nvPr/>
        </p:nvSpPr>
        <p:spPr>
          <a:xfrm>
            <a:off x="7210425" y="1952625"/>
            <a:ext cx="72009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Simulazione, Gestione Utenti, Caricamento CSV</a:t>
            </a:r>
            <a:endParaRPr lang="en-US" sz="1050" dirty="0"/>
          </a:p>
        </p:txBody>
      </p:sp>
      <p:sp>
        <p:nvSpPr>
          <p:cNvPr id="35" name="Text 12"/>
          <p:cNvSpPr/>
          <p:nvPr/>
        </p:nvSpPr>
        <p:spPr>
          <a:xfrm>
            <a:off x="6591300" y="2505075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USER</a:t>
            </a:r>
            <a:endParaRPr lang="en-US" sz="900" dirty="0"/>
          </a:p>
        </p:txBody>
      </p:sp>
      <p:sp>
        <p:nvSpPr>
          <p:cNvPr id="36" name="Text 13"/>
          <p:cNvSpPr/>
          <p:nvPr/>
        </p:nvSpPr>
        <p:spPr>
          <a:xfrm>
            <a:off x="7124700" y="2524125"/>
            <a:ext cx="656082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 Lettura, Visualizzazione Report</a:t>
            </a:r>
            <a:endParaRPr lang="en-US" sz="1050" dirty="0"/>
          </a:p>
        </p:txBody>
      </p:sp>
      <p:sp>
        <p:nvSpPr>
          <p:cNvPr id="37" name="Text 14"/>
          <p:cNvSpPr/>
          <p:nvPr/>
        </p:nvSpPr>
        <p:spPr>
          <a:xfrm>
            <a:off x="6753225" y="6486525"/>
            <a:ext cx="53530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64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Logout &amp; Blacklist</a:t>
            </a:r>
            <a:endParaRPr lang="en-US" sz="1500" dirty="0"/>
          </a:p>
        </p:txBody>
      </p:sp>
      <p:sp>
        <p:nvSpPr>
          <p:cNvPr id="38" name="Text 15"/>
          <p:cNvSpPr/>
          <p:nvPr/>
        </p:nvSpPr>
        <p:spPr>
          <a:xfrm>
            <a:off x="6400800" y="6905625"/>
            <a:ext cx="53530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Gestione della sicurezza post-disconnessione: i token invalidati vengono inseriti in una blacklist volatile per impedirne il riuso fino alla loro scadenza naturale.</a:t>
            </a:r>
            <a:endParaRPr lang="en-US" sz="1050" dirty="0"/>
          </a:p>
        </p:txBody>
      </p:sp>
      <p:sp>
        <p:nvSpPr>
          <p:cNvPr id="39" name="Text 16"/>
          <p:cNvSpPr/>
          <p:nvPr/>
        </p:nvSpPr>
        <p:spPr>
          <a:xfrm>
            <a:off x="487561" y="6486525"/>
            <a:ext cx="156239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spc="72" kern="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OWASP COMPLIANT</a:t>
            </a:r>
            <a:endParaRPr lang="en-US" sz="900" dirty="0"/>
          </a:p>
        </p:txBody>
      </p:sp>
      <p:sp>
        <p:nvSpPr>
          <p:cNvPr id="40" name="Text 17"/>
          <p:cNvSpPr/>
          <p:nvPr/>
        </p:nvSpPr>
        <p:spPr>
          <a:xfrm>
            <a:off x="2278559" y="6486525"/>
            <a:ext cx="124122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spc="72" kern="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HMAC-SHA256</a:t>
            </a:r>
            <a:endParaRPr lang="en-US" sz="900" dirty="0"/>
          </a:p>
        </p:txBody>
      </p:sp>
      <p:sp>
        <p:nvSpPr>
          <p:cNvPr id="41" name="Text 18"/>
          <p:cNvSpPr/>
          <p:nvPr/>
        </p:nvSpPr>
        <p:spPr>
          <a:xfrm>
            <a:off x="3748385" y="6486525"/>
            <a:ext cx="12544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spc="72" kern="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STATELESS API</a:t>
            </a:r>
            <a:endParaRPr lang="en-US" sz="900" dirty="0"/>
          </a:p>
        </p:txBody>
      </p:sp>
      <p:sp>
        <p:nvSpPr>
          <p:cNvPr id="42" name="Text 19"/>
          <p:cNvSpPr/>
          <p:nvPr/>
        </p:nvSpPr>
        <p:spPr>
          <a:xfrm>
            <a:off x="10098584" y="6410325"/>
            <a:ext cx="180766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Nexus Energy Security Layer v1.0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86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022" y="479022"/>
            <a:ext cx="11233942" cy="74460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022" y="1620317"/>
            <a:ext cx="231527" cy="228534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9022" y="2692628"/>
            <a:ext cx="11233942" cy="31935"/>
          </a:xfrm>
          <a:prstGeom prst="rect">
            <a:avLst/>
          </a:prstGeom>
        </p:spPr>
      </p:pic>
      <p:pic>
        <p:nvPicPr>
          <p:cNvPr id="6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9022" y="2596824"/>
            <a:ext cx="191609" cy="191609"/>
          </a:xfrm>
          <a:prstGeom prst="rect">
            <a:avLst/>
          </a:prstGeom>
        </p:spPr>
      </p:pic>
      <p:pic>
        <p:nvPicPr>
          <p:cNvPr id="7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59758" y="2596824"/>
            <a:ext cx="191609" cy="191609"/>
          </a:xfrm>
          <a:prstGeom prst="rect">
            <a:avLst/>
          </a:prstGeom>
        </p:spPr>
      </p:pic>
      <p:pic>
        <p:nvPicPr>
          <p:cNvPr id="8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40494" y="2596824"/>
            <a:ext cx="191609" cy="191609"/>
          </a:xfrm>
          <a:prstGeom prst="rect">
            <a:avLst/>
          </a:prstGeom>
        </p:spPr>
      </p:pic>
      <p:pic>
        <p:nvPicPr>
          <p:cNvPr id="9" name="Image 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521230" y="2596824"/>
            <a:ext cx="191609" cy="191609"/>
          </a:xfrm>
          <a:prstGeom prst="rect">
            <a:avLst/>
          </a:prstGeom>
        </p:spPr>
      </p:pic>
      <p:pic>
        <p:nvPicPr>
          <p:cNvPr id="10" name="Image 8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9022" y="3235520"/>
            <a:ext cx="3616866" cy="1844235"/>
          </a:xfrm>
          <a:prstGeom prst="rect">
            <a:avLst/>
          </a:prstGeom>
        </p:spPr>
      </p:pic>
      <p:pic>
        <p:nvPicPr>
          <p:cNvPr id="11" name="Image 9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0631" y="3427129"/>
            <a:ext cx="383218" cy="383218"/>
          </a:xfrm>
          <a:prstGeom prst="rect">
            <a:avLst/>
          </a:prstGeom>
        </p:spPr>
      </p:pic>
      <p:pic>
        <p:nvPicPr>
          <p:cNvPr id="12" name="Image 10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66435" y="3506966"/>
            <a:ext cx="191609" cy="223544"/>
          </a:xfrm>
          <a:prstGeom prst="rect">
            <a:avLst/>
          </a:prstGeom>
        </p:spPr>
      </p:pic>
      <p:pic>
        <p:nvPicPr>
          <p:cNvPr id="13" name="Image 11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87498" y="3235520"/>
            <a:ext cx="3616866" cy="1844235"/>
          </a:xfrm>
          <a:prstGeom prst="rect">
            <a:avLst/>
          </a:prstGeom>
        </p:spPr>
      </p:pic>
      <p:pic>
        <p:nvPicPr>
          <p:cNvPr id="14" name="Image 12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479106" y="3427129"/>
            <a:ext cx="383218" cy="383218"/>
          </a:xfrm>
          <a:prstGeom prst="rect">
            <a:avLst/>
          </a:prstGeom>
        </p:spPr>
      </p:pic>
      <p:pic>
        <p:nvPicPr>
          <p:cNvPr id="15" name="Image 13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562935" y="3506966"/>
            <a:ext cx="215560" cy="223544"/>
          </a:xfrm>
          <a:prstGeom prst="rect">
            <a:avLst/>
          </a:prstGeom>
        </p:spPr>
      </p:pic>
      <p:pic>
        <p:nvPicPr>
          <p:cNvPr id="16" name="Image 14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095973" y="3235520"/>
            <a:ext cx="3616991" cy="1844235"/>
          </a:xfrm>
          <a:prstGeom prst="rect">
            <a:avLst/>
          </a:prstGeom>
        </p:spPr>
      </p:pic>
      <p:pic>
        <p:nvPicPr>
          <p:cNvPr id="17" name="Image 15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287582" y="3427129"/>
            <a:ext cx="383217" cy="383218"/>
          </a:xfrm>
          <a:prstGeom prst="rect">
            <a:avLst/>
          </a:prstGeom>
        </p:spPr>
      </p:pic>
      <p:pic>
        <p:nvPicPr>
          <p:cNvPr id="18" name="Image 16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387378" y="3506966"/>
            <a:ext cx="183625" cy="223544"/>
          </a:xfrm>
          <a:prstGeom prst="rect">
            <a:avLst/>
          </a:prstGeom>
        </p:spPr>
      </p:pic>
      <p:pic>
        <p:nvPicPr>
          <p:cNvPr id="19" name="Image 17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79022" y="5836086"/>
            <a:ext cx="11233942" cy="542892"/>
          </a:xfrm>
          <a:prstGeom prst="rect">
            <a:avLst/>
          </a:prstGeom>
        </p:spPr>
      </p:pic>
      <p:pic>
        <p:nvPicPr>
          <p:cNvPr id="20" name="Image 18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79022" y="6168657"/>
            <a:ext cx="119756" cy="133228"/>
          </a:xfrm>
          <a:prstGeom prst="rect">
            <a:avLst/>
          </a:prstGeom>
        </p:spPr>
      </p:pic>
      <p:pic>
        <p:nvPicPr>
          <p:cNvPr id="21" name="Image 19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843112" y="6168657"/>
            <a:ext cx="135723" cy="133228"/>
          </a:xfrm>
          <a:prstGeom prst="rect">
            <a:avLst/>
          </a:prstGeom>
        </p:spPr>
      </p:pic>
      <p:pic>
        <p:nvPicPr>
          <p:cNvPr id="22" name="Image 20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917544" y="6168657"/>
            <a:ext cx="135723" cy="133228"/>
          </a:xfrm>
          <a:prstGeom prst="rect">
            <a:avLst/>
          </a:prstGeom>
        </p:spPr>
      </p:pic>
      <p:pic>
        <p:nvPicPr>
          <p:cNvPr id="23" name="Image 21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141464" y="6091565"/>
            <a:ext cx="2571501" cy="287413"/>
          </a:xfrm>
          <a:prstGeom prst="rect">
            <a:avLst/>
          </a:prstGeom>
        </p:spPr>
      </p:pic>
      <p:sp>
        <p:nvSpPr>
          <p:cNvPr id="24" name="Text 0"/>
          <p:cNvSpPr/>
          <p:nvPr/>
        </p:nvSpPr>
        <p:spPr>
          <a:xfrm>
            <a:off x="670631" y="479022"/>
            <a:ext cx="22254985" cy="457192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3600"/>
              </a:lnSpc>
              <a:buNone/>
            </a:pPr>
            <a:r>
              <a:rPr lang="en-US" sz="3600" b="1" spc="-86" kern="0" dirty="0">
                <a:solidFill>
                  <a:srgbClr val="0064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Avvio del Sistema e Demo Operativa</a:t>
            </a:r>
            <a:endParaRPr lang="en-US" sz="3600" dirty="0"/>
          </a:p>
        </p:txBody>
      </p:sp>
      <p:sp>
        <p:nvSpPr>
          <p:cNvPr id="25" name="Text 1"/>
          <p:cNvSpPr/>
          <p:nvPr/>
        </p:nvSpPr>
        <p:spPr>
          <a:xfrm>
            <a:off x="670631" y="1000083"/>
            <a:ext cx="19091266" cy="2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1760"/>
              </a:lnSpc>
              <a:buNone/>
            </a:pPr>
            <a:r>
              <a:rPr lang="en-US" sz="15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Dalla configurazione Docker alla validazione dei pattern di resilienza</a:t>
            </a:r>
            <a:endParaRPr lang="en-US" sz="1500" dirty="0"/>
          </a:p>
        </p:txBody>
      </p:sp>
      <p:sp>
        <p:nvSpPr>
          <p:cNvPr id="26" name="Text 2"/>
          <p:cNvSpPr/>
          <p:nvPr/>
        </p:nvSpPr>
        <p:spPr>
          <a:xfrm>
            <a:off x="806354" y="1606845"/>
            <a:ext cx="11233942" cy="255478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2012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di Deployment</a:t>
            </a:r>
            <a:endParaRPr lang="en-US" sz="1800" dirty="0"/>
          </a:p>
        </p:txBody>
      </p:sp>
      <p:sp>
        <p:nvSpPr>
          <p:cNvPr id="27" name="Text 3"/>
          <p:cNvSpPr/>
          <p:nvPr/>
        </p:nvSpPr>
        <p:spPr>
          <a:xfrm>
            <a:off x="260808" y="2117802"/>
            <a:ext cx="3436429" cy="2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algn="ctr" indent="0" marL="0">
              <a:lnSpc>
                <a:spcPts val="1760"/>
              </a:lnSpc>
              <a:buNone/>
            </a:pPr>
            <a:r>
              <a:rPr lang="en-US" sz="1350" b="1" dirty="0">
                <a:solidFill>
                  <a:srgbClr val="0064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Configurazione</a:t>
            </a:r>
            <a:endParaRPr lang="en-US" sz="1350" dirty="0"/>
          </a:p>
        </p:txBody>
      </p:sp>
      <p:sp>
        <p:nvSpPr>
          <p:cNvPr id="28" name="Text 4"/>
          <p:cNvSpPr/>
          <p:nvPr/>
        </p:nvSpPr>
        <p:spPr>
          <a:xfrm>
            <a:off x="-407452" y="2373280"/>
            <a:ext cx="4772825" cy="159674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algn="ctr" indent="0" marL="0">
              <a:lnSpc>
                <a:spcPts val="1257"/>
              </a:lnSpc>
              <a:buNone/>
            </a:pPr>
            <a:r>
              <a:rPr lang="en-US" sz="105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.env (MySQL, JWT, Rabbit)</a:t>
            </a:r>
            <a:endParaRPr lang="en-US" sz="1050" dirty="0"/>
          </a:p>
        </p:txBody>
      </p:sp>
      <p:sp>
        <p:nvSpPr>
          <p:cNvPr id="29" name="Text 5"/>
          <p:cNvSpPr/>
          <p:nvPr/>
        </p:nvSpPr>
        <p:spPr>
          <a:xfrm>
            <a:off x="2269077" y="2117802"/>
            <a:ext cx="4909185" cy="2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algn="ctr" indent="0" marL="0">
              <a:lnSpc>
                <a:spcPts val="1760"/>
              </a:lnSpc>
              <a:buNone/>
            </a:pPr>
            <a:r>
              <a:rPr lang="en-US" sz="1350" b="1" dirty="0">
                <a:solidFill>
                  <a:srgbClr val="0064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Docker Orchestration</a:t>
            </a:r>
            <a:endParaRPr lang="en-US" sz="1350" dirty="0"/>
          </a:p>
        </p:txBody>
      </p:sp>
      <p:sp>
        <p:nvSpPr>
          <p:cNvPr id="30" name="Text 6"/>
          <p:cNvSpPr/>
          <p:nvPr/>
        </p:nvSpPr>
        <p:spPr>
          <a:xfrm>
            <a:off x="2814477" y="2373280"/>
            <a:ext cx="3818260" cy="159674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algn="ctr" indent="0" marL="0">
              <a:lnSpc>
                <a:spcPts val="1257"/>
              </a:lnSpc>
              <a:buNone/>
            </a:pPr>
            <a:r>
              <a:rPr lang="en-US" sz="105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docker-compose up -d</a:t>
            </a:r>
            <a:endParaRPr lang="en-US" sz="1050" dirty="0"/>
          </a:p>
        </p:txBody>
      </p:sp>
      <p:sp>
        <p:nvSpPr>
          <p:cNvPr id="31" name="Text 7"/>
          <p:cNvSpPr/>
          <p:nvPr/>
        </p:nvSpPr>
        <p:spPr>
          <a:xfrm>
            <a:off x="5995561" y="2117802"/>
            <a:ext cx="2945511" cy="2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algn="ctr" indent="0" marL="0">
              <a:lnSpc>
                <a:spcPts val="1760"/>
              </a:lnSpc>
              <a:buNone/>
            </a:pPr>
            <a:r>
              <a:rPr lang="en-US" sz="1350" b="1" dirty="0">
                <a:solidFill>
                  <a:srgbClr val="0064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Health Check</a:t>
            </a:r>
            <a:endParaRPr lang="en-US" sz="1350" dirty="0"/>
          </a:p>
        </p:txBody>
      </p:sp>
      <p:sp>
        <p:nvSpPr>
          <p:cNvPr id="32" name="Text 8"/>
          <p:cNvSpPr/>
          <p:nvPr/>
        </p:nvSpPr>
        <p:spPr>
          <a:xfrm>
            <a:off x="5145479" y="2373280"/>
            <a:ext cx="4645550" cy="159674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algn="ctr" indent="0" marL="0">
              <a:lnSpc>
                <a:spcPts val="1257"/>
              </a:lnSpc>
              <a:buNone/>
            </a:pPr>
            <a:r>
              <a:rPr lang="en-US" sz="105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Server Ready (~2-4 min)</a:t>
            </a:r>
            <a:endParaRPr lang="en-US" sz="1050" dirty="0"/>
          </a:p>
        </p:txBody>
      </p:sp>
      <p:sp>
        <p:nvSpPr>
          <p:cNvPr id="33" name="Text 9"/>
          <p:cNvSpPr/>
          <p:nvPr/>
        </p:nvSpPr>
        <p:spPr>
          <a:xfrm>
            <a:off x="8840703" y="2117802"/>
            <a:ext cx="2744523" cy="2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algn="ctr" indent="0" marL="0">
              <a:lnSpc>
                <a:spcPts val="1760"/>
              </a:lnSpc>
              <a:buNone/>
            </a:pPr>
            <a:r>
              <a:rPr lang="en-US" sz="1350" b="1" dirty="0">
                <a:solidFill>
                  <a:srgbClr val="0064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Ready</a:t>
            </a:r>
            <a:endParaRPr lang="en-US" sz="1350" dirty="0"/>
          </a:p>
        </p:txBody>
      </p:sp>
      <p:sp>
        <p:nvSpPr>
          <p:cNvPr id="34" name="Text 10"/>
          <p:cNvSpPr/>
          <p:nvPr/>
        </p:nvSpPr>
        <p:spPr>
          <a:xfrm>
            <a:off x="7921946" y="2373280"/>
            <a:ext cx="4581912" cy="159674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algn="ctr" indent="0" marL="0">
              <a:lnSpc>
                <a:spcPts val="1257"/>
              </a:lnSpc>
              <a:buNone/>
            </a:pPr>
            <a:r>
              <a:rPr lang="en-US" sz="105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Login ADMIN &amp; Simulation</a:t>
            </a:r>
            <a:endParaRPr lang="en-US" sz="1050" dirty="0"/>
          </a:p>
        </p:txBody>
      </p:sp>
      <p:sp>
        <p:nvSpPr>
          <p:cNvPr id="35" name="Text 11"/>
          <p:cNvSpPr/>
          <p:nvPr/>
        </p:nvSpPr>
        <p:spPr>
          <a:xfrm>
            <a:off x="670631" y="3938086"/>
            <a:ext cx="4636450" cy="2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1760"/>
              </a:lnSpc>
              <a:buNone/>
            </a:pPr>
            <a:r>
              <a:rPr lang="en-US" sz="1500" b="1" dirty="0">
                <a:solidFill>
                  <a:srgbClr val="0064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 Twin Live</a:t>
            </a:r>
            <a:endParaRPr lang="en-US" sz="1500" dirty="0"/>
          </a:p>
        </p:txBody>
      </p:sp>
      <p:sp>
        <p:nvSpPr>
          <p:cNvPr id="36" name="Text 12"/>
          <p:cNvSpPr/>
          <p:nvPr/>
        </p:nvSpPr>
        <p:spPr>
          <a:xfrm>
            <a:off x="670631" y="4225499"/>
            <a:ext cx="3217682" cy="650048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1706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SSE di dati reali vs predizioni LSTM. Visualizzazione insight e trend settimanali sulla Dashboard React.</a:t>
            </a:r>
            <a:endParaRPr lang="en-US" sz="1050" dirty="0"/>
          </a:p>
        </p:txBody>
      </p:sp>
      <p:sp>
        <p:nvSpPr>
          <p:cNvPr id="37" name="Text 13"/>
          <p:cNvSpPr/>
          <p:nvPr/>
        </p:nvSpPr>
        <p:spPr>
          <a:xfrm>
            <a:off x="4479106" y="3938086"/>
            <a:ext cx="4636450" cy="2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1760"/>
              </a:lnSpc>
              <a:buNone/>
            </a:pPr>
            <a:r>
              <a:rPr lang="en-US" sz="1500" b="1" dirty="0">
                <a:solidFill>
                  <a:srgbClr val="0064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Stress &amp; Fallback</a:t>
            </a:r>
            <a:endParaRPr lang="en-US" sz="1500" dirty="0"/>
          </a:p>
        </p:txBody>
      </p:sp>
      <p:sp>
        <p:nvSpPr>
          <p:cNvPr id="38" name="Text 14"/>
          <p:cNvSpPr/>
          <p:nvPr/>
        </p:nvSpPr>
        <p:spPr>
          <a:xfrm>
            <a:off x="4479106" y="4225499"/>
            <a:ext cx="3217682" cy="650048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1706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Simulazione </a:t>
            </a:r>
            <a:pPr indent="0" marL="0">
              <a:lnSpc>
                <a:spcPts val="1706"/>
              </a:lnSpc>
              <a:buNone/>
            </a:pPr>
            <a:r>
              <a:rPr lang="en-US" sz="1050" b="1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DB Down</a:t>
            </a:r>
            <a:pPr indent="0" marL="0">
              <a:lnSpc>
                <a:spcPts val="1706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 attivazione automatica del Circuit Breaker e instradamento su RabbitMQ Quorum Queue.</a:t>
            </a:r>
            <a:endParaRPr lang="en-US" sz="1050" dirty="0"/>
          </a:p>
        </p:txBody>
      </p:sp>
      <p:sp>
        <p:nvSpPr>
          <p:cNvPr id="39" name="Text 15"/>
          <p:cNvSpPr/>
          <p:nvPr/>
        </p:nvSpPr>
        <p:spPr>
          <a:xfrm>
            <a:off x="8287582" y="3938086"/>
            <a:ext cx="4909183" cy="2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1760"/>
              </a:lnSpc>
              <a:buNone/>
            </a:pPr>
            <a:r>
              <a:rPr lang="en-US" sz="1500" b="1" dirty="0">
                <a:solidFill>
                  <a:srgbClr val="0064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Proactive Alerting</a:t>
            </a:r>
            <a:endParaRPr lang="en-US" sz="1500" dirty="0"/>
          </a:p>
        </p:txBody>
      </p:sp>
      <p:sp>
        <p:nvSpPr>
          <p:cNvPr id="40" name="Text 16"/>
          <p:cNvSpPr/>
          <p:nvPr/>
        </p:nvSpPr>
        <p:spPr>
          <a:xfrm>
            <a:off x="8287582" y="4225499"/>
            <a:ext cx="3217681" cy="433365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1706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Invio alert su </a:t>
            </a:r>
            <a:pPr indent="0" marL="0">
              <a:lnSpc>
                <a:spcPts val="1706"/>
              </a:lnSpc>
              <a:buNone/>
            </a:pPr>
            <a:r>
              <a:rPr lang="en-US" sz="1050" b="1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Telegram</a:t>
            </a:r>
            <a:pPr indent="0" marL="0">
              <a:lnSpc>
                <a:spcPts val="1706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via Logstash per anomalie energetiche (&gt;20%) e criticità infrastrutturali.</a:t>
            </a:r>
            <a:endParaRPr lang="en-US" sz="1050" dirty="0"/>
          </a:p>
        </p:txBody>
      </p:sp>
      <p:sp>
        <p:nvSpPr>
          <p:cNvPr id="41" name="Text 17"/>
          <p:cNvSpPr/>
          <p:nvPr/>
        </p:nvSpPr>
        <p:spPr>
          <a:xfrm>
            <a:off x="662647" y="6155434"/>
            <a:ext cx="1108612" cy="159674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1257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MySQL / Redis</a:t>
            </a:r>
            <a:endParaRPr lang="en-US" sz="1050" dirty="0"/>
          </a:p>
        </p:txBody>
      </p:sp>
      <p:sp>
        <p:nvSpPr>
          <p:cNvPr id="42" name="Text 18"/>
          <p:cNvSpPr/>
          <p:nvPr/>
        </p:nvSpPr>
        <p:spPr>
          <a:xfrm>
            <a:off x="2042705" y="6155434"/>
            <a:ext cx="1527304" cy="159674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1257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RabbitMQ</a:t>
            </a:r>
            <a:endParaRPr lang="en-US" sz="1050" dirty="0"/>
          </a:p>
        </p:txBody>
      </p:sp>
      <p:sp>
        <p:nvSpPr>
          <p:cNvPr id="43" name="Text 19"/>
          <p:cNvSpPr/>
          <p:nvPr/>
        </p:nvSpPr>
        <p:spPr>
          <a:xfrm>
            <a:off x="3117137" y="6155434"/>
            <a:ext cx="1718217" cy="159674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1257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ELK Stack</a:t>
            </a:r>
            <a:endParaRPr lang="en-US" sz="1050" dirty="0"/>
          </a:p>
        </p:txBody>
      </p:sp>
      <p:sp>
        <p:nvSpPr>
          <p:cNvPr id="44" name="Text 20"/>
          <p:cNvSpPr/>
          <p:nvPr/>
        </p:nvSpPr>
        <p:spPr>
          <a:xfrm>
            <a:off x="9333072" y="6091565"/>
            <a:ext cx="3767271" cy="287413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horz"/>
          <a:lstStyle/>
          <a:p>
            <a:pPr indent="0" marL="0">
              <a:lnSpc>
                <a:spcPts val="1257"/>
              </a:lnSpc>
              <a:buNone/>
            </a:pPr>
            <a:r>
              <a:rPr lang="en-US" sz="1050" b="1" spc="1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FINE PRESENTAZIONE • Q&amp;A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2026-02-15T16:35:19Z</dcterms:created>
  <dcterms:modified xsi:type="dcterms:W3CDTF">2026-02-15T16:35:19Z</dcterms:modified>
</cp:coreProperties>
</file>