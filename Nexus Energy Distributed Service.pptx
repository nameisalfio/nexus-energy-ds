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umero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Testo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Titolo Testo</a:t>
            </a:r>
          </a:p>
        </p:txBody>
      </p:sp>
      <p:sp>
        <p:nvSpPr>
          <p:cNvPr id="3" name="Corpo livello uno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Corpo livello uno</a:t>
            </a:r>
          </a:p>
          <a:p>
            <a:pPr lvl="1"/>
            <a:r>
              <a:t>Corpo livello due</a:t>
            </a:r>
          </a:p>
          <a:p>
            <a:pPr lvl="2"/>
            <a:r>
              <a:t>Corpo livello tre</a:t>
            </a:r>
          </a:p>
          <a:p>
            <a:pPr lvl="3"/>
            <a:r>
              <a:t>Corpo livello quattro</a:t>
            </a:r>
          </a:p>
          <a:p>
            <a:pPr lvl="4"/>
            <a:r>
              <a:t>Corpo livello cinque</a:t>
            </a:r>
          </a:p>
        </p:txBody>
      </p:sp>
      <p:sp>
        <p:nvSpPr>
          <p:cNvPr id="4" name="Numero diapositiva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png"/><Relationship Id="rId17" Type="http://schemas.openxmlformats.org/officeDocument/2006/relationships/image" Target="../media/image35.png"/><Relationship Id="rId18" Type="http://schemas.openxmlformats.org/officeDocument/2006/relationships/image" Target="../media/image36.png"/><Relationship Id="rId19" Type="http://schemas.openxmlformats.org/officeDocument/2006/relationships/image" Target="../media/image37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Relationship Id="rId7" Type="http://schemas.openxmlformats.org/officeDocument/2006/relationships/image" Target="../media/image42.png"/><Relationship Id="rId8" Type="http://schemas.openxmlformats.org/officeDocument/2006/relationships/image" Target="../media/image43.png"/><Relationship Id="rId9" Type="http://schemas.openxmlformats.org/officeDocument/2006/relationships/image" Target="../media/image44.png"/><Relationship Id="rId10" Type="http://schemas.openxmlformats.org/officeDocument/2006/relationships/image" Target="../media/image45.png"/><Relationship Id="rId11" Type="http://schemas.openxmlformats.org/officeDocument/2006/relationships/image" Target="../media/image46.png"/><Relationship Id="rId12" Type="http://schemas.openxmlformats.org/officeDocument/2006/relationships/image" Target="../media/image47.png"/><Relationship Id="rId13" Type="http://schemas.openxmlformats.org/officeDocument/2006/relationships/image" Target="../media/image48.png"/><Relationship Id="rId14" Type="http://schemas.openxmlformats.org/officeDocument/2006/relationships/image" Target="../media/image49.png"/><Relationship Id="rId15" Type="http://schemas.openxmlformats.org/officeDocument/2006/relationships/image" Target="../media/image50.png"/><Relationship Id="rId16" Type="http://schemas.openxmlformats.org/officeDocument/2006/relationships/image" Target="../media/image51.png"/><Relationship Id="rId17" Type="http://schemas.openxmlformats.org/officeDocument/2006/relationships/image" Target="../media/image52.png"/><Relationship Id="rId18" Type="http://schemas.openxmlformats.org/officeDocument/2006/relationships/image" Target="../media/image53.png"/><Relationship Id="rId19" Type="http://schemas.openxmlformats.org/officeDocument/2006/relationships/image" Target="../media/image5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55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8.png"/><Relationship Id="rId7" Type="http://schemas.openxmlformats.org/officeDocument/2006/relationships/image" Target="../media/image59.png"/><Relationship Id="rId8" Type="http://schemas.openxmlformats.org/officeDocument/2006/relationships/image" Target="../media/image60.png"/><Relationship Id="rId9" Type="http://schemas.openxmlformats.org/officeDocument/2006/relationships/image" Target="../media/image61.png"/><Relationship Id="rId10" Type="http://schemas.openxmlformats.org/officeDocument/2006/relationships/image" Target="../media/image62.png"/><Relationship Id="rId11" Type="http://schemas.openxmlformats.org/officeDocument/2006/relationships/image" Target="../media/image63.png"/><Relationship Id="rId12" Type="http://schemas.openxmlformats.org/officeDocument/2006/relationships/image" Target="../media/image64.png"/><Relationship Id="rId13" Type="http://schemas.openxmlformats.org/officeDocument/2006/relationships/image" Target="../media/image65.png"/><Relationship Id="rId14" Type="http://schemas.openxmlformats.org/officeDocument/2006/relationships/image" Target="../media/image66.png"/><Relationship Id="rId15" Type="http://schemas.openxmlformats.org/officeDocument/2006/relationships/image" Target="../media/image67.png"/><Relationship Id="rId16" Type="http://schemas.openxmlformats.org/officeDocument/2006/relationships/image" Target="../media/image68.png"/><Relationship Id="rId17" Type="http://schemas.openxmlformats.org/officeDocument/2006/relationships/image" Target="../media/image69.png"/><Relationship Id="rId18" Type="http://schemas.openxmlformats.org/officeDocument/2006/relationships/image" Target="../media/image70.png"/><Relationship Id="rId19" Type="http://schemas.openxmlformats.org/officeDocument/2006/relationships/image" Target="../media/image71.png"/><Relationship Id="rId20" Type="http://schemas.openxmlformats.org/officeDocument/2006/relationships/image" Target="../media/image72.png"/><Relationship Id="rId21" Type="http://schemas.openxmlformats.org/officeDocument/2006/relationships/image" Target="../media/image73.png"/><Relationship Id="rId22" Type="http://schemas.openxmlformats.org/officeDocument/2006/relationships/image" Target="../media/image74.png"/><Relationship Id="rId23" Type="http://schemas.openxmlformats.org/officeDocument/2006/relationships/image" Target="../media/image7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Relationship Id="rId5" Type="http://schemas.openxmlformats.org/officeDocument/2006/relationships/image" Target="../media/image78.png"/><Relationship Id="rId6" Type="http://schemas.openxmlformats.org/officeDocument/2006/relationships/image" Target="../media/image79.png"/><Relationship Id="rId7" Type="http://schemas.openxmlformats.org/officeDocument/2006/relationships/image" Target="../media/image80.png"/><Relationship Id="rId8" Type="http://schemas.openxmlformats.org/officeDocument/2006/relationships/image" Target="../media/image81.png"/><Relationship Id="rId9" Type="http://schemas.openxmlformats.org/officeDocument/2006/relationships/image" Target="../media/image82.png"/><Relationship Id="rId10" Type="http://schemas.openxmlformats.org/officeDocument/2006/relationships/image" Target="../media/image83.png"/><Relationship Id="rId11" Type="http://schemas.openxmlformats.org/officeDocument/2006/relationships/image" Target="../media/image84.png"/><Relationship Id="rId12" Type="http://schemas.openxmlformats.org/officeDocument/2006/relationships/image" Target="../media/image85.png"/><Relationship Id="rId13" Type="http://schemas.openxmlformats.org/officeDocument/2006/relationships/image" Target="../media/image86.png"/><Relationship Id="rId14" Type="http://schemas.openxmlformats.org/officeDocument/2006/relationships/image" Target="../media/image87.png"/><Relationship Id="rId15" Type="http://schemas.openxmlformats.org/officeDocument/2006/relationships/image" Target="../media/image88.png"/><Relationship Id="rId16" Type="http://schemas.openxmlformats.org/officeDocument/2006/relationships/image" Target="../media/image89.png"/><Relationship Id="rId17" Type="http://schemas.openxmlformats.org/officeDocument/2006/relationships/image" Target="../media/image90.png"/><Relationship Id="rId18" Type="http://schemas.openxmlformats.org/officeDocument/2006/relationships/image" Target="../media/image91.png"/><Relationship Id="rId19" Type="http://schemas.openxmlformats.org/officeDocument/2006/relationships/image" Target="../media/image92.png"/><Relationship Id="rId20" Type="http://schemas.openxmlformats.org/officeDocument/2006/relationships/image" Target="../media/image93.png"/><Relationship Id="rId21" Type="http://schemas.openxmlformats.org/officeDocument/2006/relationships/image" Target="../media/image9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99.png"/><Relationship Id="rId8" Type="http://schemas.openxmlformats.org/officeDocument/2006/relationships/image" Target="../media/image100.png"/><Relationship Id="rId9" Type="http://schemas.openxmlformats.org/officeDocument/2006/relationships/image" Target="../media/image101.png"/><Relationship Id="rId10" Type="http://schemas.openxmlformats.org/officeDocument/2006/relationships/image" Target="../media/image102.png"/><Relationship Id="rId11" Type="http://schemas.openxmlformats.org/officeDocument/2006/relationships/image" Target="../media/image103.png"/><Relationship Id="rId12" Type="http://schemas.openxmlformats.org/officeDocument/2006/relationships/image" Target="../media/image10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5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106.png"/><Relationship Id="rId4" Type="http://schemas.openxmlformats.org/officeDocument/2006/relationships/image" Target="../media/image107.png"/><Relationship Id="rId5" Type="http://schemas.openxmlformats.org/officeDocument/2006/relationships/image" Target="../media/image108.png"/><Relationship Id="rId6" Type="http://schemas.openxmlformats.org/officeDocument/2006/relationships/image" Target="../media/image109.png"/><Relationship Id="rId7" Type="http://schemas.openxmlformats.org/officeDocument/2006/relationships/image" Target="../media/image110.png"/><Relationship Id="rId8" Type="http://schemas.openxmlformats.org/officeDocument/2006/relationships/image" Target="../media/image111.png"/><Relationship Id="rId9" Type="http://schemas.openxmlformats.org/officeDocument/2006/relationships/image" Target="../media/image112.png"/><Relationship Id="rId10" Type="http://schemas.openxmlformats.org/officeDocument/2006/relationships/image" Target="../media/image113.png"/><Relationship Id="rId11" Type="http://schemas.openxmlformats.org/officeDocument/2006/relationships/image" Target="../media/image114.png"/><Relationship Id="rId12" Type="http://schemas.openxmlformats.org/officeDocument/2006/relationships/image" Target="../media/image115.png"/><Relationship Id="rId13" Type="http://schemas.openxmlformats.org/officeDocument/2006/relationships/image" Target="../media/image116.png"/><Relationship Id="rId14" Type="http://schemas.openxmlformats.org/officeDocument/2006/relationships/image" Target="../media/image117.png"/><Relationship Id="rId15" Type="http://schemas.openxmlformats.org/officeDocument/2006/relationships/image" Target="../media/image118.png"/><Relationship Id="rId16" Type="http://schemas.openxmlformats.org/officeDocument/2006/relationships/image" Target="../media/image119.png"/><Relationship Id="rId17" Type="http://schemas.openxmlformats.org/officeDocument/2006/relationships/image" Target="../media/image120.png"/><Relationship Id="rId18" Type="http://schemas.openxmlformats.org/officeDocument/2006/relationships/image" Target="../media/image12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2" name="Text 0"/>
          <p:cNvSpPr txBox="1"/>
          <p:nvPr/>
        </p:nvSpPr>
        <p:spPr>
          <a:xfrm>
            <a:off x="3535679" y="1971358"/>
            <a:ext cx="5120642" cy="181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500"/>
              </a:lnSpc>
              <a:defRPr b="1" spc="252" sz="1000">
                <a:solidFill>
                  <a:srgbClr val="FFA5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DISTRIBUTED SYSTEMS ARCHITECTURE</a:t>
            </a:r>
          </a:p>
        </p:txBody>
      </p:sp>
      <p:sp>
        <p:nvSpPr>
          <p:cNvPr id="23" name="Text 1"/>
          <p:cNvSpPr txBox="1"/>
          <p:nvPr/>
        </p:nvSpPr>
        <p:spPr>
          <a:xfrm>
            <a:off x="-487680" y="2386592"/>
            <a:ext cx="13167361" cy="941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7200"/>
              </a:lnSpc>
              <a:defRPr b="1" spc="-288" sz="7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NEXUS </a:t>
            </a:r>
            <a:r>
              <a:rPr>
                <a:solidFill>
                  <a:srgbClr val="FFA500"/>
                </a:solidFill>
              </a:rPr>
              <a:t>ENERGY</a:t>
            </a:r>
          </a:p>
        </p:txBody>
      </p:sp>
      <p:sp>
        <p:nvSpPr>
          <p:cNvPr id="24" name="Text 2"/>
          <p:cNvSpPr txBox="1"/>
          <p:nvPr/>
        </p:nvSpPr>
        <p:spPr>
          <a:xfrm>
            <a:off x="335279" y="3465769"/>
            <a:ext cx="11521442" cy="383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3000"/>
              </a:lnSpc>
              <a:defRPr spc="-54" sz="2700">
                <a:solidFill>
                  <a:srgbClr val="D3D3D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Distributed Service Platform</a:t>
            </a:r>
          </a:p>
        </p:txBody>
      </p:sp>
      <p:sp>
        <p:nvSpPr>
          <p:cNvPr id="25" name="Text 3"/>
          <p:cNvSpPr txBox="1"/>
          <p:nvPr/>
        </p:nvSpPr>
        <p:spPr>
          <a:xfrm>
            <a:off x="2438400" y="4318636"/>
            <a:ext cx="7315200" cy="592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ts val="2400"/>
              </a:lnSpc>
              <a:defRPr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Piattaforma full-stack per il monitoraggio e l'analisi predittiva del consumo energetico negli edifici tramite </a:t>
            </a:r>
            <a:r>
              <a:rPr b="1">
                <a:solidFill>
                  <a:srgbClr val="FFA500"/>
                </a:solidFill>
              </a:rPr>
              <a:t>Digital Energy Twin</a:t>
            </a:r>
            <a:r>
              <a:t>.</a:t>
            </a:r>
          </a:p>
        </p:txBody>
      </p:sp>
      <p:sp>
        <p:nvSpPr>
          <p:cNvPr id="26" name="Text 4"/>
          <p:cNvSpPr txBox="1"/>
          <p:nvPr/>
        </p:nvSpPr>
        <p:spPr>
          <a:xfrm>
            <a:off x="762000" y="5795646"/>
            <a:ext cx="2952452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pc="84" sz="1000">
                <a:solidFill>
                  <a:srgbClr val="D3D3D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CORE TECHNOLOGIES</a:t>
            </a:r>
          </a:p>
        </p:txBody>
      </p:sp>
      <p:sp>
        <p:nvSpPr>
          <p:cNvPr id="27" name="Text 5"/>
          <p:cNvSpPr txBox="1"/>
          <p:nvPr/>
        </p:nvSpPr>
        <p:spPr>
          <a:xfrm>
            <a:off x="762000" y="6122735"/>
            <a:ext cx="2952452" cy="251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b="1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AI • IoT • Real-time Streaming • ELK</a:t>
            </a:r>
          </a:p>
        </p:txBody>
      </p:sp>
      <p:sp>
        <p:nvSpPr>
          <p:cNvPr id="28" name="Text 6"/>
          <p:cNvSpPr txBox="1"/>
          <p:nvPr/>
        </p:nvSpPr>
        <p:spPr>
          <a:xfrm>
            <a:off x="8750647" y="5795646"/>
            <a:ext cx="2679354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lnSpc>
                <a:spcPts val="1500"/>
              </a:lnSpc>
              <a:defRPr spc="84" sz="1000">
                <a:solidFill>
                  <a:srgbClr val="D3D3D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TARGET AUDIENCE</a:t>
            </a:r>
          </a:p>
        </p:txBody>
      </p:sp>
      <p:sp>
        <p:nvSpPr>
          <p:cNvPr id="29" name="Text 7"/>
          <p:cNvSpPr txBox="1"/>
          <p:nvPr/>
        </p:nvSpPr>
        <p:spPr>
          <a:xfrm>
            <a:off x="8750647" y="6122735"/>
            <a:ext cx="2679354" cy="251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lnSpc>
                <a:spcPts val="2100"/>
              </a:lnSpc>
              <a:defRPr b="1" sz="13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Ingegneria dei Sistemi Distribuiti</a:t>
            </a:r>
          </a:p>
        </p:txBody>
      </p:sp>
      <p:sp>
        <p:nvSpPr>
          <p:cNvPr id="30" name="Text 8"/>
          <p:cNvSpPr txBox="1"/>
          <p:nvPr/>
        </p:nvSpPr>
        <p:spPr>
          <a:xfrm>
            <a:off x="457200" y="461393"/>
            <a:ext cx="822961" cy="296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400"/>
              </a:lnSpc>
              <a:defRPr b="1" spc="-72">
                <a:solidFill>
                  <a:srgbClr val="FFA5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N/E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972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1972" cy="804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1445806" y="234748"/>
            <a:ext cx="343739" cy="335355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02425" y="1240811"/>
            <a:ext cx="226364" cy="201214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02425" y="2464855"/>
            <a:ext cx="5525883" cy="3672134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70709" y="3202635"/>
            <a:ext cx="285052" cy="3353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Image 6" descr="Image 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37780" y="3303242"/>
            <a:ext cx="150911" cy="134143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Image 7" descr="Image 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70709" y="3806273"/>
            <a:ext cx="268285" cy="3353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Image 8" descr="Image 8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737780" y="3906880"/>
            <a:ext cx="134143" cy="134143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Image 9" descr="Image 9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670709" y="4409911"/>
            <a:ext cx="251517" cy="3353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Image 10" descr="Image 10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737780" y="4510518"/>
            <a:ext cx="117375" cy="134143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Image 11" descr="Image 11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6263663" y="2464855"/>
            <a:ext cx="5525883" cy="3672134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Image 12" descr="Image 12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6531947" y="3751779"/>
            <a:ext cx="4989315" cy="603639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Image 13" descr="Image 13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6531947" y="4489558"/>
            <a:ext cx="4989315" cy="603639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Image 14" descr="Image 14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6531947" y="5227337"/>
            <a:ext cx="4989315" cy="603639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Image 15" descr="Image 15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11051765" y="5399208"/>
            <a:ext cx="1073135" cy="1073135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Image 16" descr="Image 16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402425" y="6405271"/>
            <a:ext cx="11387120" cy="402426"/>
          </a:xfrm>
          <a:prstGeom prst="rect">
            <a:avLst/>
          </a:prstGeom>
          <a:ln w="12700">
            <a:miter lim="400000"/>
          </a:ln>
        </p:spPr>
      </p:pic>
      <p:sp>
        <p:nvSpPr>
          <p:cNvPr id="49" name="Text 0"/>
          <p:cNvSpPr txBox="1"/>
          <p:nvPr/>
        </p:nvSpPr>
        <p:spPr>
          <a:xfrm>
            <a:off x="402424" y="169618"/>
            <a:ext cx="15323172" cy="2979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300"/>
              </a:lnSpc>
              <a:defRPr b="1" spc="-51" sz="2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02. Introduzione e Digital Energy Twin</a:t>
            </a:r>
          </a:p>
        </p:txBody>
      </p:sp>
      <p:sp>
        <p:nvSpPr>
          <p:cNvPr id="50" name="Text 1"/>
          <p:cNvSpPr txBox="1"/>
          <p:nvPr/>
        </p:nvSpPr>
        <p:spPr>
          <a:xfrm>
            <a:off x="402424" y="472690"/>
            <a:ext cx="5817634" cy="161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spc="95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NEXUS ENERGY DISTRIBUTED SERVICE</a:t>
            </a:r>
          </a:p>
        </p:txBody>
      </p:sp>
      <p:sp>
        <p:nvSpPr>
          <p:cNvPr id="51" name="Text 2"/>
          <p:cNvSpPr txBox="1"/>
          <p:nvPr/>
        </p:nvSpPr>
        <p:spPr>
          <a:xfrm>
            <a:off x="729395" y="1212832"/>
            <a:ext cx="11387122" cy="257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b="1" sz="15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Visione del Progetto</a:t>
            </a:r>
          </a:p>
        </p:txBody>
      </p:sp>
      <p:sp>
        <p:nvSpPr>
          <p:cNvPr id="52" name="Text 3"/>
          <p:cNvSpPr txBox="1"/>
          <p:nvPr/>
        </p:nvSpPr>
        <p:spPr>
          <a:xfrm>
            <a:off x="402425" y="1722301"/>
            <a:ext cx="8585076" cy="466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900"/>
              </a:lnSpc>
              <a:defRPr sz="1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Nexus Energy è una piattaforma </a:t>
            </a:r>
            <a:r>
              <a:rPr b="1"/>
              <a:t>full-stack distribuita</a:t>
            </a:r>
            <a:r>
              <a:t> progettata per il monitoraggio e l’analisi predittiva del consumo energetico negli edifici. Integra tecnologie eterogenee in un'architettura pronta per la produzione, scalabile e resiliente.</a:t>
            </a:r>
          </a:p>
        </p:txBody>
      </p:sp>
      <p:sp>
        <p:nvSpPr>
          <p:cNvPr id="53" name="Text 4"/>
          <p:cNvSpPr txBox="1"/>
          <p:nvPr/>
        </p:nvSpPr>
        <p:spPr>
          <a:xfrm>
            <a:off x="670709" y="2740089"/>
            <a:ext cx="4989317" cy="220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pc="30" sz="13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OBIETTIVI DI SISTEMA</a:t>
            </a:r>
          </a:p>
        </p:txBody>
      </p:sp>
      <p:sp>
        <p:nvSpPr>
          <p:cNvPr id="54" name="Text 5"/>
          <p:cNvSpPr txBox="1"/>
          <p:nvPr/>
        </p:nvSpPr>
        <p:spPr>
          <a:xfrm>
            <a:off x="1089901" y="3178902"/>
            <a:ext cx="4389122" cy="181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Integrazione Tecnologica</a:t>
            </a:r>
          </a:p>
        </p:txBody>
      </p:sp>
      <p:sp>
        <p:nvSpPr>
          <p:cNvPr id="55" name="Text 6"/>
          <p:cNvSpPr txBox="1"/>
          <p:nvPr/>
        </p:nvSpPr>
        <p:spPr>
          <a:xfrm>
            <a:off x="1089901" y="3395927"/>
            <a:ext cx="11521442" cy="158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i="1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Frontend, Backend, AI, Messaging e Osservabilità in un unico ecosistema.</a:t>
            </a:r>
          </a:p>
        </p:txBody>
      </p:sp>
      <p:sp>
        <p:nvSpPr>
          <p:cNvPr id="56" name="Text 7"/>
          <p:cNvSpPr txBox="1"/>
          <p:nvPr/>
        </p:nvSpPr>
        <p:spPr>
          <a:xfrm>
            <a:off x="1073134" y="3782540"/>
            <a:ext cx="4330921" cy="181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Produzione Pronta</a:t>
            </a:r>
          </a:p>
        </p:txBody>
      </p:sp>
      <p:sp>
        <p:nvSpPr>
          <p:cNvPr id="57" name="Text 8"/>
          <p:cNvSpPr txBox="1"/>
          <p:nvPr/>
        </p:nvSpPr>
        <p:spPr>
          <a:xfrm>
            <a:off x="1073133" y="3999565"/>
            <a:ext cx="12961622" cy="158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i="1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Gestione di errori, sicurezza JWT, logging centralizzato e pattern di resilienza.</a:t>
            </a:r>
          </a:p>
        </p:txBody>
      </p:sp>
      <p:sp>
        <p:nvSpPr>
          <p:cNvPr id="58" name="Text 9"/>
          <p:cNvSpPr txBox="1"/>
          <p:nvPr/>
        </p:nvSpPr>
        <p:spPr>
          <a:xfrm>
            <a:off x="1056367" y="4386178"/>
            <a:ext cx="3532488" cy="181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0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Real-time Analytics</a:t>
            </a:r>
          </a:p>
        </p:txBody>
      </p:sp>
      <p:sp>
        <p:nvSpPr>
          <p:cNvPr id="59" name="Text 10"/>
          <p:cNvSpPr txBox="1"/>
          <p:nvPr/>
        </p:nvSpPr>
        <p:spPr>
          <a:xfrm>
            <a:off x="1056366" y="4603204"/>
            <a:ext cx="10241282" cy="158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i="1" sz="9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Streaming di dati tramite SSE e notifiche immediate di anomalie.</a:t>
            </a:r>
          </a:p>
        </p:txBody>
      </p:sp>
      <p:sp>
        <p:nvSpPr>
          <p:cNvPr id="60" name="Text 11"/>
          <p:cNvSpPr txBox="1"/>
          <p:nvPr/>
        </p:nvSpPr>
        <p:spPr>
          <a:xfrm>
            <a:off x="6531947" y="2740089"/>
            <a:ext cx="5029201" cy="2208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pc="30" sz="1300">
                <a:solidFill>
                  <a:srgbClr val="FFA5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IL DIGITAL ENERGY TWIN</a:t>
            </a:r>
          </a:p>
        </p:txBody>
      </p:sp>
      <p:sp>
        <p:nvSpPr>
          <p:cNvPr id="61" name="Text 12"/>
          <p:cNvSpPr txBox="1"/>
          <p:nvPr/>
        </p:nvSpPr>
        <p:spPr>
          <a:xfrm>
            <a:off x="6531947" y="3175239"/>
            <a:ext cx="4989315" cy="369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500"/>
              </a:lnSpc>
              <a:defRPr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Il cuore pulsante di Nexus Energy è il </a:t>
            </a:r>
            <a:r>
              <a:rPr b="1"/>
              <a:t>Digital Twin</a:t>
            </a:r>
            <a:r>
              <a:t>: una rappresentazione virtuale neurale che modella il comportamento energetico dell'edificio.</a:t>
            </a:r>
          </a:p>
        </p:txBody>
      </p:sp>
      <p:sp>
        <p:nvSpPr>
          <p:cNvPr id="62" name="Text 13"/>
          <p:cNvSpPr txBox="1"/>
          <p:nvPr/>
        </p:nvSpPr>
        <p:spPr>
          <a:xfrm>
            <a:off x="6666087" y="3889492"/>
            <a:ext cx="47042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000"/>
              </a:lnSpc>
              <a:defRPr b="1" sz="700">
                <a:solidFill>
                  <a:srgbClr val="FFA5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MODELLO NEURALE</a:t>
            </a:r>
          </a:p>
        </p:txBody>
      </p:sp>
      <p:sp>
        <p:nvSpPr>
          <p:cNvPr id="63" name="Text 14"/>
          <p:cNvSpPr txBox="1"/>
          <p:nvPr/>
        </p:nvSpPr>
        <p:spPr>
          <a:xfrm>
            <a:off x="6666087" y="4058253"/>
            <a:ext cx="10081261" cy="158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Architettura </a:t>
            </a:r>
            <a:r>
              <a:rPr b="1"/>
              <a:t>LSTM</a:t>
            </a:r>
            <a:r>
              <a:t> (Long Short-Term Memory) per serie temporali.</a:t>
            </a:r>
          </a:p>
        </p:txBody>
      </p:sp>
      <p:sp>
        <p:nvSpPr>
          <p:cNvPr id="64" name="Text 15"/>
          <p:cNvSpPr txBox="1"/>
          <p:nvPr/>
        </p:nvSpPr>
        <p:spPr>
          <a:xfrm>
            <a:off x="6666087" y="4627272"/>
            <a:ext cx="47042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000"/>
              </a:lnSpc>
              <a:defRPr b="1" sz="700">
                <a:solidFill>
                  <a:srgbClr val="FFA5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INPUT DATASET (KAGGLE)</a:t>
            </a:r>
          </a:p>
        </p:txBody>
      </p:sp>
      <p:sp>
        <p:nvSpPr>
          <p:cNvPr id="65" name="Text 16"/>
          <p:cNvSpPr txBox="1"/>
          <p:nvPr/>
        </p:nvSpPr>
        <p:spPr>
          <a:xfrm>
            <a:off x="6666087" y="4796033"/>
            <a:ext cx="8961121" cy="158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i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Temperatura, Umidità, Occupazione, HVAC e Illuminazione.</a:t>
            </a:r>
          </a:p>
        </p:txBody>
      </p:sp>
      <p:sp>
        <p:nvSpPr>
          <p:cNvPr id="66" name="Text 17"/>
          <p:cNvSpPr txBox="1"/>
          <p:nvPr/>
        </p:nvSpPr>
        <p:spPr>
          <a:xfrm>
            <a:off x="6666087" y="5365051"/>
            <a:ext cx="470426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000"/>
              </a:lnSpc>
              <a:defRPr b="1" sz="700">
                <a:solidFill>
                  <a:srgbClr val="FFA5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RILEVAMENTO ANOMALIE</a:t>
            </a:r>
          </a:p>
        </p:txBody>
      </p:sp>
      <p:sp>
        <p:nvSpPr>
          <p:cNvPr id="67" name="Text 18"/>
          <p:cNvSpPr txBox="1"/>
          <p:nvPr/>
        </p:nvSpPr>
        <p:spPr>
          <a:xfrm>
            <a:off x="6666087" y="5533813"/>
            <a:ext cx="12321541" cy="1583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300"/>
              </a:lnSpc>
              <a:defRPr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Confronto continuo tra </a:t>
            </a:r>
            <a:r>
              <a:rPr b="1"/>
              <a:t>Predizione vs Dati Reali</a:t>
            </a:r>
            <a:r>
              <a:t> per individuare inefficienze.</a:t>
            </a:r>
          </a:p>
        </p:txBody>
      </p:sp>
      <p:sp>
        <p:nvSpPr>
          <p:cNvPr id="68" name="Text 19"/>
          <p:cNvSpPr txBox="1"/>
          <p:nvPr/>
        </p:nvSpPr>
        <p:spPr>
          <a:xfrm>
            <a:off x="402425" y="6610056"/>
            <a:ext cx="348087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000"/>
              </a:lnSpc>
              <a:defRPr sz="7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Dataset: Energy Consumption Prediction (Synthetic real-world emulation)</a:t>
            </a:r>
          </a:p>
        </p:txBody>
      </p:sp>
      <p:sp>
        <p:nvSpPr>
          <p:cNvPr id="69" name="Text 20"/>
          <p:cNvSpPr txBox="1"/>
          <p:nvPr/>
        </p:nvSpPr>
        <p:spPr>
          <a:xfrm>
            <a:off x="9869771" y="6610055"/>
            <a:ext cx="54864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000"/>
              </a:lnSpc>
              <a:defRPr b="1" i="1" sz="7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Nexus Energy: Scalability &amp; Intelligence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1000" y="381000"/>
            <a:ext cx="11430000" cy="723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3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81000" y="1485900"/>
            <a:ext cx="3606702" cy="2314575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09600" y="1752600"/>
            <a:ext cx="219075" cy="190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292501" y="1485900"/>
            <a:ext cx="7518500" cy="2314575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483001" y="2105025"/>
            <a:ext cx="1665388" cy="1495425"/>
          </a:xfrm>
          <a:prstGeom prst="rect">
            <a:avLst/>
          </a:prstGeom>
          <a:ln w="12700">
            <a:miter lim="400000"/>
          </a:ln>
        </p:spPr>
      </p:pic>
      <p:pic>
        <p:nvPicPr>
          <p:cNvPr id="77" name="Image 6" descr="Image 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201394" y="2333625"/>
            <a:ext cx="228601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Image 7" descr="Image 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300787" y="2105025"/>
            <a:ext cx="1665388" cy="1495425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Image 8" descr="Image 8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7019180" y="2333625"/>
            <a:ext cx="228601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Image 9" descr="Image 9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8118574" y="2105025"/>
            <a:ext cx="1665388" cy="1495425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Image 10" descr="Image 10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8836968" y="2333625"/>
            <a:ext cx="228601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Image 11" descr="Image 11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9936360" y="2105025"/>
            <a:ext cx="1665388" cy="1495425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Image 12" descr="Image 12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10640466" y="2333625"/>
            <a:ext cx="257176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Image 13" descr="Image 13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381000" y="4181475"/>
            <a:ext cx="533400" cy="609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Image 14" descr="Image 14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533400" y="4333875"/>
            <a:ext cx="228600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Image 15" descr="Image 15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5517505" y="4181475"/>
            <a:ext cx="504826" cy="609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Image 16" descr="Image 16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5669905" y="4333875"/>
            <a:ext cx="200026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Image 17" descr="Image 17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381000" y="6019800"/>
            <a:ext cx="11430000" cy="457200"/>
          </a:xfrm>
          <a:prstGeom prst="rect">
            <a:avLst/>
          </a:prstGeom>
          <a:ln w="12700">
            <a:miter lim="400000"/>
          </a:ln>
        </p:spPr>
      </p:pic>
      <p:sp>
        <p:nvSpPr>
          <p:cNvPr id="89" name="Text 0"/>
          <p:cNvSpPr txBox="1"/>
          <p:nvPr/>
        </p:nvSpPr>
        <p:spPr>
          <a:xfrm>
            <a:off x="609600" y="379669"/>
            <a:ext cx="16047720" cy="383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000"/>
              </a:lnSpc>
              <a:defRPr b="1" spc="-54" sz="27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ARCHITETTURA DEL SERVER (ENERGY-SERVER)</a:t>
            </a:r>
          </a:p>
        </p:txBody>
      </p:sp>
      <p:sp>
        <p:nvSpPr>
          <p:cNvPr id="90" name="Text 1"/>
          <p:cNvSpPr txBox="1"/>
          <p:nvPr/>
        </p:nvSpPr>
        <p:spPr>
          <a:xfrm>
            <a:off x="609600" y="842964"/>
            <a:ext cx="12801600" cy="257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Logica centralizzata e gestione reattiva dei flussi dati</a:t>
            </a:r>
          </a:p>
        </p:txBody>
      </p:sp>
      <p:sp>
        <p:nvSpPr>
          <p:cNvPr id="91" name="Text 2"/>
          <p:cNvSpPr txBox="1"/>
          <p:nvPr/>
        </p:nvSpPr>
        <p:spPr>
          <a:xfrm>
            <a:off x="942975" y="1719264"/>
            <a:ext cx="3149501" cy="257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b="1" sz="15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Remote Facade</a:t>
            </a:r>
          </a:p>
        </p:txBody>
      </p:sp>
      <p:sp>
        <p:nvSpPr>
          <p:cNvPr id="92" name="Text 3"/>
          <p:cNvSpPr txBox="1"/>
          <p:nvPr/>
        </p:nvSpPr>
        <p:spPr>
          <a:xfrm>
            <a:off x="609600" y="2212023"/>
            <a:ext cx="3149501" cy="6337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Centralizza la logica di business esponendo operazioni aggregate. Riduce il "chattiness" tra client e server, mappando chiamate complesse su endpoint ottimizzati.</a:t>
            </a:r>
          </a:p>
        </p:txBody>
      </p:sp>
      <p:sp>
        <p:nvSpPr>
          <p:cNvPr id="93" name="Text 4"/>
          <p:cNvSpPr txBox="1"/>
          <p:nvPr/>
        </p:nvSpPr>
        <p:spPr>
          <a:xfrm>
            <a:off x="4483001" y="1693610"/>
            <a:ext cx="7118450" cy="251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b="1" sz="13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Pipeline di Elaborazione Dati</a:t>
            </a:r>
          </a:p>
        </p:txBody>
      </p:sp>
      <p:sp>
        <p:nvSpPr>
          <p:cNvPr id="94" name="Text 5"/>
          <p:cNvSpPr txBox="1"/>
          <p:nvPr/>
        </p:nvSpPr>
        <p:spPr>
          <a:xfrm>
            <a:off x="4515594" y="2757171"/>
            <a:ext cx="1600201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500"/>
              </a:lnSpc>
              <a:defRPr b="1" sz="10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Ingestione</a:t>
            </a:r>
          </a:p>
        </p:txBody>
      </p:sp>
      <p:sp>
        <p:nvSpPr>
          <p:cNvPr id="95" name="Text 6"/>
          <p:cNvSpPr txBox="1"/>
          <p:nvPr/>
        </p:nvSpPr>
        <p:spPr>
          <a:xfrm>
            <a:off x="4711601" y="3021521"/>
            <a:ext cx="1189138" cy="300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200"/>
              </a:lnSpc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Parsing CSV e accodamento record</a:t>
            </a:r>
          </a:p>
        </p:txBody>
      </p:sp>
      <p:sp>
        <p:nvSpPr>
          <p:cNvPr id="96" name="Text 7"/>
          <p:cNvSpPr txBox="1"/>
          <p:nvPr/>
        </p:nvSpPr>
        <p:spPr>
          <a:xfrm>
            <a:off x="6253371" y="2757171"/>
            <a:ext cx="1760221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500"/>
              </a:lnSpc>
              <a:defRPr b="1" sz="10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Simulazione</a:t>
            </a:r>
          </a:p>
        </p:txBody>
      </p:sp>
      <p:sp>
        <p:nvSpPr>
          <p:cNvPr id="97" name="Text 8"/>
          <p:cNvSpPr txBox="1"/>
          <p:nvPr/>
        </p:nvSpPr>
        <p:spPr>
          <a:xfrm>
            <a:off x="6529388" y="3021521"/>
            <a:ext cx="1189138" cy="300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200"/>
              </a:lnSpc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Estrazione a intervalli fissi</a:t>
            </a:r>
          </a:p>
        </p:txBody>
      </p:sp>
      <p:sp>
        <p:nvSpPr>
          <p:cNvPr id="98" name="Text 9"/>
          <p:cNvSpPr txBox="1"/>
          <p:nvPr/>
        </p:nvSpPr>
        <p:spPr>
          <a:xfrm>
            <a:off x="7911138" y="2757171"/>
            <a:ext cx="2080261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500"/>
              </a:lnSpc>
              <a:defRPr b="1" sz="10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AI Prediction</a:t>
            </a:r>
          </a:p>
        </p:txBody>
      </p:sp>
      <p:sp>
        <p:nvSpPr>
          <p:cNvPr id="99" name="Text 10"/>
          <p:cNvSpPr txBox="1"/>
          <p:nvPr/>
        </p:nvSpPr>
        <p:spPr>
          <a:xfrm>
            <a:off x="8347174" y="3021521"/>
            <a:ext cx="1189138" cy="300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200"/>
              </a:lnSpc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Modello LSTM e confronto reale</a:t>
            </a:r>
          </a:p>
        </p:txBody>
      </p:sp>
      <p:sp>
        <p:nvSpPr>
          <p:cNvPr id="100" name="Text 11"/>
          <p:cNvSpPr txBox="1"/>
          <p:nvPr/>
        </p:nvSpPr>
        <p:spPr>
          <a:xfrm>
            <a:off x="9968954" y="2757171"/>
            <a:ext cx="1600201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500"/>
              </a:lnSpc>
              <a:defRPr b="1" sz="10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SSE Stream</a:t>
            </a:r>
          </a:p>
        </p:txBody>
      </p:sp>
      <p:sp>
        <p:nvSpPr>
          <p:cNvPr id="101" name="Text 12"/>
          <p:cNvSpPr txBox="1"/>
          <p:nvPr/>
        </p:nvSpPr>
        <p:spPr>
          <a:xfrm>
            <a:off x="10164960" y="3021521"/>
            <a:ext cx="1189138" cy="300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200"/>
              </a:lnSpc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Push real-time a tutti i client</a:t>
            </a:r>
          </a:p>
        </p:txBody>
      </p:sp>
      <p:sp>
        <p:nvSpPr>
          <p:cNvPr id="102" name="Text 13"/>
          <p:cNvSpPr txBox="1"/>
          <p:nvPr/>
        </p:nvSpPr>
        <p:spPr>
          <a:xfrm>
            <a:off x="1143000" y="4186239"/>
            <a:ext cx="6172200" cy="257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b="1" sz="15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Resilienza: Circuit Breaker</a:t>
            </a:r>
          </a:p>
        </p:txBody>
      </p:sp>
      <p:sp>
        <p:nvSpPr>
          <p:cNvPr id="103" name="Text 14"/>
          <p:cNvSpPr txBox="1"/>
          <p:nvPr/>
        </p:nvSpPr>
        <p:spPr>
          <a:xfrm>
            <a:off x="1143000" y="4528821"/>
            <a:ext cx="7360919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• Protezione del servizio di persistenza (DB).</a:t>
            </a:r>
          </a:p>
        </p:txBody>
      </p:sp>
      <p:sp>
        <p:nvSpPr>
          <p:cNvPr id="104" name="Text 15"/>
          <p:cNvSpPr txBox="1"/>
          <p:nvPr/>
        </p:nvSpPr>
        <p:spPr>
          <a:xfrm>
            <a:off x="1142999" y="4795521"/>
            <a:ext cx="9121142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• Finestra scorrevole per il monitoraggio dei fallimenti.</a:t>
            </a:r>
          </a:p>
        </p:txBody>
      </p:sp>
      <p:sp>
        <p:nvSpPr>
          <p:cNvPr id="105" name="Text 16"/>
          <p:cNvSpPr txBox="1"/>
          <p:nvPr/>
        </p:nvSpPr>
        <p:spPr>
          <a:xfrm>
            <a:off x="1143000" y="5157471"/>
            <a:ext cx="3447604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• Stato "Aperto" temporaneo per evitare sovraccarichi.</a:t>
            </a:r>
          </a:p>
        </p:txBody>
      </p:sp>
      <p:sp>
        <p:nvSpPr>
          <p:cNvPr id="106" name="Text 17"/>
          <p:cNvSpPr txBox="1"/>
          <p:nvPr/>
        </p:nvSpPr>
        <p:spPr>
          <a:xfrm>
            <a:off x="6250930" y="4186239"/>
            <a:ext cx="4572001" cy="257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b="1" sz="15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Snapshot &amp; Real-time</a:t>
            </a:r>
          </a:p>
        </p:txBody>
      </p:sp>
      <p:sp>
        <p:nvSpPr>
          <p:cNvPr id="107" name="Text 18"/>
          <p:cNvSpPr txBox="1"/>
          <p:nvPr/>
        </p:nvSpPr>
        <p:spPr>
          <a:xfrm>
            <a:off x="6250930" y="4528821"/>
            <a:ext cx="7840981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• Facade mantiene uno snapshot volatile dei dati.</a:t>
            </a:r>
          </a:p>
        </p:txBody>
      </p:sp>
      <p:sp>
        <p:nvSpPr>
          <p:cNvPr id="108" name="Text 19"/>
          <p:cNvSpPr txBox="1"/>
          <p:nvPr/>
        </p:nvSpPr>
        <p:spPr>
          <a:xfrm>
            <a:off x="6250930" y="4795521"/>
            <a:ext cx="8321041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• Gestione parallela di multiple connessioni client.</a:t>
            </a:r>
          </a:p>
        </p:txBody>
      </p:sp>
      <p:sp>
        <p:nvSpPr>
          <p:cNvPr id="109" name="Text 20"/>
          <p:cNvSpPr txBox="1"/>
          <p:nvPr/>
        </p:nvSpPr>
        <p:spPr>
          <a:xfrm>
            <a:off x="6250930" y="5062221"/>
            <a:ext cx="7680960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• Pulizia telemetria e reset snapshot all'avvio.</a:t>
            </a:r>
          </a:p>
        </p:txBody>
      </p:sp>
      <p:sp>
        <p:nvSpPr>
          <p:cNvPr id="110" name="Text 21"/>
          <p:cNvSpPr txBox="1"/>
          <p:nvPr/>
        </p:nvSpPr>
        <p:spPr>
          <a:xfrm>
            <a:off x="380999" y="6326696"/>
            <a:ext cx="5074922" cy="148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b="1" spc="72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NEXUS ENERGY DISTRIBUTED ARCHITECTURE</a:t>
            </a:r>
          </a:p>
        </p:txBody>
      </p:sp>
      <p:sp>
        <p:nvSpPr>
          <p:cNvPr id="111" name="Text 22"/>
          <p:cNvSpPr txBox="1"/>
          <p:nvPr/>
        </p:nvSpPr>
        <p:spPr>
          <a:xfrm>
            <a:off x="7566570" y="6326696"/>
            <a:ext cx="7269482" cy="148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b="1" spc="72" sz="9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COMPONENT: ENERGY-SERVER (SPRING BOOT / NODE.JS CORE)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948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1948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754472" y="462857"/>
            <a:ext cx="1974617" cy="5245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877901" y="586286"/>
            <a:ext cx="285429" cy="2777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62857" y="1596856"/>
            <a:ext cx="11266232" cy="12357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47999" y="1794777"/>
            <a:ext cx="192858" cy="190447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Image 6" descr="Image 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62857" y="3141160"/>
            <a:ext cx="3590760" cy="16817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Image 7" descr="Image 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47999" y="3326303"/>
            <a:ext cx="285430" cy="2777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Image 8" descr="Image 8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4300473" y="3141160"/>
            <a:ext cx="3590881" cy="16817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Image 9" descr="Image 9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4485616" y="3326303"/>
            <a:ext cx="324001" cy="2777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Image 10" descr="Image 10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8138210" y="3141160"/>
            <a:ext cx="3590759" cy="16817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Image 11" descr="Image 11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8323351" y="3326303"/>
            <a:ext cx="285430" cy="277715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Image 12" descr="Image 12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462857" y="6140570"/>
            <a:ext cx="1126287" cy="2560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Image 13" descr="Image 13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1681714" y="6140570"/>
            <a:ext cx="1566000" cy="2560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Image 14" descr="Image 14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3340286" y="6140570"/>
            <a:ext cx="1195715" cy="2560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Image 15" descr="Image 15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4628570" y="6140570"/>
            <a:ext cx="1350001" cy="2560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29" name="Image 16" descr="Image 16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6071142" y="6140570"/>
            <a:ext cx="1319145" cy="256019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Image 17" descr="Image 17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7482857" y="6140570"/>
            <a:ext cx="972001" cy="256019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Text 0"/>
          <p:cNvSpPr txBox="1"/>
          <p:nvPr/>
        </p:nvSpPr>
        <p:spPr>
          <a:xfrm>
            <a:off x="462857" y="684595"/>
            <a:ext cx="5352389" cy="470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600"/>
              </a:lnSpc>
              <a:defRPr b="1" spc="-89" sz="36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Resilienza con RabbitMQ</a:t>
            </a:r>
          </a:p>
        </p:txBody>
      </p:sp>
      <p:sp>
        <p:nvSpPr>
          <p:cNvPr id="132" name="Text 1"/>
          <p:cNvSpPr txBox="1"/>
          <p:nvPr/>
        </p:nvSpPr>
        <p:spPr>
          <a:xfrm>
            <a:off x="462856" y="1439576"/>
            <a:ext cx="12532221" cy="245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i="1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Fallback Event-Driven &amp; Data Recovery</a:t>
            </a:r>
          </a:p>
        </p:txBody>
      </p:sp>
      <p:sp>
        <p:nvSpPr>
          <p:cNvPr id="133" name="Text 2"/>
          <p:cNvSpPr txBox="1"/>
          <p:nvPr/>
        </p:nvSpPr>
        <p:spPr>
          <a:xfrm>
            <a:off x="10255901" y="596238"/>
            <a:ext cx="1349759" cy="2578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000"/>
              </a:lnSpc>
              <a:defRPr b="1" spc="52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FAULT TOLERANCE</a:t>
            </a:r>
          </a:p>
          <a:p>
            <a:pPr>
              <a:lnSpc>
                <a:spcPts val="1000"/>
              </a:lnSpc>
              <a:defRPr b="1" spc="52"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ENGINE</a:t>
            </a:r>
          </a:p>
        </p:txBody>
      </p:sp>
      <p:sp>
        <p:nvSpPr>
          <p:cNvPr id="134" name="Text 3"/>
          <p:cNvSpPr txBox="1"/>
          <p:nvPr/>
        </p:nvSpPr>
        <p:spPr>
          <a:xfrm>
            <a:off x="902570" y="1781734"/>
            <a:ext cx="10895949" cy="216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Strategia di Fallback</a:t>
            </a:r>
          </a:p>
        </p:txBody>
      </p:sp>
      <p:sp>
        <p:nvSpPr>
          <p:cNvPr id="135" name="Text 4"/>
          <p:cNvSpPr txBox="1"/>
          <p:nvPr/>
        </p:nvSpPr>
        <p:spPr>
          <a:xfrm>
            <a:off x="647999" y="2109993"/>
            <a:ext cx="10865091" cy="518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2100"/>
              </a:lnSpc>
              <a:defRPr sz="13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RabbitMQ non agisce come coda primaria, ma come un </a:t>
            </a:r>
            <a:r>
              <a:rPr b="1"/>
              <a:t>buffer persistente</a:t>
            </a:r>
            <a:r>
              <a:t> attivato dal </a:t>
            </a:r>
            <a:r>
              <a:rPr b="1"/>
              <a:t>Circuit Breaker</a:t>
            </a:r>
            <a:r>
              <a:t>. Quando il Database è indisponibile, i flussi di telemetria vengono dirottati per prevenire la perdita di dati.</a:t>
            </a:r>
          </a:p>
        </p:txBody>
      </p:sp>
      <p:sp>
        <p:nvSpPr>
          <p:cNvPr id="136" name="Text 5"/>
          <p:cNvSpPr txBox="1"/>
          <p:nvPr/>
        </p:nvSpPr>
        <p:spPr>
          <a:xfrm>
            <a:off x="647999" y="3765780"/>
            <a:ext cx="5080637" cy="210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Publisher &amp; Exchange</a:t>
            </a:r>
          </a:p>
        </p:txBody>
      </p:sp>
      <p:sp>
        <p:nvSpPr>
          <p:cNvPr id="137" name="Text 6"/>
          <p:cNvSpPr txBox="1"/>
          <p:nvPr/>
        </p:nvSpPr>
        <p:spPr>
          <a:xfrm>
            <a:off x="648000" y="4042418"/>
            <a:ext cx="7310464" cy="151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2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</a:t>
            </a:r>
            <a:r>
              <a:rPr b="1"/>
              <a:t>TopicExchange</a:t>
            </a:r>
            <a:r>
              <a:t> per routing granulare</a:t>
            </a:r>
          </a:p>
        </p:txBody>
      </p:sp>
      <p:sp>
        <p:nvSpPr>
          <p:cNvPr id="138" name="Text 7"/>
          <p:cNvSpPr txBox="1"/>
          <p:nvPr/>
        </p:nvSpPr>
        <p:spPr>
          <a:xfrm>
            <a:off x="647999" y="4258418"/>
            <a:ext cx="8100787" cy="151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2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</a:t>
            </a:r>
            <a:r>
              <a:rPr b="1"/>
              <a:t>Publisher-Confirm</a:t>
            </a:r>
            <a:r>
              <a:t> per garanzia consegna</a:t>
            </a:r>
          </a:p>
        </p:txBody>
      </p:sp>
      <p:sp>
        <p:nvSpPr>
          <p:cNvPr id="139" name="Text 8"/>
          <p:cNvSpPr txBox="1"/>
          <p:nvPr/>
        </p:nvSpPr>
        <p:spPr>
          <a:xfrm>
            <a:off x="648000" y="4474418"/>
            <a:ext cx="5729824" cy="151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• Serializzazione JSON sicura</a:t>
            </a:r>
          </a:p>
        </p:txBody>
      </p:sp>
      <p:sp>
        <p:nvSpPr>
          <p:cNvPr id="140" name="Text 9"/>
          <p:cNvSpPr txBox="1"/>
          <p:nvPr/>
        </p:nvSpPr>
        <p:spPr>
          <a:xfrm>
            <a:off x="4485616" y="3765780"/>
            <a:ext cx="3302414" cy="210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Quorum Queues</a:t>
            </a:r>
          </a:p>
        </p:txBody>
      </p:sp>
      <p:sp>
        <p:nvSpPr>
          <p:cNvPr id="141" name="Text 10"/>
          <p:cNvSpPr txBox="1"/>
          <p:nvPr/>
        </p:nvSpPr>
        <p:spPr>
          <a:xfrm>
            <a:off x="4485616" y="4042418"/>
            <a:ext cx="6124985" cy="151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2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</a:t>
            </a:r>
            <a:r>
              <a:rPr b="1"/>
              <a:t>High Availability</a:t>
            </a:r>
            <a:r>
              <a:t> distribuita</a:t>
            </a:r>
          </a:p>
        </p:txBody>
      </p:sp>
      <p:sp>
        <p:nvSpPr>
          <p:cNvPr id="142" name="Text 11"/>
          <p:cNvSpPr txBox="1"/>
          <p:nvPr/>
        </p:nvSpPr>
        <p:spPr>
          <a:xfrm>
            <a:off x="4485616" y="4258418"/>
            <a:ext cx="7112884" cy="151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2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• </a:t>
            </a:r>
            <a:r>
              <a:rPr b="1"/>
              <a:t>Dead Letter Queue (DLQ)</a:t>
            </a:r>
            <a:r>
              <a:t> per scarti</a:t>
            </a:r>
          </a:p>
        </p:txBody>
      </p:sp>
      <p:sp>
        <p:nvSpPr>
          <p:cNvPr id="143" name="Text 12"/>
          <p:cNvSpPr txBox="1"/>
          <p:nvPr/>
        </p:nvSpPr>
        <p:spPr>
          <a:xfrm>
            <a:off x="4485616" y="4474418"/>
            <a:ext cx="6717725" cy="151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• TTL e Delivery Limit configurati</a:t>
            </a:r>
          </a:p>
        </p:txBody>
      </p:sp>
      <p:sp>
        <p:nvSpPr>
          <p:cNvPr id="144" name="Text 13"/>
          <p:cNvSpPr txBox="1"/>
          <p:nvPr/>
        </p:nvSpPr>
        <p:spPr>
          <a:xfrm>
            <a:off x="8323351" y="3765780"/>
            <a:ext cx="5334668" cy="210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b="1" sz="1300">
                <a:solidFill>
                  <a:srgbClr val="33333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Self-Healing Consumer</a:t>
            </a:r>
          </a:p>
        </p:txBody>
      </p:sp>
      <p:sp>
        <p:nvSpPr>
          <p:cNvPr id="145" name="Text 14"/>
          <p:cNvSpPr txBox="1"/>
          <p:nvPr/>
        </p:nvSpPr>
        <p:spPr>
          <a:xfrm>
            <a:off x="8323351" y="4042418"/>
            <a:ext cx="6915305" cy="151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• Riconciliazione automatica con DB</a:t>
            </a:r>
          </a:p>
        </p:txBody>
      </p:sp>
      <p:sp>
        <p:nvSpPr>
          <p:cNvPr id="146" name="Text 15"/>
          <p:cNvSpPr txBox="1"/>
          <p:nvPr/>
        </p:nvSpPr>
        <p:spPr>
          <a:xfrm>
            <a:off x="8323351" y="4258418"/>
            <a:ext cx="6717725" cy="151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• Verifica duplicati (Idempotenza)</a:t>
            </a:r>
          </a:p>
        </p:txBody>
      </p:sp>
      <p:sp>
        <p:nvSpPr>
          <p:cNvPr id="147" name="Text 16"/>
          <p:cNvSpPr txBox="1"/>
          <p:nvPr/>
        </p:nvSpPr>
        <p:spPr>
          <a:xfrm>
            <a:off x="8323351" y="4474418"/>
            <a:ext cx="7112884" cy="151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• Re-queueing intelligente su errore</a:t>
            </a:r>
          </a:p>
        </p:txBody>
      </p:sp>
      <p:sp>
        <p:nvSpPr>
          <p:cNvPr id="148" name="Text 17"/>
          <p:cNvSpPr txBox="1"/>
          <p:nvPr/>
        </p:nvSpPr>
        <p:spPr>
          <a:xfrm>
            <a:off x="462856" y="5891928"/>
            <a:ext cx="11266234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900"/>
              </a:lnSpc>
              <a:defRPr b="1" spc="89" sz="9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PATTERN ARCHITETTURALI IMPLEMENTATI</a:t>
            </a:r>
          </a:p>
        </p:txBody>
      </p:sp>
      <p:sp>
        <p:nvSpPr>
          <p:cNvPr id="149" name="Text 18"/>
          <p:cNvSpPr txBox="1"/>
          <p:nvPr/>
        </p:nvSpPr>
        <p:spPr>
          <a:xfrm>
            <a:off x="555429" y="6177776"/>
            <a:ext cx="2294673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Circuit Breaker</a:t>
            </a:r>
          </a:p>
        </p:txBody>
      </p:sp>
      <p:sp>
        <p:nvSpPr>
          <p:cNvPr id="150" name="Text 19"/>
          <p:cNvSpPr txBox="1"/>
          <p:nvPr/>
        </p:nvSpPr>
        <p:spPr>
          <a:xfrm>
            <a:off x="1774286" y="6177776"/>
            <a:ext cx="3442252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Event-Driven Fallback</a:t>
            </a:r>
          </a:p>
        </p:txBody>
      </p:sp>
      <p:sp>
        <p:nvSpPr>
          <p:cNvPr id="151" name="Text 20"/>
          <p:cNvSpPr txBox="1"/>
          <p:nvPr/>
        </p:nvSpPr>
        <p:spPr>
          <a:xfrm>
            <a:off x="3432857" y="6177776"/>
            <a:ext cx="2018124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Message Queue</a:t>
            </a:r>
          </a:p>
        </p:txBody>
      </p:sp>
      <p:sp>
        <p:nvSpPr>
          <p:cNvPr id="152" name="Text 21"/>
          <p:cNvSpPr txBox="1"/>
          <p:nvPr/>
        </p:nvSpPr>
        <p:spPr>
          <a:xfrm>
            <a:off x="4721142" y="6177776"/>
            <a:ext cx="2710377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Dead Letter Queue</a:t>
            </a:r>
          </a:p>
        </p:txBody>
      </p:sp>
      <p:sp>
        <p:nvSpPr>
          <p:cNvPr id="153" name="Text 22"/>
          <p:cNvSpPr txBox="1"/>
          <p:nvPr/>
        </p:nvSpPr>
        <p:spPr>
          <a:xfrm>
            <a:off x="6163714" y="6177776"/>
            <a:ext cx="2697453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Publisher-Confirm</a:t>
            </a:r>
          </a:p>
        </p:txBody>
      </p:sp>
      <p:sp>
        <p:nvSpPr>
          <p:cNvPr id="154" name="Text 23"/>
          <p:cNvSpPr txBox="1"/>
          <p:nvPr/>
        </p:nvSpPr>
        <p:spPr>
          <a:xfrm>
            <a:off x="7575428" y="6177776"/>
            <a:ext cx="1761535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b="1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Self-Healing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1000" y="381000"/>
            <a:ext cx="114300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8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94233" y="1371600"/>
            <a:ext cx="609601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9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684733" y="1447800"/>
            <a:ext cx="228601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0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33400" y="1905000"/>
            <a:ext cx="2531269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159918" y="1905000"/>
            <a:ext cx="142876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2" name="Image 6" descr="Image 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358878" y="1371600"/>
            <a:ext cx="609601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3" name="Image 7" descr="Image 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4549378" y="1447800"/>
            <a:ext cx="228601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4" name="Image 8" descr="Image 8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3398044" y="1905000"/>
            <a:ext cx="2531270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Image 9" descr="Image 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024562" y="1905000"/>
            <a:ext cx="142876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Image 10" descr="Image 10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7223521" y="1371600"/>
            <a:ext cx="609601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Image 11" descr="Image 11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7428309" y="1447800"/>
            <a:ext cx="200026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Image 12" descr="Image 12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6262687" y="1905000"/>
            <a:ext cx="2531270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Image 13" descr="Image 1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889206" y="1905000"/>
            <a:ext cx="142876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Image 14" descr="Image 14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10088165" y="1371600"/>
            <a:ext cx="609601" cy="609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" name="Image 15" descr="Image 15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10278665" y="1524000"/>
            <a:ext cx="228601" cy="304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" name="Image 16" descr="Image 16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9127331" y="2057400"/>
            <a:ext cx="2531270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3" name="Image 17" descr="Image 17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381000" y="3124200"/>
            <a:ext cx="5562600" cy="3352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4" name="Image 18" descr="Image 18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609600" y="3390900"/>
            <a:ext cx="190500" cy="190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5" name="Image 19" descr="Image 19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609600" y="3810000"/>
            <a:ext cx="114300" cy="190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6" name="Image 20" descr="Image 20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609600" y="4381500"/>
            <a:ext cx="114300" cy="190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Image 21" descr="Image 21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609600" y="4953000"/>
            <a:ext cx="114300" cy="190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Image 22" descr="Image 22"/>
          <p:cNvPicPr>
            <a:picLocks noChangeAspect="1"/>
          </p:cNvPicPr>
          <p:nvPr/>
        </p:nvPicPr>
        <p:blipFill>
          <a:blip r:embed="rId20">
            <a:extLst/>
          </a:blip>
          <a:stretch>
            <a:fillRect/>
          </a:stretch>
        </p:blipFill>
        <p:spPr>
          <a:xfrm>
            <a:off x="6248400" y="3124200"/>
            <a:ext cx="5562600" cy="3352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Image 23" descr="Image 23"/>
          <p:cNvPicPr>
            <a:picLocks noChangeAspect="1"/>
          </p:cNvPicPr>
          <p:nvPr/>
        </p:nvPicPr>
        <p:blipFill>
          <a:blip r:embed="rId21">
            <a:extLst/>
          </a:blip>
          <a:stretch>
            <a:fillRect/>
          </a:stretch>
        </p:blipFill>
        <p:spPr>
          <a:xfrm>
            <a:off x="6477000" y="3390900"/>
            <a:ext cx="171450" cy="190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Image 24" descr="Image 24"/>
          <p:cNvPicPr>
            <a:picLocks noChangeAspect="1"/>
          </p:cNvPicPr>
          <p:nvPr/>
        </p:nvPicPr>
        <p:blipFill>
          <a:blip r:embed="rId22">
            <a:extLst/>
          </a:blip>
          <a:stretch>
            <a:fillRect/>
          </a:stretch>
        </p:blipFill>
        <p:spPr>
          <a:xfrm>
            <a:off x="6477000" y="4114800"/>
            <a:ext cx="3381375" cy="838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Image 25" descr="Image 25"/>
          <p:cNvPicPr>
            <a:picLocks noChangeAspect="1"/>
          </p:cNvPicPr>
          <p:nvPr/>
        </p:nvPicPr>
        <p:blipFill>
          <a:blip r:embed="rId22">
            <a:extLst/>
          </a:blip>
          <a:stretch>
            <a:fillRect/>
          </a:stretch>
        </p:blipFill>
        <p:spPr>
          <a:xfrm>
            <a:off x="6477000" y="5067300"/>
            <a:ext cx="3381375" cy="838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Image 26" descr="Image 26"/>
          <p:cNvPicPr>
            <a:picLocks noChangeAspect="1"/>
          </p:cNvPicPr>
          <p:nvPr/>
        </p:nvPicPr>
        <p:blipFill>
          <a:blip r:embed="rId23">
            <a:extLst/>
          </a:blip>
          <a:stretch>
            <a:fillRect/>
          </a:stretch>
        </p:blipFill>
        <p:spPr>
          <a:xfrm>
            <a:off x="10010775" y="3771900"/>
            <a:ext cx="1524000" cy="1524000"/>
          </a:xfrm>
          <a:prstGeom prst="rect">
            <a:avLst/>
          </a:prstGeom>
          <a:ln w="12700">
            <a:miter lim="400000"/>
          </a:ln>
        </p:spPr>
      </p:pic>
      <p:sp>
        <p:nvSpPr>
          <p:cNvPr id="183" name="Text 0"/>
          <p:cNvSpPr txBox="1"/>
          <p:nvPr/>
        </p:nvSpPr>
        <p:spPr>
          <a:xfrm>
            <a:off x="609600" y="379669"/>
            <a:ext cx="14401800" cy="383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000"/>
              </a:lnSpc>
              <a:defRPr b="1" spc="-54" sz="27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Osservabilità: ELK Stack e Telegram</a:t>
            </a:r>
          </a:p>
        </p:txBody>
      </p:sp>
      <p:sp>
        <p:nvSpPr>
          <p:cNvPr id="184" name="Text 1"/>
          <p:cNvSpPr txBox="1"/>
          <p:nvPr/>
        </p:nvSpPr>
        <p:spPr>
          <a:xfrm>
            <a:off x="609600" y="804864"/>
            <a:ext cx="12344400" cy="257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Pipeline di logging centralizzata e alerting proattivo</a:t>
            </a:r>
          </a:p>
        </p:txBody>
      </p:sp>
      <p:sp>
        <p:nvSpPr>
          <p:cNvPr id="185" name="Text 2"/>
          <p:cNvSpPr txBox="1"/>
          <p:nvPr/>
        </p:nvSpPr>
        <p:spPr>
          <a:xfrm>
            <a:off x="533400" y="2024635"/>
            <a:ext cx="2302669" cy="21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Nexus Server</a:t>
            </a:r>
          </a:p>
        </p:txBody>
      </p:sp>
      <p:sp>
        <p:nvSpPr>
          <p:cNvPr id="186" name="Text 3"/>
          <p:cNvSpPr txBox="1"/>
          <p:nvPr/>
        </p:nvSpPr>
        <p:spPr>
          <a:xfrm>
            <a:off x="1419225" y="2516696"/>
            <a:ext cx="759471" cy="148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JSON via TCP</a:t>
            </a:r>
          </a:p>
        </p:txBody>
      </p:sp>
      <p:sp>
        <p:nvSpPr>
          <p:cNvPr id="187" name="Text 4"/>
          <p:cNvSpPr txBox="1"/>
          <p:nvPr/>
        </p:nvSpPr>
        <p:spPr>
          <a:xfrm>
            <a:off x="3398044" y="2024635"/>
            <a:ext cx="2302670" cy="21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Logstash</a:t>
            </a:r>
          </a:p>
        </p:txBody>
      </p:sp>
      <p:sp>
        <p:nvSpPr>
          <p:cNvPr id="188" name="Text 5"/>
          <p:cNvSpPr txBox="1"/>
          <p:nvPr/>
        </p:nvSpPr>
        <p:spPr>
          <a:xfrm>
            <a:off x="4026246" y="2516696"/>
            <a:ext cx="1274714" cy="148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Normalizzazione &amp; Filtri</a:t>
            </a:r>
          </a:p>
        </p:txBody>
      </p:sp>
      <p:sp>
        <p:nvSpPr>
          <p:cNvPr id="189" name="Text 6"/>
          <p:cNvSpPr txBox="1"/>
          <p:nvPr/>
        </p:nvSpPr>
        <p:spPr>
          <a:xfrm>
            <a:off x="6262687" y="2024635"/>
            <a:ext cx="2302670" cy="21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Elasticsearch</a:t>
            </a:r>
          </a:p>
        </p:txBody>
      </p:sp>
      <p:sp>
        <p:nvSpPr>
          <p:cNvPr id="190" name="Text 7"/>
          <p:cNvSpPr txBox="1"/>
          <p:nvPr/>
        </p:nvSpPr>
        <p:spPr>
          <a:xfrm>
            <a:off x="6832103" y="2516696"/>
            <a:ext cx="1392288" cy="148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Indicizzazione Giornaliera</a:t>
            </a:r>
          </a:p>
        </p:txBody>
      </p:sp>
      <p:sp>
        <p:nvSpPr>
          <p:cNvPr id="191" name="Text 8"/>
          <p:cNvSpPr txBox="1"/>
          <p:nvPr/>
        </p:nvSpPr>
        <p:spPr>
          <a:xfrm>
            <a:off x="9127331" y="2177035"/>
            <a:ext cx="2302670" cy="21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800"/>
              </a:lnSpc>
              <a:defRPr b="1" sz="12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Kibana</a:t>
            </a:r>
          </a:p>
        </p:txBody>
      </p:sp>
      <p:sp>
        <p:nvSpPr>
          <p:cNvPr id="192" name="Text 9"/>
          <p:cNvSpPr txBox="1"/>
          <p:nvPr/>
        </p:nvSpPr>
        <p:spPr>
          <a:xfrm>
            <a:off x="9852273" y="2592896"/>
            <a:ext cx="2606041" cy="148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9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Dashboard &amp; Analisi</a:t>
            </a:r>
          </a:p>
        </p:txBody>
      </p:sp>
      <p:sp>
        <p:nvSpPr>
          <p:cNvPr id="193" name="Text 10"/>
          <p:cNvSpPr txBox="1"/>
          <p:nvPr/>
        </p:nvSpPr>
        <p:spPr>
          <a:xfrm>
            <a:off x="914400" y="3357564"/>
            <a:ext cx="5105400" cy="257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b="1" sz="15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Centralized Logging</a:t>
            </a:r>
          </a:p>
        </p:txBody>
      </p:sp>
      <p:sp>
        <p:nvSpPr>
          <p:cNvPr id="194" name="Text 11"/>
          <p:cNvSpPr txBox="1"/>
          <p:nvPr/>
        </p:nvSpPr>
        <p:spPr>
          <a:xfrm>
            <a:off x="800100" y="3777235"/>
            <a:ext cx="4914900" cy="446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800"/>
              </a:lnSpc>
              <a:defRPr b="1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Structured Logging:</a:t>
            </a:r>
            <a:r>
              <a:rPr b="0"/>
              <a:t> Invio di log INFO+ in formato JSON strutturato (timestamp, contesto, livello).</a:t>
            </a:r>
          </a:p>
        </p:txBody>
      </p:sp>
      <p:sp>
        <p:nvSpPr>
          <p:cNvPr id="195" name="Text 12"/>
          <p:cNvSpPr txBox="1"/>
          <p:nvPr/>
        </p:nvSpPr>
        <p:spPr>
          <a:xfrm>
            <a:off x="800100" y="4348735"/>
            <a:ext cx="4914900" cy="446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800"/>
              </a:lnSpc>
              <a:defRPr b="1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Filtri Logstash:</a:t>
            </a:r>
            <a:r>
              <a:rPr b="0"/>
              <a:t> Conversione dei campi per eventi di anomalia e normalizzazione dei dati temporali.</a:t>
            </a:r>
          </a:p>
        </p:txBody>
      </p:sp>
      <p:sp>
        <p:nvSpPr>
          <p:cNvPr id="196" name="Text 13"/>
          <p:cNvSpPr txBox="1"/>
          <p:nvPr/>
        </p:nvSpPr>
        <p:spPr>
          <a:xfrm>
            <a:off x="800100" y="4920235"/>
            <a:ext cx="4914900" cy="446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800"/>
              </a:lnSpc>
              <a:defRPr b="1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Storage:</a:t>
            </a:r>
            <a:r>
              <a:rPr b="0"/>
              <a:t> Indici Elasticsearch ottimizzati per la ricerca rapida di pattern di errore.</a:t>
            </a:r>
          </a:p>
        </p:txBody>
      </p:sp>
      <p:sp>
        <p:nvSpPr>
          <p:cNvPr id="197" name="Text 14"/>
          <p:cNvSpPr txBox="1"/>
          <p:nvPr/>
        </p:nvSpPr>
        <p:spPr>
          <a:xfrm>
            <a:off x="6762750" y="3357564"/>
            <a:ext cx="5105400" cy="257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b="1" sz="15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Alerting su Telegram</a:t>
            </a:r>
          </a:p>
        </p:txBody>
      </p:sp>
      <p:sp>
        <p:nvSpPr>
          <p:cNvPr id="198" name="Text 15"/>
          <p:cNvSpPr txBox="1"/>
          <p:nvPr/>
        </p:nvSpPr>
        <p:spPr>
          <a:xfrm>
            <a:off x="6477000" y="3776346"/>
            <a:ext cx="8161019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Integrazione condizionale Logstash -&gt; Telegram API:</a:t>
            </a:r>
          </a:p>
        </p:txBody>
      </p:sp>
      <p:sp>
        <p:nvSpPr>
          <p:cNvPr id="199" name="Text 16"/>
          <p:cNvSpPr txBox="1"/>
          <p:nvPr/>
        </p:nvSpPr>
        <p:spPr>
          <a:xfrm>
            <a:off x="6591300" y="4283584"/>
            <a:ext cx="2057400" cy="148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b="1" sz="90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DATABASE STRESS</a:t>
            </a:r>
          </a:p>
        </p:txBody>
      </p:sp>
      <p:sp>
        <p:nvSpPr>
          <p:cNvPr id="200" name="Text 17"/>
          <p:cNvSpPr txBox="1"/>
          <p:nvPr/>
        </p:nvSpPr>
        <p:spPr>
          <a:xfrm>
            <a:off x="6591300" y="4462146"/>
            <a:ext cx="3133725" cy="372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Alert immediato se viene attivato il fallback Circuit Breaker.</a:t>
            </a:r>
          </a:p>
        </p:txBody>
      </p:sp>
      <p:sp>
        <p:nvSpPr>
          <p:cNvPr id="201" name="Text 18"/>
          <p:cNvSpPr txBox="1"/>
          <p:nvPr/>
        </p:nvSpPr>
        <p:spPr>
          <a:xfrm>
            <a:off x="6591300" y="5236084"/>
            <a:ext cx="1508761" cy="1482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b="1" sz="900">
                <a:solidFill>
                  <a:srgbClr val="EA580C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ANOMALIA AI</a:t>
            </a:r>
          </a:p>
        </p:txBody>
      </p:sp>
      <p:sp>
        <p:nvSpPr>
          <p:cNvPr id="202" name="Text 19"/>
          <p:cNvSpPr txBox="1"/>
          <p:nvPr/>
        </p:nvSpPr>
        <p:spPr>
          <a:xfrm>
            <a:off x="6591300" y="5414646"/>
            <a:ext cx="3133725" cy="372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Notifica se la deviazione predetta supera la soglia critica.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928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7832" y="337832"/>
            <a:ext cx="11516262" cy="608099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37832" y="1587812"/>
            <a:ext cx="3703622" cy="1452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40531" y="1790512"/>
            <a:ext cx="253375" cy="270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08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244152" y="1587812"/>
            <a:ext cx="3703622" cy="1452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9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446851" y="1790512"/>
            <a:ext cx="253375" cy="270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0" name="Image 6" descr="Image 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150473" y="1587812"/>
            <a:ext cx="3703621" cy="1452681"/>
          </a:xfrm>
          <a:prstGeom prst="rect">
            <a:avLst/>
          </a:prstGeom>
          <a:ln w="12700">
            <a:miter lim="400000"/>
          </a:ln>
        </p:spPr>
      </p:pic>
      <p:pic>
        <p:nvPicPr>
          <p:cNvPr id="211" name="Image 7" descr="Image 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8353173" y="1790512"/>
            <a:ext cx="253376" cy="270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2" name="Image 8" descr="Image 8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337832" y="3682374"/>
            <a:ext cx="3748623" cy="4729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Image 9" descr="Image 9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439182" y="3783724"/>
            <a:ext cx="337833" cy="270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Image 10" descr="Image 10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337832" y="4256690"/>
            <a:ext cx="3748623" cy="4729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Image 11" descr="Image 11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439182" y="4358039"/>
            <a:ext cx="337833" cy="270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6" name="Image 12" descr="Image 12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337832" y="4831005"/>
            <a:ext cx="3748623" cy="4729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7" name="Image 13" descr="Image 13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439182" y="4932355"/>
            <a:ext cx="337833" cy="270267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Image 14" descr="Image 14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4356720" y="3682374"/>
            <a:ext cx="3647272" cy="12077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Image 15" descr="Image 15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4525636" y="3889033"/>
            <a:ext cx="194255" cy="15242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Image 16" descr="Image 16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8206691" y="3682374"/>
            <a:ext cx="3647404" cy="1207752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Image 17" descr="Image 17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8375607" y="3889033"/>
            <a:ext cx="135134" cy="15242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Image 18" descr="Image 18"/>
          <p:cNvPicPr>
            <a:picLocks noChangeAspect="1"/>
          </p:cNvPicPr>
          <p:nvPr/>
        </p:nvPicPr>
        <p:blipFill>
          <a:blip r:embed="rId20">
            <a:extLst/>
          </a:blip>
          <a:stretch>
            <a:fillRect/>
          </a:stretch>
        </p:blipFill>
        <p:spPr>
          <a:xfrm>
            <a:off x="4356720" y="5092825"/>
            <a:ext cx="7497375" cy="667748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Image 19" descr="Image 19"/>
          <p:cNvPicPr>
            <a:picLocks noChangeAspect="1"/>
          </p:cNvPicPr>
          <p:nvPr/>
        </p:nvPicPr>
        <p:blipFill>
          <a:blip r:embed="rId21">
            <a:extLst/>
          </a:blip>
          <a:stretch>
            <a:fillRect/>
          </a:stretch>
        </p:blipFill>
        <p:spPr>
          <a:xfrm>
            <a:off x="11398021" y="5274674"/>
            <a:ext cx="320942" cy="304050"/>
          </a:xfrm>
          <a:prstGeom prst="rect">
            <a:avLst/>
          </a:prstGeom>
          <a:ln w="12700">
            <a:miter lim="400000"/>
          </a:ln>
        </p:spPr>
      </p:pic>
      <p:sp>
        <p:nvSpPr>
          <p:cNvPr id="224" name="Text 0"/>
          <p:cNvSpPr txBox="1"/>
          <p:nvPr/>
        </p:nvSpPr>
        <p:spPr>
          <a:xfrm>
            <a:off x="540531" y="335239"/>
            <a:ext cx="15313915" cy="343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600"/>
              </a:lnSpc>
              <a:defRPr b="1" spc="-61" sz="27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PATTERN ARCHITETTURALI E FRONTEND</a:t>
            </a:r>
          </a:p>
        </p:txBody>
      </p:sp>
      <p:sp>
        <p:nvSpPr>
          <p:cNvPr id="225" name="Text 1"/>
          <p:cNvSpPr txBox="1"/>
          <p:nvPr/>
        </p:nvSpPr>
        <p:spPr>
          <a:xfrm>
            <a:off x="540531" y="714343"/>
            <a:ext cx="16499875" cy="226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Efficienza nella comunicazione e interfacce utente specializzate</a:t>
            </a:r>
          </a:p>
        </p:txBody>
      </p:sp>
      <p:sp>
        <p:nvSpPr>
          <p:cNvPr id="226" name="Text 2"/>
          <p:cNvSpPr txBox="1"/>
          <p:nvPr/>
        </p:nvSpPr>
        <p:spPr>
          <a:xfrm>
            <a:off x="337833" y="1221092"/>
            <a:ext cx="11516261" cy="226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pc="135" sz="15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CORE DESIGN PATTERNS</a:t>
            </a:r>
          </a:p>
        </p:txBody>
      </p:sp>
      <p:sp>
        <p:nvSpPr>
          <p:cNvPr id="227" name="Text 3"/>
          <p:cNvSpPr txBox="1"/>
          <p:nvPr/>
        </p:nvSpPr>
        <p:spPr>
          <a:xfrm>
            <a:off x="895256" y="1812299"/>
            <a:ext cx="1484525" cy="226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Remote Facade</a:t>
            </a:r>
          </a:p>
        </p:txBody>
      </p:sp>
      <p:sp>
        <p:nvSpPr>
          <p:cNvPr id="228" name="Text 4"/>
          <p:cNvSpPr txBox="1"/>
          <p:nvPr/>
        </p:nvSpPr>
        <p:spPr>
          <a:xfrm>
            <a:off x="540532" y="2170098"/>
            <a:ext cx="3281330" cy="633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>
              <a:defRPr b="1"/>
            </a:pPr>
            <a:r>
              <a:rPr b="0"/>
              <a:t>Espone operazioni aggregate che il controller mappa su pochi endpoint, riducendo le chiamate HTTP e ottimizzando le performance del client.</a:t>
            </a:r>
          </a:p>
        </p:txBody>
      </p:sp>
      <p:sp>
        <p:nvSpPr>
          <p:cNvPr id="229" name="Text 5"/>
          <p:cNvSpPr txBox="1"/>
          <p:nvPr/>
        </p:nvSpPr>
        <p:spPr>
          <a:xfrm>
            <a:off x="4801575" y="1812299"/>
            <a:ext cx="1804675" cy="226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Command</a:t>
            </a:r>
          </a:p>
        </p:txBody>
      </p:sp>
      <p:sp>
        <p:nvSpPr>
          <p:cNvPr id="230" name="Text 6"/>
          <p:cNvSpPr txBox="1"/>
          <p:nvPr/>
        </p:nvSpPr>
        <p:spPr>
          <a:xfrm>
            <a:off x="4446851" y="2170098"/>
            <a:ext cx="3281331" cy="633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Incapsula le azioni di controllo (start/stop simulazione) in oggetti eseguibili, permettendo una gestione robusta delle operazioni utente.</a:t>
            </a:r>
          </a:p>
        </p:txBody>
      </p:sp>
      <p:sp>
        <p:nvSpPr>
          <p:cNvPr id="231" name="Text 7"/>
          <p:cNvSpPr txBox="1"/>
          <p:nvPr/>
        </p:nvSpPr>
        <p:spPr>
          <a:xfrm>
            <a:off x="8707897" y="1812299"/>
            <a:ext cx="2062485" cy="226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5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Observer</a:t>
            </a:r>
          </a:p>
        </p:txBody>
      </p:sp>
      <p:sp>
        <p:nvSpPr>
          <p:cNvPr id="232" name="Text 8"/>
          <p:cNvSpPr txBox="1"/>
          <p:nvPr/>
        </p:nvSpPr>
        <p:spPr>
          <a:xfrm>
            <a:off x="8353173" y="2170098"/>
            <a:ext cx="3281331" cy="633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Gestisce lo stream SSE (Server-Sent Events). Il server notifica i client in tempo reale senza necessità di polling continuo.</a:t>
            </a:r>
          </a:p>
        </p:txBody>
      </p:sp>
      <p:sp>
        <p:nvSpPr>
          <p:cNvPr id="233" name="Text 9"/>
          <p:cNvSpPr txBox="1"/>
          <p:nvPr/>
        </p:nvSpPr>
        <p:spPr>
          <a:xfrm>
            <a:off x="337832" y="3315655"/>
            <a:ext cx="3748623" cy="226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pc="135" sz="15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TECH STACK FE</a:t>
            </a:r>
          </a:p>
        </p:txBody>
      </p:sp>
      <p:sp>
        <p:nvSpPr>
          <p:cNvPr id="234" name="Text 10"/>
          <p:cNvSpPr txBox="1"/>
          <p:nvPr/>
        </p:nvSpPr>
        <p:spPr>
          <a:xfrm>
            <a:off x="777014" y="3809893"/>
            <a:ext cx="4537447" cy="21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React SPA (TypeScript)</a:t>
            </a:r>
          </a:p>
        </p:txBody>
      </p:sp>
      <p:sp>
        <p:nvSpPr>
          <p:cNvPr id="235" name="Text 11"/>
          <p:cNvSpPr txBox="1"/>
          <p:nvPr/>
        </p:nvSpPr>
        <p:spPr>
          <a:xfrm>
            <a:off x="777014" y="4384208"/>
            <a:ext cx="4537447" cy="21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Tailwind CSS (Styling)</a:t>
            </a:r>
          </a:p>
        </p:txBody>
      </p:sp>
      <p:sp>
        <p:nvSpPr>
          <p:cNvPr id="236" name="Text 12"/>
          <p:cNvSpPr txBox="1"/>
          <p:nvPr/>
        </p:nvSpPr>
        <p:spPr>
          <a:xfrm>
            <a:off x="777015" y="4958523"/>
            <a:ext cx="3506207" cy="21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2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Vite (Build Tool)</a:t>
            </a:r>
          </a:p>
        </p:txBody>
      </p:sp>
      <p:sp>
        <p:nvSpPr>
          <p:cNvPr id="237" name="Text 13"/>
          <p:cNvSpPr txBox="1"/>
          <p:nvPr/>
        </p:nvSpPr>
        <p:spPr>
          <a:xfrm>
            <a:off x="4356720" y="3315655"/>
            <a:ext cx="7497375" cy="2266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pc="135" sz="15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DASHBOARD DIFFERENZIATE</a:t>
            </a:r>
          </a:p>
        </p:txBody>
      </p:sp>
      <p:sp>
        <p:nvSpPr>
          <p:cNvPr id="238" name="Text 14"/>
          <p:cNvSpPr txBox="1"/>
          <p:nvPr/>
        </p:nvSpPr>
        <p:spPr>
          <a:xfrm>
            <a:off x="4787455" y="3856345"/>
            <a:ext cx="2268723" cy="21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2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Ruolo ADMIN</a:t>
            </a:r>
          </a:p>
        </p:txBody>
      </p:sp>
      <p:sp>
        <p:nvSpPr>
          <p:cNvPr id="239" name="Text 15"/>
          <p:cNvSpPr txBox="1"/>
          <p:nvPr/>
        </p:nvSpPr>
        <p:spPr>
          <a:xfrm>
            <a:off x="4660769" y="4150708"/>
            <a:ext cx="6135883" cy="161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Controllo simulazione (Avvio/Stop)</a:t>
            </a:r>
          </a:p>
        </p:txBody>
      </p:sp>
      <p:sp>
        <p:nvSpPr>
          <p:cNvPr id="240" name="Text 16"/>
          <p:cNvSpPr txBox="1"/>
          <p:nvPr/>
        </p:nvSpPr>
        <p:spPr>
          <a:xfrm>
            <a:off x="4660769" y="4353408"/>
            <a:ext cx="5053080" cy="161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Ingestione dati (Upload CSV)</a:t>
            </a:r>
          </a:p>
        </p:txBody>
      </p:sp>
      <p:sp>
        <p:nvSpPr>
          <p:cNvPr id="241" name="Text 17"/>
          <p:cNvSpPr txBox="1"/>
          <p:nvPr/>
        </p:nvSpPr>
        <p:spPr>
          <a:xfrm>
            <a:off x="4660769" y="4556107"/>
            <a:ext cx="4692145" cy="161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Gestione utenti e permessi</a:t>
            </a:r>
          </a:p>
        </p:txBody>
      </p:sp>
      <p:sp>
        <p:nvSpPr>
          <p:cNvPr id="242" name="Text 18"/>
          <p:cNvSpPr txBox="1"/>
          <p:nvPr/>
        </p:nvSpPr>
        <p:spPr>
          <a:xfrm>
            <a:off x="8578306" y="3856345"/>
            <a:ext cx="2062476" cy="21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200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Ruolo USER</a:t>
            </a:r>
          </a:p>
        </p:txBody>
      </p:sp>
      <p:sp>
        <p:nvSpPr>
          <p:cNvPr id="243" name="Text 19"/>
          <p:cNvSpPr txBox="1"/>
          <p:nvPr/>
        </p:nvSpPr>
        <p:spPr>
          <a:xfrm>
            <a:off x="8510740" y="4150708"/>
            <a:ext cx="4872613" cy="161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Monitoraggio in tempo reale</a:t>
            </a:r>
          </a:p>
        </p:txBody>
      </p:sp>
      <p:sp>
        <p:nvSpPr>
          <p:cNvPr id="244" name="Text 20"/>
          <p:cNvSpPr txBox="1"/>
          <p:nvPr/>
        </p:nvSpPr>
        <p:spPr>
          <a:xfrm>
            <a:off x="8510740" y="4353408"/>
            <a:ext cx="5233547" cy="161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Visualizzazione trend storici</a:t>
            </a:r>
          </a:p>
        </p:txBody>
      </p:sp>
      <p:sp>
        <p:nvSpPr>
          <p:cNvPr id="245" name="Text 21"/>
          <p:cNvSpPr txBox="1"/>
          <p:nvPr/>
        </p:nvSpPr>
        <p:spPr>
          <a:xfrm>
            <a:off x="8510740" y="4556107"/>
            <a:ext cx="4331212" cy="161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3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Sola lettura (Read-only)</a:t>
            </a:r>
          </a:p>
        </p:txBody>
      </p:sp>
      <p:sp>
        <p:nvSpPr>
          <p:cNvPr id="246" name="Text 22"/>
          <p:cNvSpPr txBox="1"/>
          <p:nvPr/>
        </p:nvSpPr>
        <p:spPr>
          <a:xfrm>
            <a:off x="4491852" y="5290701"/>
            <a:ext cx="2474972" cy="1278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000"/>
              </a:lnSpc>
              <a:defRPr b="1" spc="8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REAL-TIME ENGINE</a:t>
            </a:r>
          </a:p>
        </p:txBody>
      </p:sp>
      <p:sp>
        <p:nvSpPr>
          <p:cNvPr id="247" name="Text 23"/>
          <p:cNvSpPr txBox="1"/>
          <p:nvPr/>
        </p:nvSpPr>
        <p:spPr>
          <a:xfrm>
            <a:off x="4491852" y="5460337"/>
            <a:ext cx="12452234" cy="161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300"/>
              </a:lnSpc>
              <a:defRPr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Streaming dati tramite </a:t>
            </a:r>
            <a:r>
              <a:rPr b="1"/>
              <a:t>Server-Sent Events (SSE)</a:t>
            </a:r>
            <a:r>
              <a:t> per grafici dinamici.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81000" y="381000"/>
            <a:ext cx="11430000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81000" y="1371600"/>
            <a:ext cx="5562600" cy="3295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2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09600" y="1638300"/>
            <a:ext cx="228600" cy="228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3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09600" y="2095500"/>
            <a:ext cx="152400" cy="15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4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09600" y="2933700"/>
            <a:ext cx="152400" cy="15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5" name="Image 6" descr="Image 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609600" y="3771900"/>
            <a:ext cx="152400" cy="15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6" name="Image 7" descr="Imag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48400" y="1371600"/>
            <a:ext cx="5562600" cy="32956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7" name="Image 8" descr="Image 8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477000" y="1638300"/>
            <a:ext cx="200025" cy="228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8" name="Image 9" descr="Image 9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477000" y="2095500"/>
            <a:ext cx="152400" cy="15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9" name="Image 10" descr="Image 10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6477000" y="2933700"/>
            <a:ext cx="114300" cy="152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0" name="Image 11" descr="Image 11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6477000" y="3771900"/>
            <a:ext cx="152400" cy="152400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Text 0"/>
          <p:cNvSpPr txBox="1"/>
          <p:nvPr/>
        </p:nvSpPr>
        <p:spPr>
          <a:xfrm>
            <a:off x="609599" y="379669"/>
            <a:ext cx="12755882" cy="383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000"/>
              </a:lnSpc>
              <a:defRPr b="1" spc="-54" sz="27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AI, DIGITAL TWIN E ANALISI DATI</a:t>
            </a:r>
          </a:p>
        </p:txBody>
      </p:sp>
      <p:sp>
        <p:nvSpPr>
          <p:cNvPr id="262" name="Text 1"/>
          <p:cNvSpPr txBox="1"/>
          <p:nvPr/>
        </p:nvSpPr>
        <p:spPr>
          <a:xfrm>
            <a:off x="609600" y="804864"/>
            <a:ext cx="14401800" cy="257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Dall'analisi esplorativa alla predizione neurale in tempo reale</a:t>
            </a:r>
          </a:p>
        </p:txBody>
      </p:sp>
      <p:sp>
        <p:nvSpPr>
          <p:cNvPr id="263" name="Text 2"/>
          <p:cNvSpPr txBox="1"/>
          <p:nvPr/>
        </p:nvSpPr>
        <p:spPr>
          <a:xfrm>
            <a:off x="952500" y="1604393"/>
            <a:ext cx="5105400" cy="296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400"/>
              </a:lnSpc>
              <a:defRPr b="1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Architettura LSTM</a:t>
            </a:r>
          </a:p>
        </p:txBody>
      </p:sp>
      <p:sp>
        <p:nvSpPr>
          <p:cNvPr id="264" name="Text 3"/>
          <p:cNvSpPr txBox="1"/>
          <p:nvPr/>
        </p:nvSpPr>
        <p:spPr>
          <a:xfrm>
            <a:off x="876299" y="2062735"/>
            <a:ext cx="3474722" cy="21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Finestra Temporale:</a:t>
            </a:r>
          </a:p>
        </p:txBody>
      </p:sp>
      <p:sp>
        <p:nvSpPr>
          <p:cNvPr id="265" name="Text 4"/>
          <p:cNvSpPr txBox="1"/>
          <p:nvPr/>
        </p:nvSpPr>
        <p:spPr>
          <a:xfrm>
            <a:off x="876300" y="2291335"/>
            <a:ext cx="4819650" cy="446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Utilizzo di 12 timestep (ore) passati per predire il consumo dell'ora successiva.</a:t>
            </a:r>
          </a:p>
        </p:txBody>
      </p:sp>
      <p:sp>
        <p:nvSpPr>
          <p:cNvPr id="266" name="Text 5"/>
          <p:cNvSpPr txBox="1"/>
          <p:nvPr/>
        </p:nvSpPr>
        <p:spPr>
          <a:xfrm>
            <a:off x="876299" y="2900935"/>
            <a:ext cx="2560322" cy="21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Input Feature:</a:t>
            </a:r>
          </a:p>
        </p:txBody>
      </p:sp>
      <p:sp>
        <p:nvSpPr>
          <p:cNvPr id="267" name="Text 6"/>
          <p:cNvSpPr txBox="1"/>
          <p:nvPr/>
        </p:nvSpPr>
        <p:spPr>
          <a:xfrm>
            <a:off x="876300" y="3243835"/>
            <a:ext cx="4695974" cy="21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Temperatura, umidità, occupanza e storico consumi normalizzati.</a:t>
            </a:r>
          </a:p>
        </p:txBody>
      </p:sp>
      <p:sp>
        <p:nvSpPr>
          <p:cNvPr id="268" name="Text 7"/>
          <p:cNvSpPr txBox="1"/>
          <p:nvPr/>
        </p:nvSpPr>
        <p:spPr>
          <a:xfrm>
            <a:off x="876299" y="3739135"/>
            <a:ext cx="2926082" cy="21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Soglia Anomalia:</a:t>
            </a:r>
          </a:p>
        </p:txBody>
      </p:sp>
      <p:sp>
        <p:nvSpPr>
          <p:cNvPr id="269" name="Text 8"/>
          <p:cNvSpPr txBox="1"/>
          <p:nvPr/>
        </p:nvSpPr>
        <p:spPr>
          <a:xfrm>
            <a:off x="876300" y="3967735"/>
            <a:ext cx="4819650" cy="446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Deviazione &gt; 2.5 MAE tra valore reale e predetto attiva un alert immediato.</a:t>
            </a:r>
          </a:p>
        </p:txBody>
      </p:sp>
      <p:sp>
        <p:nvSpPr>
          <p:cNvPr id="270" name="Text 9"/>
          <p:cNvSpPr txBox="1"/>
          <p:nvPr/>
        </p:nvSpPr>
        <p:spPr>
          <a:xfrm>
            <a:off x="6791325" y="1604393"/>
            <a:ext cx="6858000" cy="2964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400"/>
              </a:lnSpc>
              <a:defRPr b="1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Analisi Esplorativa (EDA)</a:t>
            </a:r>
          </a:p>
        </p:txBody>
      </p:sp>
      <p:sp>
        <p:nvSpPr>
          <p:cNvPr id="271" name="Text 10"/>
          <p:cNvSpPr txBox="1"/>
          <p:nvPr/>
        </p:nvSpPr>
        <p:spPr>
          <a:xfrm>
            <a:off x="6743699" y="2062735"/>
            <a:ext cx="3108962" cy="21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Encoding Ciclico:</a:t>
            </a:r>
          </a:p>
        </p:txBody>
      </p:sp>
      <p:sp>
        <p:nvSpPr>
          <p:cNvPr id="272" name="Text 11"/>
          <p:cNvSpPr txBox="1"/>
          <p:nvPr/>
        </p:nvSpPr>
        <p:spPr>
          <a:xfrm>
            <a:off x="6743700" y="2291335"/>
            <a:ext cx="4819650" cy="446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Trasformazione Sin/Cos per catturare la stagionalità di ore, giorni e mesi.</a:t>
            </a:r>
          </a:p>
        </p:txBody>
      </p:sp>
      <p:sp>
        <p:nvSpPr>
          <p:cNvPr id="273" name="Text 12"/>
          <p:cNvSpPr txBox="1"/>
          <p:nvPr/>
        </p:nvSpPr>
        <p:spPr>
          <a:xfrm>
            <a:off x="6705599" y="2900935"/>
            <a:ext cx="5120642" cy="21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Coerenza Ricerca-Produzione:</a:t>
            </a:r>
          </a:p>
        </p:txBody>
      </p:sp>
      <p:sp>
        <p:nvSpPr>
          <p:cNvPr id="274" name="Text 13"/>
          <p:cNvSpPr txBox="1"/>
          <p:nvPr/>
        </p:nvSpPr>
        <p:spPr>
          <a:xfrm>
            <a:off x="6705600" y="3129535"/>
            <a:ext cx="4857750" cy="446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Pre-processing identico tra notebook Python e backend Java/AI service.</a:t>
            </a:r>
          </a:p>
        </p:txBody>
      </p:sp>
      <p:sp>
        <p:nvSpPr>
          <p:cNvPr id="275" name="Text 14"/>
          <p:cNvSpPr txBox="1"/>
          <p:nvPr/>
        </p:nvSpPr>
        <p:spPr>
          <a:xfrm>
            <a:off x="6743700" y="3739135"/>
            <a:ext cx="2377440" cy="217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b="1" sz="1200"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Baseline MAE:</a:t>
            </a:r>
          </a:p>
        </p:txBody>
      </p:sp>
      <p:sp>
        <p:nvSpPr>
          <p:cNvPr id="276" name="Text 15"/>
          <p:cNvSpPr txBox="1"/>
          <p:nvPr/>
        </p:nvSpPr>
        <p:spPr>
          <a:xfrm>
            <a:off x="6743700" y="3967735"/>
            <a:ext cx="4819650" cy="446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800"/>
              </a:lnSpc>
              <a:defRPr sz="12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Validazione offline tramite PyTorch per definire i parametri del Digital Twin.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 16"/>
          <p:cNvSpPr txBox="1"/>
          <p:nvPr/>
        </p:nvSpPr>
        <p:spPr>
          <a:xfrm>
            <a:off x="4157805" y="561280"/>
            <a:ext cx="3876390" cy="251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b="1" spc="108" sz="1300">
                <a:solidFill>
                  <a:srgbClr val="9CA3A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SIMULAZIONE PREDIZIONE VS ANOMALIA</a:t>
            </a:r>
          </a:p>
        </p:txBody>
      </p:sp>
      <p:pic>
        <p:nvPicPr>
          <p:cNvPr id="279" name="Screenshot 2026-02-15 alle 20.09.04.png" descr="Screenshot 2026-02-15 alle 20.09.04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31950" y="1182066"/>
            <a:ext cx="8928101" cy="51308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5750" y="285750"/>
            <a:ext cx="11620500" cy="723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2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85750" y="1247775"/>
            <a:ext cx="5657850" cy="4857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3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38150" y="1438275"/>
            <a:ext cx="190500" cy="190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38150" y="2352675"/>
            <a:ext cx="1733550" cy="342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247900" y="2352675"/>
            <a:ext cx="1733550" cy="342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" name="Image 6" descr="Image 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4057650" y="2352675"/>
            <a:ext cx="1733550" cy="342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" name="Image 9" descr="Imag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48400" y="1247775"/>
            <a:ext cx="5657850" cy="485775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" name="Image 10" descr="Image 10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400800" y="1438275"/>
            <a:ext cx="238125" cy="190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Image 11" descr="Image 11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6400800" y="1819275"/>
            <a:ext cx="5353050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Image 12" descr="Image 12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6515100" y="1933575"/>
            <a:ext cx="542925" cy="228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Image 13" descr="Image 13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6400800" y="2390775"/>
            <a:ext cx="5353050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2" name="Image 14" descr="Image 14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6515100" y="2505075"/>
            <a:ext cx="457200" cy="2286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3" name="Image 16" descr="Image 16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6400800" y="3124199"/>
            <a:ext cx="238125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4" name="Image 17" descr="Image 17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285750" y="6257925"/>
            <a:ext cx="11620500" cy="4572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5" name="Image 19" descr="Image 19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470594" y="3045620"/>
            <a:ext cx="125612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296" name="Text 0"/>
          <p:cNvSpPr txBox="1"/>
          <p:nvPr/>
        </p:nvSpPr>
        <p:spPr>
          <a:xfrm>
            <a:off x="476249" y="284419"/>
            <a:ext cx="11521442" cy="3836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000"/>
              </a:lnSpc>
              <a:defRPr b="1" spc="-54" sz="27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SICUREZZA E GESTIONE ACCESSI</a:t>
            </a:r>
          </a:p>
        </p:txBody>
      </p:sp>
      <p:sp>
        <p:nvSpPr>
          <p:cNvPr id="297" name="Text 1"/>
          <p:cNvSpPr txBox="1"/>
          <p:nvPr/>
        </p:nvSpPr>
        <p:spPr>
          <a:xfrm>
            <a:off x="476250" y="747714"/>
            <a:ext cx="16230600" cy="257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sz="15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Protezione del sistema e integrità dei dati tramite protocolli standard</a:t>
            </a:r>
          </a:p>
        </p:txBody>
      </p:sp>
      <p:sp>
        <p:nvSpPr>
          <p:cNvPr id="298" name="Text 2"/>
          <p:cNvSpPr txBox="1"/>
          <p:nvPr/>
        </p:nvSpPr>
        <p:spPr>
          <a:xfrm>
            <a:off x="742950" y="1404939"/>
            <a:ext cx="6400800" cy="257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b="1" sz="15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Autenticazione JWT Stateless</a:t>
            </a:r>
          </a:p>
        </p:txBody>
      </p:sp>
      <p:sp>
        <p:nvSpPr>
          <p:cNvPr id="299" name="Text 3"/>
          <p:cNvSpPr txBox="1"/>
          <p:nvPr/>
        </p:nvSpPr>
        <p:spPr>
          <a:xfrm>
            <a:off x="438150" y="1822260"/>
            <a:ext cx="5353050" cy="37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1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Token firmato crittograficamente emesso al login. Consente una scalabilità orizzontale non richiedendo sessioni lato server.</a:t>
            </a:r>
          </a:p>
        </p:txBody>
      </p:sp>
      <p:sp>
        <p:nvSpPr>
          <p:cNvPr id="300" name="Text 4"/>
          <p:cNvSpPr txBox="1"/>
          <p:nvPr/>
        </p:nvSpPr>
        <p:spPr>
          <a:xfrm>
            <a:off x="438150" y="2434468"/>
            <a:ext cx="1504950" cy="179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991B1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Header</a:t>
            </a:r>
          </a:p>
        </p:txBody>
      </p:sp>
      <p:sp>
        <p:nvSpPr>
          <p:cNvPr id="301" name="Text 5"/>
          <p:cNvSpPr txBox="1"/>
          <p:nvPr/>
        </p:nvSpPr>
        <p:spPr>
          <a:xfrm>
            <a:off x="2247900" y="2434468"/>
            <a:ext cx="1504950" cy="179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1E40A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Payload</a:t>
            </a:r>
          </a:p>
        </p:txBody>
      </p:sp>
      <p:sp>
        <p:nvSpPr>
          <p:cNvPr id="302" name="Text 6"/>
          <p:cNvSpPr txBox="1"/>
          <p:nvPr/>
        </p:nvSpPr>
        <p:spPr>
          <a:xfrm>
            <a:off x="4057650" y="2434468"/>
            <a:ext cx="1504950" cy="179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500"/>
              </a:lnSpc>
              <a:defRPr sz="1000">
                <a:solidFill>
                  <a:srgbClr val="16653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Signature</a:t>
            </a:r>
          </a:p>
        </p:txBody>
      </p:sp>
      <p:sp>
        <p:nvSpPr>
          <p:cNvPr id="303" name="Text 7"/>
          <p:cNvSpPr txBox="1"/>
          <p:nvPr/>
        </p:nvSpPr>
        <p:spPr>
          <a:xfrm>
            <a:off x="855780" y="2974184"/>
            <a:ext cx="5353051" cy="257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b="1" sz="15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Hashing con BCrypt</a:t>
            </a:r>
          </a:p>
        </p:txBody>
      </p:sp>
      <p:sp>
        <p:nvSpPr>
          <p:cNvPr id="304" name="Text 8"/>
          <p:cNvSpPr txBox="1"/>
          <p:nvPr/>
        </p:nvSpPr>
        <p:spPr>
          <a:xfrm>
            <a:off x="438150" y="6910071"/>
            <a:ext cx="5353050" cy="372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Le password non sono mai salvate in chiaro. BCrypt utilizza un meccanismo di salting e un fattore di costo adattivo per resistere ad attacchi brute-force.</a:t>
            </a:r>
          </a:p>
        </p:txBody>
      </p:sp>
      <p:sp>
        <p:nvSpPr>
          <p:cNvPr id="305" name="Text 9"/>
          <p:cNvSpPr txBox="1"/>
          <p:nvPr/>
        </p:nvSpPr>
        <p:spPr>
          <a:xfrm>
            <a:off x="6753225" y="1404939"/>
            <a:ext cx="5486400" cy="257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b="1" sz="15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Controllo Accessi (RBAC)</a:t>
            </a:r>
          </a:p>
        </p:txBody>
      </p:sp>
      <p:sp>
        <p:nvSpPr>
          <p:cNvPr id="306" name="Text 10"/>
          <p:cNvSpPr txBox="1"/>
          <p:nvPr/>
        </p:nvSpPr>
        <p:spPr>
          <a:xfrm>
            <a:off x="6591300" y="1973771"/>
            <a:ext cx="493295" cy="148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ADMIN</a:t>
            </a:r>
          </a:p>
        </p:txBody>
      </p:sp>
      <p:sp>
        <p:nvSpPr>
          <p:cNvPr id="307" name="Text 11"/>
          <p:cNvSpPr txBox="1"/>
          <p:nvPr/>
        </p:nvSpPr>
        <p:spPr>
          <a:xfrm>
            <a:off x="7210425" y="1957071"/>
            <a:ext cx="7200900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Simulazione, Gestione Utenti, Caricamento CSV</a:t>
            </a:r>
          </a:p>
        </p:txBody>
      </p:sp>
      <p:sp>
        <p:nvSpPr>
          <p:cNvPr id="308" name="Text 12"/>
          <p:cNvSpPr txBox="1"/>
          <p:nvPr/>
        </p:nvSpPr>
        <p:spPr>
          <a:xfrm>
            <a:off x="6591299" y="2545271"/>
            <a:ext cx="365762" cy="148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b="1" sz="9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USER</a:t>
            </a:r>
          </a:p>
        </p:txBody>
      </p:sp>
      <p:sp>
        <p:nvSpPr>
          <p:cNvPr id="309" name="Text 13"/>
          <p:cNvSpPr txBox="1"/>
          <p:nvPr/>
        </p:nvSpPr>
        <p:spPr>
          <a:xfrm>
            <a:off x="7124700" y="2528571"/>
            <a:ext cx="6560819" cy="1816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Dashboard Lettura, Visualizzazione Report</a:t>
            </a:r>
          </a:p>
        </p:txBody>
      </p:sp>
      <p:sp>
        <p:nvSpPr>
          <p:cNvPr id="310" name="Text 14"/>
          <p:cNvSpPr txBox="1"/>
          <p:nvPr/>
        </p:nvSpPr>
        <p:spPr>
          <a:xfrm>
            <a:off x="6819900" y="3090864"/>
            <a:ext cx="5353051" cy="257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100"/>
              </a:lnSpc>
              <a:defRPr b="1" sz="15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Logout &amp; Blacklist</a:t>
            </a:r>
          </a:p>
        </p:txBody>
      </p:sp>
      <p:sp>
        <p:nvSpPr>
          <p:cNvPr id="311" name="Text 15"/>
          <p:cNvSpPr txBox="1"/>
          <p:nvPr/>
        </p:nvSpPr>
        <p:spPr>
          <a:xfrm>
            <a:off x="6400800" y="6910071"/>
            <a:ext cx="5353050" cy="372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500"/>
              </a:lnSpc>
              <a:defRPr sz="1000">
                <a:solidFill>
                  <a:srgbClr val="374151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Gestione della sicurezza post-disconnessione: i token invalidati vengono inseriti in una blacklist volatile per impedirne il riuso fino alla loro scadenza naturale.</a:t>
            </a:r>
          </a:p>
        </p:txBody>
      </p:sp>
      <p:sp>
        <p:nvSpPr>
          <p:cNvPr id="312" name="Text 19"/>
          <p:cNvSpPr txBox="1"/>
          <p:nvPr/>
        </p:nvSpPr>
        <p:spPr>
          <a:xfrm>
            <a:off x="10098584" y="6488621"/>
            <a:ext cx="1807667" cy="148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i="1" sz="9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Nexus Energy Security Layer v1.0</a:t>
            </a:r>
          </a:p>
        </p:txBody>
      </p:sp>
      <p:pic>
        <p:nvPicPr>
          <p:cNvPr id="313" name="Screenshot 2026-02-15 alle 19.54.20.png" descr="Screenshot 2026-02-15 alle 19.54.20.png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331935" y="3348035"/>
            <a:ext cx="5565480" cy="2667989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Screenshot 2026-02-15 alle 19.57.05.png" descr="Screenshot 2026-02-15 alle 19.57.05.png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6632323" y="3749135"/>
            <a:ext cx="4890004" cy="186578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6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1987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7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9022" y="479022"/>
            <a:ext cx="11233943" cy="74460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8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9022" y="1620316"/>
            <a:ext cx="231528" cy="228535"/>
          </a:xfrm>
          <a:prstGeom prst="rect">
            <a:avLst/>
          </a:prstGeom>
          <a:ln w="12700">
            <a:miter lim="400000"/>
          </a:ln>
        </p:spPr>
      </p:pic>
      <p:pic>
        <p:nvPicPr>
          <p:cNvPr id="319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79022" y="2692628"/>
            <a:ext cx="11233943" cy="3193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0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79022" y="2596824"/>
            <a:ext cx="191610" cy="191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1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4159758" y="2596824"/>
            <a:ext cx="191610" cy="191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2" name="Image 6" descr="Image 6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7840494" y="2596824"/>
            <a:ext cx="191610" cy="191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3" name="Image 7" descr="Image 7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1521230" y="2596824"/>
            <a:ext cx="191610" cy="191610"/>
          </a:xfrm>
          <a:prstGeom prst="rect">
            <a:avLst/>
          </a:prstGeom>
          <a:ln w="12700">
            <a:miter lim="400000"/>
          </a:ln>
        </p:spPr>
      </p:pic>
      <p:pic>
        <p:nvPicPr>
          <p:cNvPr id="324" name="Image 8" descr="Image 8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479022" y="3235519"/>
            <a:ext cx="3616867" cy="184423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5" name="Image 9" descr="Image 9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670631" y="3427129"/>
            <a:ext cx="383219" cy="38321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Image 10" descr="Image 10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766435" y="3506966"/>
            <a:ext cx="191610" cy="223545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Image 11" descr="Image 11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4287497" y="3235519"/>
            <a:ext cx="3616868" cy="184423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Image 12" descr="Image 12"/>
          <p:cNvPicPr>
            <a:picLocks noChangeAspect="1"/>
          </p:cNvPicPr>
          <p:nvPr/>
        </p:nvPicPr>
        <p:blipFill>
          <a:blip r:embed="rId14">
            <a:extLst/>
          </a:blip>
          <a:stretch>
            <a:fillRect/>
          </a:stretch>
        </p:blipFill>
        <p:spPr>
          <a:xfrm>
            <a:off x="4479106" y="3427129"/>
            <a:ext cx="383219" cy="383219"/>
          </a:xfrm>
          <a:prstGeom prst="rect">
            <a:avLst/>
          </a:prstGeom>
          <a:ln w="12700">
            <a:miter lim="400000"/>
          </a:ln>
        </p:spPr>
      </p:pic>
      <p:pic>
        <p:nvPicPr>
          <p:cNvPr id="329" name="Image 13" descr="Image 13"/>
          <p:cNvPicPr>
            <a:picLocks noChangeAspect="1"/>
          </p:cNvPicPr>
          <p:nvPr/>
        </p:nvPicPr>
        <p:blipFill>
          <a:blip r:embed="rId15">
            <a:extLst/>
          </a:blip>
          <a:stretch>
            <a:fillRect/>
          </a:stretch>
        </p:blipFill>
        <p:spPr>
          <a:xfrm>
            <a:off x="4562935" y="3506966"/>
            <a:ext cx="215561" cy="223545"/>
          </a:xfrm>
          <a:prstGeom prst="rect">
            <a:avLst/>
          </a:prstGeom>
          <a:ln w="12700">
            <a:miter lim="400000"/>
          </a:ln>
        </p:spPr>
      </p:pic>
      <p:pic>
        <p:nvPicPr>
          <p:cNvPr id="330" name="Image 14" descr="Image 14"/>
          <p:cNvPicPr>
            <a:picLocks noChangeAspect="1"/>
          </p:cNvPicPr>
          <p:nvPr/>
        </p:nvPicPr>
        <p:blipFill>
          <a:blip r:embed="rId16">
            <a:extLst/>
          </a:blip>
          <a:stretch>
            <a:fillRect/>
          </a:stretch>
        </p:blipFill>
        <p:spPr>
          <a:xfrm>
            <a:off x="8095973" y="3235519"/>
            <a:ext cx="3616992" cy="1844236"/>
          </a:xfrm>
          <a:prstGeom prst="rect">
            <a:avLst/>
          </a:prstGeom>
          <a:ln w="12700">
            <a:miter lim="400000"/>
          </a:ln>
        </p:spPr>
      </p:pic>
      <p:pic>
        <p:nvPicPr>
          <p:cNvPr id="331" name="Image 15" descr="Image 15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8287581" y="3427129"/>
            <a:ext cx="383218" cy="38321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2" name="Image 16" descr="Image 16"/>
          <p:cNvPicPr>
            <a:picLocks noChangeAspect="1"/>
          </p:cNvPicPr>
          <p:nvPr/>
        </p:nvPicPr>
        <p:blipFill>
          <a:blip r:embed="rId18">
            <a:extLst/>
          </a:blip>
          <a:stretch>
            <a:fillRect/>
          </a:stretch>
        </p:blipFill>
        <p:spPr>
          <a:xfrm>
            <a:off x="8387377" y="3506966"/>
            <a:ext cx="183626" cy="223545"/>
          </a:xfrm>
          <a:prstGeom prst="rect">
            <a:avLst/>
          </a:prstGeom>
          <a:ln w="12700">
            <a:miter lim="400000"/>
          </a:ln>
        </p:spPr>
      </p:pic>
      <p:pic>
        <p:nvPicPr>
          <p:cNvPr id="333" name="Image 17" descr="Image 17"/>
          <p:cNvPicPr>
            <a:picLocks noChangeAspect="1"/>
          </p:cNvPicPr>
          <p:nvPr/>
        </p:nvPicPr>
        <p:blipFill>
          <a:blip r:embed="rId19">
            <a:extLst/>
          </a:blip>
          <a:stretch>
            <a:fillRect/>
          </a:stretch>
        </p:blipFill>
        <p:spPr>
          <a:xfrm>
            <a:off x="479022" y="5836086"/>
            <a:ext cx="11233943" cy="542893"/>
          </a:xfrm>
          <a:prstGeom prst="rect">
            <a:avLst/>
          </a:prstGeom>
          <a:ln w="12700">
            <a:miter lim="400000"/>
          </a:ln>
        </p:spPr>
      </p:pic>
      <p:pic>
        <p:nvPicPr>
          <p:cNvPr id="334" name="Image 18" descr="Image 18"/>
          <p:cNvPicPr>
            <a:picLocks noChangeAspect="1"/>
          </p:cNvPicPr>
          <p:nvPr/>
        </p:nvPicPr>
        <p:blipFill>
          <a:blip r:embed="rId20">
            <a:extLst/>
          </a:blip>
          <a:stretch>
            <a:fillRect/>
          </a:stretch>
        </p:blipFill>
        <p:spPr>
          <a:xfrm>
            <a:off x="479022" y="6168657"/>
            <a:ext cx="119757" cy="133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5" name="Image 19" descr="Image 19"/>
          <p:cNvPicPr>
            <a:picLocks noChangeAspect="1"/>
          </p:cNvPicPr>
          <p:nvPr/>
        </p:nvPicPr>
        <p:blipFill>
          <a:blip r:embed="rId21">
            <a:extLst/>
          </a:blip>
          <a:stretch>
            <a:fillRect/>
          </a:stretch>
        </p:blipFill>
        <p:spPr>
          <a:xfrm>
            <a:off x="1843111" y="6168657"/>
            <a:ext cx="135724" cy="133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6" name="Image 20" descr="Image 20"/>
          <p:cNvPicPr>
            <a:picLocks noChangeAspect="1"/>
          </p:cNvPicPr>
          <p:nvPr/>
        </p:nvPicPr>
        <p:blipFill>
          <a:blip r:embed="rId22">
            <a:extLst/>
          </a:blip>
          <a:stretch>
            <a:fillRect/>
          </a:stretch>
        </p:blipFill>
        <p:spPr>
          <a:xfrm>
            <a:off x="2917544" y="6168657"/>
            <a:ext cx="135724" cy="133229"/>
          </a:xfrm>
          <a:prstGeom prst="rect">
            <a:avLst/>
          </a:prstGeom>
          <a:ln w="12700">
            <a:miter lim="400000"/>
          </a:ln>
        </p:spPr>
      </p:pic>
      <p:pic>
        <p:nvPicPr>
          <p:cNvPr id="337" name="Image 21" descr="Image 21"/>
          <p:cNvPicPr>
            <a:picLocks noChangeAspect="1"/>
          </p:cNvPicPr>
          <p:nvPr/>
        </p:nvPicPr>
        <p:blipFill>
          <a:blip r:embed="rId23">
            <a:extLst/>
          </a:blip>
          <a:stretch>
            <a:fillRect/>
          </a:stretch>
        </p:blipFill>
        <p:spPr>
          <a:xfrm>
            <a:off x="9141463" y="6091564"/>
            <a:ext cx="2571502" cy="287415"/>
          </a:xfrm>
          <a:prstGeom prst="rect">
            <a:avLst/>
          </a:prstGeom>
          <a:ln w="12700">
            <a:miter lim="400000"/>
          </a:ln>
        </p:spPr>
      </p:pic>
      <p:sp>
        <p:nvSpPr>
          <p:cNvPr id="338" name="Text 0"/>
          <p:cNvSpPr txBox="1"/>
          <p:nvPr/>
        </p:nvSpPr>
        <p:spPr>
          <a:xfrm>
            <a:off x="670631" y="472164"/>
            <a:ext cx="22254986" cy="4709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3600"/>
              </a:lnSpc>
              <a:defRPr b="1" spc="-86" sz="36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Avvio del Sistema e Demo Operativa</a:t>
            </a:r>
          </a:p>
        </p:txBody>
      </p:sp>
      <p:sp>
        <p:nvSpPr>
          <p:cNvPr id="339" name="Text 1"/>
          <p:cNvSpPr txBox="1"/>
          <p:nvPr/>
        </p:nvSpPr>
        <p:spPr>
          <a:xfrm>
            <a:off x="670631" y="1003589"/>
            <a:ext cx="19091266" cy="216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sz="15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Dalla configurazione Docker alla validazione dei pattern di resilienza</a:t>
            </a:r>
          </a:p>
        </p:txBody>
      </p:sp>
      <p:sp>
        <p:nvSpPr>
          <p:cNvPr id="340" name="Text 2"/>
          <p:cNvSpPr txBox="1"/>
          <p:nvPr/>
        </p:nvSpPr>
        <p:spPr>
          <a:xfrm>
            <a:off x="806353" y="1606697"/>
            <a:ext cx="11233944" cy="255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2000"/>
              </a:lnSpc>
              <a:defRPr b="1">
                <a:solidFill>
                  <a:srgbClr val="1F2937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Pipeline di Deployment</a:t>
            </a:r>
          </a:p>
        </p:txBody>
      </p:sp>
      <p:sp>
        <p:nvSpPr>
          <p:cNvPr id="341" name="Text 3"/>
          <p:cNvSpPr txBox="1"/>
          <p:nvPr/>
        </p:nvSpPr>
        <p:spPr>
          <a:xfrm>
            <a:off x="260807" y="2124229"/>
            <a:ext cx="3436430" cy="210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3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Configurazione</a:t>
            </a:r>
          </a:p>
        </p:txBody>
      </p:sp>
      <p:sp>
        <p:nvSpPr>
          <p:cNvPr id="342" name="Text 4"/>
          <p:cNvSpPr txBox="1"/>
          <p:nvPr/>
        </p:nvSpPr>
        <p:spPr>
          <a:xfrm>
            <a:off x="-407452" y="2377553"/>
            <a:ext cx="4772825" cy="151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200"/>
              </a:lnSpc>
              <a:defRPr i="1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.env (MySQL, JWT, Rabbit)</a:t>
            </a:r>
          </a:p>
        </p:txBody>
      </p:sp>
      <p:sp>
        <p:nvSpPr>
          <p:cNvPr id="343" name="Text 5"/>
          <p:cNvSpPr txBox="1"/>
          <p:nvPr/>
        </p:nvSpPr>
        <p:spPr>
          <a:xfrm>
            <a:off x="2269077" y="2124229"/>
            <a:ext cx="4909185" cy="210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3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Docker Orchestration</a:t>
            </a:r>
          </a:p>
        </p:txBody>
      </p:sp>
      <p:sp>
        <p:nvSpPr>
          <p:cNvPr id="344" name="Text 6"/>
          <p:cNvSpPr txBox="1"/>
          <p:nvPr/>
        </p:nvSpPr>
        <p:spPr>
          <a:xfrm>
            <a:off x="2814477" y="2377553"/>
            <a:ext cx="3818261" cy="151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200"/>
              </a:lnSpc>
              <a:defRPr i="1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docker-compose up -d</a:t>
            </a:r>
          </a:p>
        </p:txBody>
      </p:sp>
      <p:sp>
        <p:nvSpPr>
          <p:cNvPr id="345" name="Text 7"/>
          <p:cNvSpPr txBox="1"/>
          <p:nvPr/>
        </p:nvSpPr>
        <p:spPr>
          <a:xfrm>
            <a:off x="5995561" y="2124229"/>
            <a:ext cx="2945511" cy="210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3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Health Check</a:t>
            </a:r>
          </a:p>
        </p:txBody>
      </p:sp>
      <p:sp>
        <p:nvSpPr>
          <p:cNvPr id="346" name="Text 8"/>
          <p:cNvSpPr txBox="1"/>
          <p:nvPr/>
        </p:nvSpPr>
        <p:spPr>
          <a:xfrm>
            <a:off x="5145478" y="2377553"/>
            <a:ext cx="4645552" cy="151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200"/>
              </a:lnSpc>
              <a:defRPr i="1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Server Ready (~2-4 min)</a:t>
            </a:r>
          </a:p>
        </p:txBody>
      </p:sp>
      <p:sp>
        <p:nvSpPr>
          <p:cNvPr id="347" name="Text 9"/>
          <p:cNvSpPr txBox="1"/>
          <p:nvPr/>
        </p:nvSpPr>
        <p:spPr>
          <a:xfrm>
            <a:off x="8840703" y="2124229"/>
            <a:ext cx="2744523" cy="2106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700"/>
              </a:lnSpc>
              <a:defRPr b="1" sz="13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Demo Ready</a:t>
            </a:r>
          </a:p>
        </p:txBody>
      </p:sp>
      <p:sp>
        <p:nvSpPr>
          <p:cNvPr id="348" name="Text 10"/>
          <p:cNvSpPr txBox="1"/>
          <p:nvPr/>
        </p:nvSpPr>
        <p:spPr>
          <a:xfrm>
            <a:off x="7921945" y="2377553"/>
            <a:ext cx="4581914" cy="151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lnSpc>
                <a:spcPts val="1200"/>
              </a:lnSpc>
              <a:defRPr i="1"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Login ADMIN &amp; Simulation</a:t>
            </a:r>
          </a:p>
        </p:txBody>
      </p:sp>
      <p:sp>
        <p:nvSpPr>
          <p:cNvPr id="349" name="Text 11"/>
          <p:cNvSpPr txBox="1"/>
          <p:nvPr/>
        </p:nvSpPr>
        <p:spPr>
          <a:xfrm>
            <a:off x="670631" y="3941592"/>
            <a:ext cx="4636451" cy="216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Digital Twin Live</a:t>
            </a:r>
          </a:p>
        </p:txBody>
      </p:sp>
      <p:sp>
        <p:nvSpPr>
          <p:cNvPr id="350" name="Text 12"/>
          <p:cNvSpPr txBox="1"/>
          <p:nvPr/>
        </p:nvSpPr>
        <p:spPr>
          <a:xfrm>
            <a:off x="670630" y="4233659"/>
            <a:ext cx="3217684" cy="633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Streaming SSE di dati reali vs predizioni LSTM. Visualizzazione insight e trend settimanali sulla Dashboard React.</a:t>
            </a:r>
          </a:p>
        </p:txBody>
      </p:sp>
      <p:sp>
        <p:nvSpPr>
          <p:cNvPr id="351" name="Text 13"/>
          <p:cNvSpPr txBox="1"/>
          <p:nvPr/>
        </p:nvSpPr>
        <p:spPr>
          <a:xfrm>
            <a:off x="4479106" y="3941592"/>
            <a:ext cx="4636450" cy="216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Stress &amp; Fallback</a:t>
            </a:r>
          </a:p>
        </p:txBody>
      </p:sp>
      <p:sp>
        <p:nvSpPr>
          <p:cNvPr id="352" name="Text 14"/>
          <p:cNvSpPr txBox="1"/>
          <p:nvPr/>
        </p:nvSpPr>
        <p:spPr>
          <a:xfrm>
            <a:off x="4479106" y="4233659"/>
            <a:ext cx="3217683" cy="6337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7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Simulazione </a:t>
            </a:r>
            <a:r>
              <a:rPr b="1"/>
              <a:t>DB Down</a:t>
            </a:r>
            <a:r>
              <a:t>: attivazione automatica del Circuit Breaker e instradamento su RabbitMQ Quorum Queue.</a:t>
            </a:r>
          </a:p>
        </p:txBody>
      </p:sp>
      <p:sp>
        <p:nvSpPr>
          <p:cNvPr id="353" name="Text 15"/>
          <p:cNvSpPr txBox="1"/>
          <p:nvPr/>
        </p:nvSpPr>
        <p:spPr>
          <a:xfrm>
            <a:off x="8287581" y="3941592"/>
            <a:ext cx="4909184" cy="216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700"/>
              </a:lnSpc>
              <a:defRPr b="1" sz="1500">
                <a:solidFill>
                  <a:srgbClr val="00640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Proactive Alerting</a:t>
            </a:r>
          </a:p>
        </p:txBody>
      </p:sp>
      <p:sp>
        <p:nvSpPr>
          <p:cNvPr id="354" name="Text 16"/>
          <p:cNvSpPr txBox="1"/>
          <p:nvPr/>
        </p:nvSpPr>
        <p:spPr>
          <a:xfrm>
            <a:off x="8287581" y="4233267"/>
            <a:ext cx="3217682" cy="4178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ts val="1700"/>
              </a:lnSpc>
              <a:defRPr sz="1000">
                <a:solidFill>
                  <a:srgbClr val="4B5563"/>
                </a:solidFill>
                <a:latin typeface="Inter"/>
                <a:ea typeface="Inter"/>
                <a:cs typeface="Inter"/>
                <a:sym typeface="Inter"/>
              </a:defRPr>
            </a:pPr>
            <a:r>
              <a:t>Invio alert su </a:t>
            </a:r>
            <a:r>
              <a:rPr b="1"/>
              <a:t>Telegram</a:t>
            </a:r>
            <a:r>
              <a:t> via Logstash per anomalie energetiche e criticità infrastrutturali.</a:t>
            </a:r>
          </a:p>
        </p:txBody>
      </p:sp>
      <p:sp>
        <p:nvSpPr>
          <p:cNvPr id="355" name="Text 17"/>
          <p:cNvSpPr txBox="1"/>
          <p:nvPr/>
        </p:nvSpPr>
        <p:spPr>
          <a:xfrm>
            <a:off x="662647" y="6159707"/>
            <a:ext cx="1108612" cy="151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MySQL / Redis</a:t>
            </a:r>
          </a:p>
        </p:txBody>
      </p:sp>
      <p:sp>
        <p:nvSpPr>
          <p:cNvPr id="356" name="Text 18"/>
          <p:cNvSpPr txBox="1"/>
          <p:nvPr/>
        </p:nvSpPr>
        <p:spPr>
          <a:xfrm>
            <a:off x="2042704" y="6159707"/>
            <a:ext cx="1527306" cy="151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RabbitMQ</a:t>
            </a:r>
          </a:p>
        </p:txBody>
      </p:sp>
      <p:sp>
        <p:nvSpPr>
          <p:cNvPr id="357" name="Text 19"/>
          <p:cNvSpPr txBox="1"/>
          <p:nvPr/>
        </p:nvSpPr>
        <p:spPr>
          <a:xfrm>
            <a:off x="3117137" y="6159707"/>
            <a:ext cx="1718218" cy="151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sz="1000">
                <a:solidFill>
                  <a:srgbClr val="6B7280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ELK Stack</a:t>
            </a:r>
          </a:p>
        </p:txBody>
      </p:sp>
      <p:sp>
        <p:nvSpPr>
          <p:cNvPr id="358" name="Text 20"/>
          <p:cNvSpPr txBox="1"/>
          <p:nvPr/>
        </p:nvSpPr>
        <p:spPr>
          <a:xfrm>
            <a:off x="9333072" y="6159707"/>
            <a:ext cx="3767271" cy="1511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200"/>
              </a:lnSpc>
              <a:defRPr b="1" spc="100" sz="10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</a:lstStyle>
          <a:p>
            <a:pPr/>
            <a:r>
              <a:t>FINE PRESENTAZIONE • Q&amp;A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